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AF3B5FF-14FD-6E43-AA50-DCA205271FA2}" v="10" dt="2026-03-30T14:36:27.31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6"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6/11/relationships/changesInfo" Target="changesInfos/changesInfo1.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aik, Sanyami" userId="S::smnaik2@illinois.edu::4f5877d0-9b03-4663-b44d-625a67d31474" providerId="AD" clId="Web-{51A4D14A-3D44-DFE0-D42E-902ED22FDEDB}"/>
    <pc:docChg chg="modSld">
      <pc:chgData name="Naik, Sanyami" userId="S::smnaik2@illinois.edu::4f5877d0-9b03-4663-b44d-625a67d31474" providerId="AD" clId="Web-{51A4D14A-3D44-DFE0-D42E-902ED22FDEDB}" dt="2026-03-30T17:14:03.984" v="10"/>
      <pc:docMkLst>
        <pc:docMk/>
      </pc:docMkLst>
      <pc:sldChg chg="modNotes">
        <pc:chgData name="Naik, Sanyami" userId="S::smnaik2@illinois.edu::4f5877d0-9b03-4663-b44d-625a67d31474" providerId="AD" clId="Web-{51A4D14A-3D44-DFE0-D42E-902ED22FDEDB}" dt="2026-03-30T17:13:35.546" v="2"/>
        <pc:sldMkLst>
          <pc:docMk/>
          <pc:sldMk cId="0" sldId="260"/>
        </pc:sldMkLst>
      </pc:sldChg>
      <pc:sldChg chg="modNotes">
        <pc:chgData name="Naik, Sanyami" userId="S::smnaik2@illinois.edu::4f5877d0-9b03-4663-b44d-625a67d31474" providerId="AD" clId="Web-{51A4D14A-3D44-DFE0-D42E-902ED22FDEDB}" dt="2026-03-30T17:14:03.984" v="10"/>
        <pc:sldMkLst>
          <pc:docMk/>
          <pc:sldMk cId="0" sldId="261"/>
        </pc:sldMkLst>
      </pc:sldChg>
    </pc:docChg>
  </pc:docChgLst>
  <pc:docChgLst>
    <pc:chgData name="Gole, Ashish Manoj" userId="bdcf418b-ae7c-4f6f-a103-cface8a3a225" providerId="ADAL" clId="{D59CF0E0-FC9A-5350-A953-CE752BF71EE1}"/>
    <pc:docChg chg="undo custSel modSld">
      <pc:chgData name="Gole, Ashish Manoj" userId="bdcf418b-ae7c-4f6f-a103-cface8a3a225" providerId="ADAL" clId="{D59CF0E0-FC9A-5350-A953-CE752BF71EE1}" dt="2026-03-30T14:36:27.315" v="11" actId="20577"/>
      <pc:docMkLst>
        <pc:docMk/>
      </pc:docMkLst>
      <pc:sldChg chg="addSp delSp mod">
        <pc:chgData name="Gole, Ashish Manoj" userId="bdcf418b-ae7c-4f6f-a103-cface8a3a225" providerId="ADAL" clId="{D59CF0E0-FC9A-5350-A953-CE752BF71EE1}" dt="2026-03-23T18:46:47.894" v="1" actId="22"/>
        <pc:sldMkLst>
          <pc:docMk/>
          <pc:sldMk cId="0" sldId="256"/>
        </pc:sldMkLst>
      </pc:sldChg>
      <pc:sldChg chg="modNotesTx">
        <pc:chgData name="Gole, Ashish Manoj" userId="bdcf418b-ae7c-4f6f-a103-cface8a3a225" providerId="ADAL" clId="{D59CF0E0-FC9A-5350-A953-CE752BF71EE1}" dt="2026-03-30T14:35:39.365" v="7" actId="20577"/>
        <pc:sldMkLst>
          <pc:docMk/>
          <pc:sldMk cId="0" sldId="258"/>
        </pc:sldMkLst>
      </pc:sldChg>
      <pc:sldChg chg="modNotesTx">
        <pc:chgData name="Gole, Ashish Manoj" userId="bdcf418b-ae7c-4f6f-a103-cface8a3a225" providerId="ADAL" clId="{D59CF0E0-FC9A-5350-A953-CE752BF71EE1}" dt="2026-03-30T14:36:27.315" v="11" actId="20577"/>
        <pc:sldMkLst>
          <pc:docMk/>
          <pc:sldMk cId="0" sldId="259"/>
        </pc:sldMkLst>
      </pc:sldChg>
    </pc:docChg>
  </pc:docChgLst>
  <pc:docChgLst>
    <pc:chgData name="Retharekar, Siddhi Vishwanath" userId="6a60c723-b86d-4c18-aee9-0c6741e2e349" providerId="ADAL" clId="{F9D20A7B-BE6A-0541-AB4C-6E653032D951}"/>
    <pc:docChg chg="modSld">
      <pc:chgData name="Retharekar, Siddhi Vishwanath" userId="6a60c723-b86d-4c18-aee9-0c6741e2e349" providerId="ADAL" clId="{F9D20A7B-BE6A-0541-AB4C-6E653032D951}" dt="2026-03-30T04:53:22.725" v="6"/>
      <pc:docMkLst>
        <pc:docMk/>
      </pc:docMkLst>
      <pc:sldChg chg="modNotesTx">
        <pc:chgData name="Retharekar, Siddhi Vishwanath" userId="6a60c723-b86d-4c18-aee9-0c6741e2e349" providerId="ADAL" clId="{F9D20A7B-BE6A-0541-AB4C-6E653032D951}" dt="2026-03-30T04:52:49.721" v="3" actId="20577"/>
        <pc:sldMkLst>
          <pc:docMk/>
          <pc:sldMk cId="0" sldId="256"/>
        </pc:sldMkLst>
      </pc:sldChg>
      <pc:sldChg chg="modNotesTx">
        <pc:chgData name="Retharekar, Siddhi Vishwanath" userId="6a60c723-b86d-4c18-aee9-0c6741e2e349" providerId="ADAL" clId="{F9D20A7B-BE6A-0541-AB4C-6E653032D951}" dt="2026-03-30T04:53:22.725" v="6"/>
        <pc:sldMkLst>
          <pc:docMk/>
          <pc:sldMk cId="0" sldId="257"/>
        </pc:sldMkLst>
      </pc:sldChg>
    </pc:docChg>
  </pc:docChgLst>
  <pc:docChgLst>
    <pc:chgData name="Naik, Sanyami" userId="S::smnaik2@illinois.edu::4f5877d0-9b03-4663-b44d-625a67d31474" providerId="AD" clId="Web-{1840693B-C3C3-30E8-5936-CC07A63F50C9}"/>
    <pc:docChg chg="modSld">
      <pc:chgData name="Naik, Sanyami" userId="S::smnaik2@illinois.edu::4f5877d0-9b03-4663-b44d-625a67d31474" providerId="AD" clId="Web-{1840693B-C3C3-30E8-5936-CC07A63F50C9}" dt="2026-03-30T17:56:42.206" v="10"/>
      <pc:docMkLst>
        <pc:docMk/>
      </pc:docMkLst>
      <pc:sldChg chg="modNotes">
        <pc:chgData name="Naik, Sanyami" userId="S::smnaik2@illinois.edu::4f5877d0-9b03-4663-b44d-625a67d31474" providerId="AD" clId="Web-{1840693B-C3C3-30E8-5936-CC07A63F50C9}" dt="2026-03-30T17:56:42.206" v="10"/>
        <pc:sldMkLst>
          <pc:docMk/>
          <pc:sldMk cId="0" sldId="260"/>
        </pc:sldMkLst>
      </pc:sldChg>
    </pc:docChg>
  </pc:docChgLst>
  <pc:docChgLst>
    <pc:chgData name="Attarde, Nirmal" userId="S::natta4@illinois.edu::7dffde22-c736-49a7-acbb-ca5e6ba9f50c" providerId="AD" clId="Web-{2010699F-4460-5461-165F-C5EDA083B659}"/>
    <pc:docChg chg="modSld">
      <pc:chgData name="Attarde, Nirmal" userId="S::natta4@illinois.edu::7dffde22-c736-49a7-acbb-ca5e6ba9f50c" providerId="AD" clId="Web-{2010699F-4460-5461-165F-C5EDA083B659}" dt="2026-03-22T22:07:26.105" v="0" actId="1076"/>
      <pc:docMkLst>
        <pc:docMk/>
      </pc:docMkLst>
      <pc:sldChg chg="modSp">
        <pc:chgData name="Attarde, Nirmal" userId="S::natta4@illinois.edu::7dffde22-c736-49a7-acbb-ca5e6ba9f50c" providerId="AD" clId="Web-{2010699F-4460-5461-165F-C5EDA083B659}" dt="2026-03-22T22:07:26.105" v="0" actId="1076"/>
        <pc:sldMkLst>
          <pc:docMk/>
          <pc:sldMk cId="0" sldId="257"/>
        </pc:sldMkLst>
        <pc:spChg chg="mod">
          <ac:chgData name="Attarde, Nirmal" userId="S::natta4@illinois.edu::7dffde22-c736-49a7-acbb-ca5e6ba9f50c" providerId="AD" clId="Web-{2010699F-4460-5461-165F-C5EDA083B659}" dt="2026-03-22T22:07:26.105" v="0" actId="1076"/>
          <ac:spMkLst>
            <pc:docMk/>
            <pc:sldMk cId="0" sldId="257"/>
            <ac:spMk id="26"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694683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Hi everyone, good afternoon.</a:t>
            </a:r>
          </a:p>
          <a:p>
            <a:r>
              <a:rPr lang="en-US"/>
              <a:t>I’m Siddhi, and I’m working on this project along with Ashish, </a:t>
            </a:r>
            <a:r>
              <a:rPr lang="en-US" err="1"/>
              <a:t>Sanyami</a:t>
            </a:r>
            <a:r>
              <a:rPr lang="en-US"/>
              <a:t>, and Nirmal.</a:t>
            </a:r>
          </a:p>
          <a:p>
            <a:r>
              <a:rPr lang="en-US"/>
              <a:t>So today, I’ll quickly introduce our project before we walk you through the details.</a:t>
            </a:r>
          </a:p>
          <a:p>
            <a:r>
              <a:rPr lang="en-US"/>
              <a:t>Our project is about </a:t>
            </a:r>
            <a:r>
              <a:rPr lang="en-US" b="1"/>
              <a:t>predicting wine quality using machine learning</a:t>
            </a:r>
            <a:r>
              <a:rPr lang="en-US"/>
              <a:t>.</a:t>
            </a:r>
          </a:p>
          <a:p>
            <a:r>
              <a:rPr lang="en-US"/>
              <a:t>The main idea is pretty simple, we’re trying to understand whether we can determine how good a wine is just by looking at its chemical properties, instead of relying only on human tasting.</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Now coming to the dataset we’re using —</a:t>
            </a:r>
          </a:p>
          <a:p>
            <a:r>
              <a:rPr lang="en-US"/>
              <a:t>We’re working with the </a:t>
            </a:r>
            <a:r>
              <a:rPr lang="en-US" b="1" err="1"/>
              <a:t>WineQT</a:t>
            </a:r>
            <a:r>
              <a:rPr lang="en-US" b="1"/>
              <a:t> dataset from Kaggle</a:t>
            </a:r>
            <a:r>
              <a:rPr lang="en-US"/>
              <a:t>, which contains a little over a thousand wine samples.</a:t>
            </a:r>
          </a:p>
          <a:p>
            <a:r>
              <a:rPr lang="en-US"/>
              <a:t>Each sample has around 11 features, like acidity, pH, alcohol content, and sulphates — basically the measurable chemical characteristics of the wine.</a:t>
            </a:r>
          </a:p>
          <a:p>
            <a:r>
              <a:rPr lang="en-US"/>
              <a:t>And based on these features, each wine is assigned a quality score.</a:t>
            </a:r>
          </a:p>
          <a:p>
            <a:r>
              <a:rPr lang="en-US"/>
              <a:t>To make our analysis more clear and structured, we converted this into a </a:t>
            </a:r>
            <a:r>
              <a:rPr lang="en-US" b="1"/>
              <a:t>binary classification problem</a:t>
            </a:r>
            <a:r>
              <a:rPr lang="en-US"/>
              <a:t>, where wines are labeled as either </a:t>
            </a:r>
            <a:r>
              <a:rPr lang="en-US" i="1"/>
              <a:t>high quality</a:t>
            </a:r>
            <a:r>
              <a:rPr lang="en-US"/>
              <a:t> or </a:t>
            </a:r>
            <a:r>
              <a:rPr lang="en-US" i="1"/>
              <a:t>low quality</a:t>
            </a:r>
            <a:r>
              <a:rPr lang="en-US"/>
              <a:t>.</a:t>
            </a:r>
          </a:p>
          <a:p>
            <a:r>
              <a:rPr lang="en-US"/>
              <a:t>This helps us focus on distinguishing good wines from the rest, rather than predicting an exact score.</a:t>
            </a:r>
          </a:p>
          <a:p>
            <a:r>
              <a:rPr lang="en-US"/>
              <a:t>So overall, our goal is to use these chemical features to see how well we can predict wine quality, and also understand which factors actually matter the most.</a:t>
            </a:r>
          </a:p>
          <a:p>
            <a:r>
              <a:rPr lang="en-US"/>
              <a:t>And with that, I’ll hand it over to continue with our approach.</a:t>
            </a:r>
          </a:p>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For this project, we plan to apply and compare four machine learning classification models. </a:t>
            </a:r>
            <a:br>
              <a:rPr lang="en-US"/>
            </a:br>
            <a:r>
              <a:rPr lang="en-US"/>
              <a:t>First, Logistic Regression — this is our linear baseline. It's great for binary classification and gives us interpretable coefficients, which will help us understand which features are driving predictions. </a:t>
            </a:r>
            <a:br>
              <a:rPr lang="en-US"/>
            </a:br>
            <a:r>
              <a:rPr lang="en-US"/>
              <a:t>Second, Decision Tree — this handles non-linear patterns naturally and doesn't need feature scaling. It's also easy to visualize, so we can literally trace the decision path from chemical properties to quality. </a:t>
            </a:r>
            <a:br>
              <a:rPr lang="en-US"/>
            </a:br>
            <a:r>
              <a:rPr lang="en-US"/>
              <a:t>Third, Random Forest — this is an ensemble method that builds many trees and averages their results, which we expect will give us the best accuracy. It also provides feature importance scores out of the box. </a:t>
            </a:r>
            <a:br>
              <a:rPr lang="en-US"/>
            </a:br>
            <a:r>
              <a:rPr lang="en-US"/>
              <a:t>And fourth, K-Nearest Neighbors — a distance-based model that will serve as a useful benchmark, especially for our feature scaling experiment. In terms of preprocessing, we'll drop the Id column since it carries no predictive value, binarize the quality target, apply StandardScaler normalization, and split the data 80-20 into training and testing sets.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Now let's talk about our research questions. We have four in total, and all of them are built around comparisons. The first two are on this slide. </a:t>
            </a:r>
            <a:br>
              <a:rPr lang="en-US"/>
            </a:br>
            <a:r>
              <a:rPr lang="en-US"/>
              <a:t>Research Question 1 asks: Can we accurately predict wine quality using only its chemical properties? We plan to train all four models on the 11 features and evaluate them using accuracy, precision, recall, and F1-score. This will tell us whether chemistry alone is a sufficient signal — or whether you still need a human sommelier. </a:t>
            </a:r>
            <a:br>
              <a:rPr lang="en-US"/>
            </a:br>
            <a:r>
              <a:rPr lang="en-US"/>
              <a:t>Research Question 2 asks: Which chemical features most influence wine quality predictions? We'll extract feature importance scores from Random Forest and coefficient weights from Logistic Regression, and then compare the rankings across models to see if they agree. This will give us real insight into the chemistry behind quality.</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Continuing with our research questions — Research Question 3 asks: Which machine learning model performs best for wine quality prediction? We'll run all four models on the exact same train-test split and compare them using a consistent set of metrics that is accuracy, F1-score, and confusion matrix. This direct apples-to-apples comparison will show us whether more complex models like Random Forest actually justify their added complexity over simpler ones like Logistic Regression.</a:t>
            </a:r>
          </a:p>
          <a:p>
            <a:endParaRPr lang="en-US"/>
          </a:p>
          <a:p>
            <a:r>
              <a:rPr lang="en-US"/>
              <a:t>Research Question 4 asks: How does feature scaling impact model performance? We'll train each model both with and without </a:t>
            </a:r>
            <a:r>
              <a:rPr lang="en-US" err="1"/>
              <a:t>StandardScaler</a:t>
            </a:r>
            <a:r>
              <a:rPr lang="en-US"/>
              <a:t> normalization and compare the results. We know that KNN and Logistic Regression are sensitive to the scale of features, while tree-based models are not — so this experiment will let us quantify that difference and see whether preprocessing choices meaningfully shift the rankings. As noted at the bottom, all four questions are centered on comparison, which is a key requirement of the project.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Before running any experiments, we want to state our hypotheses upfront.</a:t>
            </a:r>
          </a:p>
          <a:p>
            <a:r>
              <a:rPr lang="en-US"/>
              <a:t>For RQ1, we believe the answer is yes — chemistry can predict quality. Properties like alcohol and acidity are well-established quality indicators in the field of oenology, so we expect all models to comfortably beat a 50% random baseline. </a:t>
            </a:r>
          </a:p>
          <a:p>
            <a:r>
              <a:rPr lang="en-US"/>
              <a:t>For RQ2, we expect alcohol content and volatile acidity to be the top predictors. Higher alcohol typically indicates riper grapes and is associated with better quality, while high volatile acidity creates a vinegary off-taste that reduces quality.</a:t>
            </a:r>
          </a:p>
          <a:p>
            <a:r>
              <a:rPr lang="en-US"/>
              <a:t>For RQ3, we hypothesize that Random Forest will come out on top. Its ensemble nature and ability to model non-linear feature interactions should give it an edge over single models. And for RQ4, we expect scaling to significantly boost KNN and Logistic Regression, while Random Forest and Decision Tree will be largely unaffected since tree-based splits are inherently scale-invariant.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Beyond just getting results, we want to articulate what we hope to gain from this experience. First, an end-to-end ML pipeline — we want to get hands-on practice with the full workflow from raw data and EDA all the way through modeling and evaluation on a real dataset. Second, model selection intuition — by running four algorithms on the same problem, we hope to build genuine intuition for when each type of model is appropriate and what the tradeoffs look like in practice. Third, feature engineering insight — we want to connect the chemistry of wine to machine learning feature importance, and understand whether what the models find aligns with what domain experts know about wine. And fourth, preprocessing best practices — the scaling experiment will help us deeply understand when normalization matters and when it doesn't — a skill that will be useful in any future ML project.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And that wraps up our project proposal. To summarize: we're proposing to predict wine quality from chemical properties using four machine learning models — Logistic Regression, Decision Tree, Random Forest, and KNN — on the Kaggle WineQT dataset. We have four comparison-based research questions, clear hypotheses, and specific things we hope to learn. We're excited about this project and confident it will give us great hands-on experience with real-world machine learning. Thank you all for listening — we're happy to take any questions.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C0A14"/>
        </a:solidFill>
        <a:effectLst/>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6D1A36"/>
          </a:solidFill>
          <a:ln/>
        </p:spPr>
        <p:txBody>
          <a:bodyPr/>
          <a:lstStyle/>
          <a:p>
            <a:endParaRPr lang="en-US"/>
          </a:p>
        </p:txBody>
      </p:sp>
      <p:sp>
        <p:nvSpPr>
          <p:cNvPr id="3" name="Shape 1"/>
          <p:cNvSpPr/>
          <p:nvPr/>
        </p:nvSpPr>
        <p:spPr>
          <a:xfrm>
            <a:off x="5943600" y="-1097280"/>
            <a:ext cx="5029200" cy="5029200"/>
          </a:xfrm>
          <a:prstGeom prst="ellipse">
            <a:avLst/>
          </a:prstGeom>
          <a:solidFill>
            <a:srgbClr val="6D1A36">
              <a:alpha val="25000"/>
            </a:srgbClr>
          </a:solidFill>
          <a:ln w="12700">
            <a:solidFill>
              <a:srgbClr val="6D1A36"/>
            </a:solidFill>
            <a:prstDash val="solid"/>
          </a:ln>
        </p:spPr>
        <p:txBody>
          <a:bodyPr/>
          <a:lstStyle/>
          <a:p>
            <a:endParaRPr lang="en-US"/>
          </a:p>
        </p:txBody>
      </p:sp>
      <p:sp>
        <p:nvSpPr>
          <p:cNvPr id="4" name="Shape 2"/>
          <p:cNvSpPr/>
          <p:nvPr/>
        </p:nvSpPr>
        <p:spPr>
          <a:xfrm>
            <a:off x="6583680" y="-457200"/>
            <a:ext cx="3657600" cy="3657600"/>
          </a:xfrm>
          <a:prstGeom prst="ellipse">
            <a:avLst/>
          </a:prstGeom>
          <a:solidFill>
            <a:srgbClr val="A83258">
              <a:alpha val="20000"/>
            </a:srgbClr>
          </a:solidFill>
          <a:ln w="12700">
            <a:solidFill>
              <a:srgbClr val="A83258"/>
            </a:solidFill>
            <a:prstDash val="solid"/>
          </a:ln>
        </p:spPr>
        <p:txBody>
          <a:bodyPr/>
          <a:lstStyle/>
          <a:p>
            <a:endParaRPr lang="en-US"/>
          </a:p>
        </p:txBody>
      </p:sp>
      <p:sp>
        <p:nvSpPr>
          <p:cNvPr id="5" name="Shape 3"/>
          <p:cNvSpPr/>
          <p:nvPr/>
        </p:nvSpPr>
        <p:spPr>
          <a:xfrm>
            <a:off x="502920" y="1554480"/>
            <a:ext cx="1371600" cy="54864"/>
          </a:xfrm>
          <a:prstGeom prst="rect">
            <a:avLst/>
          </a:prstGeom>
          <a:solidFill>
            <a:srgbClr val="C9A84C"/>
          </a:solidFill>
          <a:ln/>
        </p:spPr>
        <p:txBody>
          <a:bodyPr/>
          <a:lstStyle/>
          <a:p>
            <a:endParaRPr lang="en-US"/>
          </a:p>
        </p:txBody>
      </p:sp>
      <p:sp>
        <p:nvSpPr>
          <p:cNvPr id="6" name="Text 4"/>
          <p:cNvSpPr/>
          <p:nvPr/>
        </p:nvSpPr>
        <p:spPr>
          <a:xfrm>
            <a:off x="502920" y="1188720"/>
            <a:ext cx="6400800" cy="320040"/>
          </a:xfrm>
          <a:prstGeom prst="rect">
            <a:avLst/>
          </a:prstGeom>
          <a:noFill/>
          <a:ln/>
        </p:spPr>
        <p:txBody>
          <a:bodyPr wrap="square" lIns="0" tIns="0" rIns="0" bIns="0" rtlCol="0" anchor="ctr"/>
          <a:lstStyle/>
          <a:p>
            <a:pPr marL="0" indent="0">
              <a:buNone/>
            </a:pPr>
            <a:r>
              <a:rPr lang="en-US" sz="1000" b="1" kern="0" spc="400">
                <a:solidFill>
                  <a:srgbClr val="C9A84C"/>
                </a:solidFill>
                <a:latin typeface="Calibri" pitchFamily="34" charset="0"/>
                <a:ea typeface="Calibri" pitchFamily="34" charset="-122"/>
                <a:cs typeface="Calibri" pitchFamily="34" charset="-120"/>
              </a:rPr>
              <a:t>PROJECT PROPOSAL</a:t>
            </a:r>
            <a:endParaRPr lang="en-US" sz="1000"/>
          </a:p>
        </p:txBody>
      </p:sp>
      <p:sp>
        <p:nvSpPr>
          <p:cNvPr id="7" name="Text 5"/>
          <p:cNvSpPr/>
          <p:nvPr/>
        </p:nvSpPr>
        <p:spPr>
          <a:xfrm>
            <a:off x="502920" y="1691640"/>
            <a:ext cx="7772400" cy="1828800"/>
          </a:xfrm>
          <a:prstGeom prst="rect">
            <a:avLst/>
          </a:prstGeom>
          <a:noFill/>
          <a:ln/>
        </p:spPr>
        <p:txBody>
          <a:bodyPr wrap="square" rtlCol="0" anchor="ctr"/>
          <a:lstStyle/>
          <a:p>
            <a:pPr marL="0" indent="0">
              <a:lnSpc>
                <a:spcPct val="110000"/>
              </a:lnSpc>
              <a:buNone/>
            </a:pPr>
            <a:r>
              <a:rPr lang="en-US" sz="5200" b="1">
                <a:solidFill>
                  <a:srgbClr val="FFFFFF"/>
                </a:solidFill>
                <a:latin typeface="Georgia" pitchFamily="34" charset="0"/>
                <a:ea typeface="Georgia" pitchFamily="34" charset="-122"/>
                <a:cs typeface="Georgia" pitchFamily="34" charset="-120"/>
              </a:rPr>
              <a:t>Wine Quality</a:t>
            </a:r>
            <a:endParaRPr lang="en-US" sz="5200"/>
          </a:p>
          <a:p>
            <a:pPr marL="0" indent="0">
              <a:lnSpc>
                <a:spcPct val="110000"/>
              </a:lnSpc>
              <a:buNone/>
            </a:pPr>
            <a:r>
              <a:rPr lang="en-US" sz="5200" b="1">
                <a:solidFill>
                  <a:srgbClr val="FFFFFF"/>
                </a:solidFill>
                <a:latin typeface="Georgia" pitchFamily="34" charset="0"/>
                <a:ea typeface="Georgia" pitchFamily="34" charset="-122"/>
                <a:cs typeface="Georgia" pitchFamily="34" charset="-120"/>
              </a:rPr>
              <a:t>Prediction</a:t>
            </a:r>
            <a:endParaRPr lang="en-US" sz="5200"/>
          </a:p>
        </p:txBody>
      </p:sp>
      <p:sp>
        <p:nvSpPr>
          <p:cNvPr id="8" name="Text 6"/>
          <p:cNvSpPr/>
          <p:nvPr/>
        </p:nvSpPr>
        <p:spPr>
          <a:xfrm>
            <a:off x="502920" y="3456432"/>
            <a:ext cx="6858000" cy="347472"/>
          </a:xfrm>
          <a:prstGeom prst="rect">
            <a:avLst/>
          </a:prstGeom>
          <a:noFill/>
          <a:ln/>
        </p:spPr>
        <p:txBody>
          <a:bodyPr wrap="square" rtlCol="0" anchor="ctr"/>
          <a:lstStyle/>
          <a:p>
            <a:pPr marL="0" indent="0">
              <a:buNone/>
            </a:pPr>
            <a:r>
              <a:rPr lang="en-US" sz="1400" i="1">
                <a:solidFill>
                  <a:srgbClr val="EDD5DE"/>
                </a:solidFill>
                <a:latin typeface="Calibri" pitchFamily="34" charset="0"/>
                <a:ea typeface="Calibri" pitchFamily="34" charset="-122"/>
                <a:cs typeface="Calibri" pitchFamily="34" charset="-120"/>
              </a:rPr>
              <a:t>Using Chemical Properties &amp; Machine Learning Models</a:t>
            </a:r>
            <a:endParaRPr lang="en-US" sz="1400"/>
          </a:p>
        </p:txBody>
      </p:sp>
      <p:sp>
        <p:nvSpPr>
          <p:cNvPr id="9" name="Text 7"/>
          <p:cNvSpPr/>
          <p:nvPr/>
        </p:nvSpPr>
        <p:spPr>
          <a:xfrm>
            <a:off x="502920" y="3895344"/>
            <a:ext cx="2743200" cy="256032"/>
          </a:xfrm>
          <a:prstGeom prst="rect">
            <a:avLst/>
          </a:prstGeom>
          <a:noFill/>
          <a:ln/>
        </p:spPr>
        <p:txBody>
          <a:bodyPr wrap="square" lIns="0" tIns="0" rIns="0" bIns="0" rtlCol="0" anchor="ctr"/>
          <a:lstStyle/>
          <a:p>
            <a:pPr marL="0" indent="0">
              <a:buNone/>
            </a:pPr>
            <a:r>
              <a:rPr lang="en-US" sz="900" b="1" kern="0" spc="300">
                <a:solidFill>
                  <a:srgbClr val="C9A84C"/>
                </a:solidFill>
                <a:latin typeface="Calibri" pitchFamily="34" charset="0"/>
                <a:ea typeface="Calibri" pitchFamily="34" charset="-122"/>
                <a:cs typeface="Calibri" pitchFamily="34" charset="-120"/>
              </a:rPr>
              <a:t>TEAM MEMBERS</a:t>
            </a:r>
            <a:endParaRPr lang="en-US" sz="900"/>
          </a:p>
        </p:txBody>
      </p:sp>
      <p:sp>
        <p:nvSpPr>
          <p:cNvPr id="10" name="Shape 8"/>
          <p:cNvSpPr/>
          <p:nvPr/>
        </p:nvSpPr>
        <p:spPr>
          <a:xfrm>
            <a:off x="502920" y="4187952"/>
            <a:ext cx="1938528" cy="347472"/>
          </a:xfrm>
          <a:prstGeom prst="rect">
            <a:avLst/>
          </a:prstGeom>
          <a:solidFill>
            <a:srgbClr val="6D1A36"/>
          </a:solidFill>
          <a:ln/>
        </p:spPr>
        <p:txBody>
          <a:bodyPr/>
          <a:lstStyle/>
          <a:p>
            <a:endParaRPr lang="en-US"/>
          </a:p>
        </p:txBody>
      </p:sp>
      <p:sp>
        <p:nvSpPr>
          <p:cNvPr id="11" name="Text 9"/>
          <p:cNvSpPr/>
          <p:nvPr/>
        </p:nvSpPr>
        <p:spPr>
          <a:xfrm>
            <a:off x="502920" y="4187952"/>
            <a:ext cx="1938528" cy="347472"/>
          </a:xfrm>
          <a:prstGeom prst="rect">
            <a:avLst/>
          </a:prstGeom>
          <a:noFill/>
          <a:ln/>
        </p:spPr>
        <p:txBody>
          <a:bodyPr wrap="square" rtlCol="0" anchor="ctr"/>
          <a:lstStyle/>
          <a:p>
            <a:pPr marL="0" indent="0" algn="ctr">
              <a:buNone/>
            </a:pPr>
            <a:r>
              <a:rPr lang="en-US" sz="1100" b="1">
                <a:solidFill>
                  <a:srgbClr val="FFFFFF"/>
                </a:solidFill>
                <a:latin typeface="Calibri" pitchFamily="34" charset="0"/>
                <a:ea typeface="Calibri" pitchFamily="34" charset="-122"/>
                <a:cs typeface="Calibri" pitchFamily="34" charset="-120"/>
              </a:rPr>
              <a:t>Ashish Gole</a:t>
            </a:r>
            <a:endParaRPr lang="en-US" sz="1100"/>
          </a:p>
        </p:txBody>
      </p:sp>
      <p:sp>
        <p:nvSpPr>
          <p:cNvPr id="12" name="Shape 10"/>
          <p:cNvSpPr/>
          <p:nvPr/>
        </p:nvSpPr>
        <p:spPr>
          <a:xfrm>
            <a:off x="2606040" y="4187952"/>
            <a:ext cx="1938528" cy="347472"/>
          </a:xfrm>
          <a:prstGeom prst="rect">
            <a:avLst/>
          </a:prstGeom>
          <a:solidFill>
            <a:srgbClr val="6D1A36"/>
          </a:solidFill>
          <a:ln/>
        </p:spPr>
        <p:txBody>
          <a:bodyPr/>
          <a:lstStyle/>
          <a:p>
            <a:endParaRPr lang="en-US"/>
          </a:p>
        </p:txBody>
      </p:sp>
      <p:sp>
        <p:nvSpPr>
          <p:cNvPr id="13" name="Text 11"/>
          <p:cNvSpPr/>
          <p:nvPr/>
        </p:nvSpPr>
        <p:spPr>
          <a:xfrm>
            <a:off x="2606040" y="4187952"/>
            <a:ext cx="1938528" cy="347472"/>
          </a:xfrm>
          <a:prstGeom prst="rect">
            <a:avLst/>
          </a:prstGeom>
          <a:noFill/>
          <a:ln/>
        </p:spPr>
        <p:txBody>
          <a:bodyPr wrap="square" rtlCol="0" anchor="ctr"/>
          <a:lstStyle/>
          <a:p>
            <a:pPr marL="0" indent="0" algn="ctr">
              <a:buNone/>
            </a:pPr>
            <a:r>
              <a:rPr lang="en-US" sz="1100" b="1">
                <a:solidFill>
                  <a:srgbClr val="FFFFFF"/>
                </a:solidFill>
                <a:latin typeface="Calibri" pitchFamily="34" charset="0"/>
                <a:ea typeface="Calibri" pitchFamily="34" charset="-122"/>
                <a:cs typeface="Calibri" pitchFamily="34" charset="-120"/>
              </a:rPr>
              <a:t>Siddhi Retharekar</a:t>
            </a:r>
            <a:endParaRPr lang="en-US" sz="1100"/>
          </a:p>
        </p:txBody>
      </p:sp>
      <p:sp>
        <p:nvSpPr>
          <p:cNvPr id="14" name="Shape 12"/>
          <p:cNvSpPr/>
          <p:nvPr/>
        </p:nvSpPr>
        <p:spPr>
          <a:xfrm>
            <a:off x="4709160" y="4187952"/>
            <a:ext cx="1938528" cy="347472"/>
          </a:xfrm>
          <a:prstGeom prst="rect">
            <a:avLst/>
          </a:prstGeom>
          <a:solidFill>
            <a:srgbClr val="6D1A36"/>
          </a:solidFill>
          <a:ln/>
        </p:spPr>
        <p:txBody>
          <a:bodyPr/>
          <a:lstStyle/>
          <a:p>
            <a:endParaRPr lang="en-US"/>
          </a:p>
        </p:txBody>
      </p:sp>
      <p:sp>
        <p:nvSpPr>
          <p:cNvPr id="15" name="Text 13"/>
          <p:cNvSpPr/>
          <p:nvPr/>
        </p:nvSpPr>
        <p:spPr>
          <a:xfrm>
            <a:off x="4709160" y="4187952"/>
            <a:ext cx="1938528" cy="347472"/>
          </a:xfrm>
          <a:prstGeom prst="rect">
            <a:avLst/>
          </a:prstGeom>
          <a:noFill/>
          <a:ln/>
        </p:spPr>
        <p:txBody>
          <a:bodyPr wrap="square" rtlCol="0" anchor="ctr"/>
          <a:lstStyle/>
          <a:p>
            <a:pPr marL="0" indent="0" algn="ctr">
              <a:buNone/>
            </a:pPr>
            <a:r>
              <a:rPr lang="en-US" sz="1100" b="1">
                <a:solidFill>
                  <a:srgbClr val="FFFFFF"/>
                </a:solidFill>
                <a:latin typeface="Calibri" pitchFamily="34" charset="0"/>
                <a:ea typeface="Calibri" pitchFamily="34" charset="-122"/>
                <a:cs typeface="Calibri" pitchFamily="34" charset="-120"/>
              </a:rPr>
              <a:t>Sanyami Naik</a:t>
            </a:r>
            <a:endParaRPr lang="en-US" sz="1100"/>
          </a:p>
        </p:txBody>
      </p:sp>
      <p:sp>
        <p:nvSpPr>
          <p:cNvPr id="16" name="Shape 14"/>
          <p:cNvSpPr/>
          <p:nvPr/>
        </p:nvSpPr>
        <p:spPr>
          <a:xfrm>
            <a:off x="6812280" y="4187952"/>
            <a:ext cx="1938528" cy="347472"/>
          </a:xfrm>
          <a:prstGeom prst="rect">
            <a:avLst/>
          </a:prstGeom>
          <a:solidFill>
            <a:srgbClr val="6D1A36"/>
          </a:solidFill>
          <a:ln/>
        </p:spPr>
        <p:txBody>
          <a:bodyPr/>
          <a:lstStyle/>
          <a:p>
            <a:endParaRPr lang="en-US"/>
          </a:p>
        </p:txBody>
      </p:sp>
      <p:sp>
        <p:nvSpPr>
          <p:cNvPr id="17" name="Text 15"/>
          <p:cNvSpPr/>
          <p:nvPr/>
        </p:nvSpPr>
        <p:spPr>
          <a:xfrm>
            <a:off x="6812280" y="4187952"/>
            <a:ext cx="1938528" cy="347472"/>
          </a:xfrm>
          <a:prstGeom prst="rect">
            <a:avLst/>
          </a:prstGeom>
          <a:noFill/>
          <a:ln/>
        </p:spPr>
        <p:txBody>
          <a:bodyPr wrap="square" rtlCol="0" anchor="ctr"/>
          <a:lstStyle/>
          <a:p>
            <a:pPr marL="0" indent="0" algn="ctr">
              <a:buNone/>
            </a:pPr>
            <a:r>
              <a:rPr lang="en-US" sz="1100" b="1">
                <a:solidFill>
                  <a:srgbClr val="FFFFFF"/>
                </a:solidFill>
                <a:latin typeface="Calibri" pitchFamily="34" charset="0"/>
                <a:ea typeface="Calibri" pitchFamily="34" charset="-122"/>
                <a:cs typeface="Calibri" pitchFamily="34" charset="-120"/>
              </a:rPr>
              <a:t>Nirmal Attarde</a:t>
            </a:r>
            <a:endParaRPr lang="en-US" sz="1100"/>
          </a:p>
        </p:txBody>
      </p:sp>
      <p:sp>
        <p:nvSpPr>
          <p:cNvPr id="18" name="Shape 16"/>
          <p:cNvSpPr/>
          <p:nvPr/>
        </p:nvSpPr>
        <p:spPr>
          <a:xfrm>
            <a:off x="0" y="4663440"/>
            <a:ext cx="9144000" cy="480060"/>
          </a:xfrm>
          <a:prstGeom prst="rect">
            <a:avLst/>
          </a:prstGeom>
          <a:solidFill>
            <a:srgbClr val="6D1A36"/>
          </a:solidFill>
          <a:ln/>
        </p:spPr>
        <p:txBody>
          <a:bodyPr/>
          <a:lstStyle/>
          <a:p>
            <a:endParaRPr lang="en-US"/>
          </a:p>
        </p:txBody>
      </p:sp>
      <p:sp>
        <p:nvSpPr>
          <p:cNvPr id="19" name="Text 17"/>
          <p:cNvSpPr/>
          <p:nvPr/>
        </p:nvSpPr>
        <p:spPr>
          <a:xfrm>
            <a:off x="274320" y="4681728"/>
            <a:ext cx="8686800" cy="411480"/>
          </a:xfrm>
          <a:prstGeom prst="rect">
            <a:avLst/>
          </a:prstGeom>
          <a:noFill/>
          <a:ln/>
        </p:spPr>
        <p:txBody>
          <a:bodyPr wrap="square" rtlCol="0" anchor="ctr"/>
          <a:lstStyle/>
          <a:p>
            <a:pPr algn="ctr"/>
            <a:r>
              <a:rPr lang="en-US" sz="950">
                <a:solidFill>
                  <a:srgbClr val="FFFFFF"/>
                </a:solidFill>
                <a:latin typeface="Calibri" pitchFamily="34" charset="0"/>
                <a:ea typeface="Calibri" pitchFamily="34" charset="-122"/>
                <a:cs typeface="Calibri" pitchFamily="34" charset="-120"/>
              </a:rPr>
              <a:t>Dataset: WineQT.csv (Kaggle)  |  Framework: Python &amp; Scikit-learn  | </a:t>
            </a:r>
            <a:r>
              <a:rPr lang="en-US" sz="1000">
                <a:solidFill>
                  <a:srgbClr val="FFFFFF"/>
                </a:solidFill>
                <a:latin typeface="Calibri" pitchFamily="34" charset="0"/>
                <a:ea typeface="Calibri" pitchFamily="34" charset="-122"/>
                <a:cs typeface="Calibri" pitchFamily="34" charset="-120"/>
              </a:rPr>
              <a:t>IS 407 - Introduction to Data Science</a:t>
            </a:r>
            <a:endParaRPr lang="en-US" sz="95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2EC"/>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6D1A36"/>
          </a:solidFill>
          <a:ln/>
        </p:spPr>
        <p:txBody>
          <a:bodyPr/>
          <a:lstStyle/>
          <a:p>
            <a:endParaRPr lang="en-US"/>
          </a:p>
        </p:txBody>
      </p:sp>
      <p:sp>
        <p:nvSpPr>
          <p:cNvPr id="3" name="Text 1"/>
          <p:cNvSpPr/>
          <p:nvPr/>
        </p:nvSpPr>
        <p:spPr>
          <a:xfrm>
            <a:off x="365760" y="0"/>
            <a:ext cx="8412480" cy="822960"/>
          </a:xfrm>
          <a:prstGeom prst="rect">
            <a:avLst/>
          </a:prstGeom>
          <a:noFill/>
          <a:ln/>
        </p:spPr>
        <p:txBody>
          <a:bodyPr wrap="square" rtlCol="0" anchor="ctr"/>
          <a:lstStyle/>
          <a:p>
            <a:pPr marL="0" indent="0">
              <a:buNone/>
            </a:pPr>
            <a:r>
              <a:rPr lang="en-US" sz="2200" b="1">
                <a:solidFill>
                  <a:srgbClr val="FFFFFF"/>
                </a:solidFill>
                <a:latin typeface="Georgia" pitchFamily="34" charset="0"/>
                <a:ea typeface="Georgia" pitchFamily="34" charset="-122"/>
                <a:cs typeface="Georgia" pitchFamily="34" charset="-120"/>
              </a:rPr>
              <a:t>PROJECT NAME &amp; DATASET</a:t>
            </a:r>
            <a:endParaRPr lang="en-US" sz="2200"/>
          </a:p>
        </p:txBody>
      </p:sp>
      <p:sp>
        <p:nvSpPr>
          <p:cNvPr id="4" name="Shape 2"/>
          <p:cNvSpPr/>
          <p:nvPr/>
        </p:nvSpPr>
        <p:spPr>
          <a:xfrm>
            <a:off x="274320" y="960120"/>
            <a:ext cx="8595360" cy="1188720"/>
          </a:xfrm>
          <a:prstGeom prst="rect">
            <a:avLst/>
          </a:prstGeom>
          <a:solidFill>
            <a:srgbClr val="FFFFFF"/>
          </a:solidFill>
          <a:ln/>
          <a:effectLst>
            <a:outerShdw blurRad="101600" dist="38100" dir="8100000" algn="bl" rotWithShape="0">
              <a:srgbClr val="000000">
                <a:alpha val="13000"/>
              </a:srgbClr>
            </a:outerShdw>
          </a:effectLst>
        </p:spPr>
        <p:txBody>
          <a:bodyPr/>
          <a:lstStyle/>
          <a:p>
            <a:endParaRPr lang="en-US"/>
          </a:p>
        </p:txBody>
      </p:sp>
      <p:sp>
        <p:nvSpPr>
          <p:cNvPr id="5" name="Shape 3"/>
          <p:cNvSpPr/>
          <p:nvPr/>
        </p:nvSpPr>
        <p:spPr>
          <a:xfrm>
            <a:off x="274320" y="960120"/>
            <a:ext cx="109728" cy="1188720"/>
          </a:xfrm>
          <a:prstGeom prst="rect">
            <a:avLst/>
          </a:prstGeom>
          <a:solidFill>
            <a:srgbClr val="C9A84C"/>
          </a:solidFill>
          <a:ln/>
        </p:spPr>
        <p:txBody>
          <a:bodyPr/>
          <a:lstStyle/>
          <a:p>
            <a:endParaRPr lang="en-US"/>
          </a:p>
        </p:txBody>
      </p:sp>
      <p:sp>
        <p:nvSpPr>
          <p:cNvPr id="6" name="Text 4"/>
          <p:cNvSpPr/>
          <p:nvPr/>
        </p:nvSpPr>
        <p:spPr>
          <a:xfrm>
            <a:off x="548640" y="1024128"/>
            <a:ext cx="3657600" cy="320040"/>
          </a:xfrm>
          <a:prstGeom prst="rect">
            <a:avLst/>
          </a:prstGeom>
          <a:noFill/>
          <a:ln/>
        </p:spPr>
        <p:txBody>
          <a:bodyPr wrap="square" rtlCol="0" anchor="ctr"/>
          <a:lstStyle/>
          <a:p>
            <a:pPr marL="0" indent="0">
              <a:buNone/>
            </a:pPr>
            <a:r>
              <a:rPr lang="en-US" sz="1300" b="1">
                <a:solidFill>
                  <a:srgbClr val="7A6070"/>
                </a:solidFill>
                <a:latin typeface="Calibri" pitchFamily="34" charset="0"/>
                <a:ea typeface="Calibri" pitchFamily="34" charset="-122"/>
                <a:cs typeface="Calibri" pitchFamily="34" charset="-120"/>
              </a:rPr>
              <a:t>Project Name</a:t>
            </a:r>
            <a:endParaRPr lang="en-US" sz="1300"/>
          </a:p>
        </p:txBody>
      </p:sp>
      <p:sp>
        <p:nvSpPr>
          <p:cNvPr id="7" name="Text 5"/>
          <p:cNvSpPr/>
          <p:nvPr/>
        </p:nvSpPr>
        <p:spPr>
          <a:xfrm>
            <a:off x="548640" y="1325880"/>
            <a:ext cx="8046720" cy="685800"/>
          </a:xfrm>
          <a:prstGeom prst="rect">
            <a:avLst/>
          </a:prstGeom>
          <a:noFill/>
          <a:ln/>
        </p:spPr>
        <p:txBody>
          <a:bodyPr wrap="square" rtlCol="0" anchor="ctr"/>
          <a:lstStyle/>
          <a:p>
            <a:pPr marL="0" indent="0">
              <a:buNone/>
            </a:pPr>
            <a:r>
              <a:rPr lang="en-US" sz="2000" b="1">
                <a:solidFill>
                  <a:srgbClr val="6D1A36"/>
                </a:solidFill>
                <a:latin typeface="Georgia" pitchFamily="34" charset="0"/>
                <a:ea typeface="Georgia" pitchFamily="34" charset="-122"/>
                <a:cs typeface="Georgia" pitchFamily="34" charset="-120"/>
              </a:rPr>
              <a:t>Wine Quality Prediction Using Machine Learning</a:t>
            </a:r>
            <a:endParaRPr lang="en-US" sz="2000"/>
          </a:p>
        </p:txBody>
      </p:sp>
      <p:sp>
        <p:nvSpPr>
          <p:cNvPr id="8" name="Shape 6"/>
          <p:cNvSpPr/>
          <p:nvPr/>
        </p:nvSpPr>
        <p:spPr>
          <a:xfrm>
            <a:off x="274320" y="2331720"/>
            <a:ext cx="4114800" cy="2514600"/>
          </a:xfrm>
          <a:prstGeom prst="rect">
            <a:avLst/>
          </a:prstGeom>
          <a:solidFill>
            <a:srgbClr val="FFFFFF"/>
          </a:solidFill>
          <a:ln/>
          <a:effectLst>
            <a:outerShdw blurRad="101600" dist="38100" dir="8100000" algn="bl" rotWithShape="0">
              <a:srgbClr val="000000">
                <a:alpha val="13000"/>
              </a:srgbClr>
            </a:outerShdw>
          </a:effectLst>
        </p:spPr>
        <p:txBody>
          <a:bodyPr/>
          <a:lstStyle/>
          <a:p>
            <a:endParaRPr lang="en-US"/>
          </a:p>
        </p:txBody>
      </p:sp>
      <p:sp>
        <p:nvSpPr>
          <p:cNvPr id="9" name="Shape 7"/>
          <p:cNvSpPr/>
          <p:nvPr/>
        </p:nvSpPr>
        <p:spPr>
          <a:xfrm>
            <a:off x="274320" y="2331720"/>
            <a:ext cx="109728" cy="2514600"/>
          </a:xfrm>
          <a:prstGeom prst="rect">
            <a:avLst/>
          </a:prstGeom>
          <a:solidFill>
            <a:srgbClr val="6D1A36"/>
          </a:solidFill>
          <a:ln/>
        </p:spPr>
        <p:txBody>
          <a:bodyPr/>
          <a:lstStyle/>
          <a:p>
            <a:endParaRPr lang="en-US"/>
          </a:p>
        </p:txBody>
      </p:sp>
      <p:sp>
        <p:nvSpPr>
          <p:cNvPr id="10" name="Text 8"/>
          <p:cNvSpPr/>
          <p:nvPr/>
        </p:nvSpPr>
        <p:spPr>
          <a:xfrm>
            <a:off x="548640" y="2423160"/>
            <a:ext cx="3657600" cy="347472"/>
          </a:xfrm>
          <a:prstGeom prst="rect">
            <a:avLst/>
          </a:prstGeom>
          <a:noFill/>
          <a:ln/>
        </p:spPr>
        <p:txBody>
          <a:bodyPr wrap="square" rtlCol="0" anchor="ctr"/>
          <a:lstStyle/>
          <a:p>
            <a:pPr marL="0" indent="0">
              <a:buNone/>
            </a:pPr>
            <a:r>
              <a:rPr lang="en-US" sz="1500" b="1">
                <a:solidFill>
                  <a:srgbClr val="6D1A36"/>
                </a:solidFill>
                <a:latin typeface="Georgia" pitchFamily="34" charset="0"/>
                <a:ea typeface="Georgia" pitchFamily="34" charset="-122"/>
                <a:cs typeface="Georgia" pitchFamily="34" charset="-120"/>
              </a:rPr>
              <a:t>Dataset</a:t>
            </a:r>
            <a:endParaRPr lang="en-US" sz="1500"/>
          </a:p>
        </p:txBody>
      </p:sp>
      <p:sp>
        <p:nvSpPr>
          <p:cNvPr id="11" name="Text 9"/>
          <p:cNvSpPr/>
          <p:nvPr/>
        </p:nvSpPr>
        <p:spPr>
          <a:xfrm>
            <a:off x="548640" y="2834640"/>
            <a:ext cx="3657600" cy="1828800"/>
          </a:xfrm>
          <a:prstGeom prst="rect">
            <a:avLst/>
          </a:prstGeom>
          <a:noFill/>
          <a:ln/>
        </p:spPr>
        <p:txBody>
          <a:bodyPr wrap="square" rtlCol="0" anchor="ctr"/>
          <a:lstStyle/>
          <a:p>
            <a:r>
              <a:rPr lang="en-US" sz="1250" b="1">
                <a:solidFill>
                  <a:srgbClr val="2B2B2B"/>
                </a:solidFill>
                <a:latin typeface="Calibri" pitchFamily="34" charset="0"/>
                <a:ea typeface="Calibri" pitchFamily="34" charset="-122"/>
                <a:cs typeface="Calibri" pitchFamily="34" charset="-120"/>
              </a:rPr>
              <a:t>Source: </a:t>
            </a:r>
            <a:r>
              <a:rPr lang="en-US" sz="1250">
                <a:solidFill>
                  <a:srgbClr val="2B2B2B"/>
                </a:solidFill>
                <a:latin typeface="Calibri" pitchFamily="34" charset="0"/>
                <a:ea typeface="Calibri" pitchFamily="34" charset="-122"/>
                <a:cs typeface="Calibri" pitchFamily="34" charset="-120"/>
              </a:rPr>
              <a:t>WineQT.csv (Kaggle — https://</a:t>
            </a:r>
            <a:r>
              <a:rPr lang="en-US" sz="1250" err="1">
                <a:solidFill>
                  <a:srgbClr val="2B2B2B"/>
                </a:solidFill>
                <a:latin typeface="Calibri" pitchFamily="34" charset="0"/>
                <a:ea typeface="Calibri" pitchFamily="34" charset="-122"/>
                <a:cs typeface="Calibri" pitchFamily="34" charset="-120"/>
              </a:rPr>
              <a:t>www.kaggle.com</a:t>
            </a:r>
            <a:r>
              <a:rPr lang="en-US" sz="1250">
                <a:solidFill>
                  <a:srgbClr val="2B2B2B"/>
                </a:solidFill>
                <a:latin typeface="Calibri" pitchFamily="34" charset="0"/>
                <a:ea typeface="Calibri" pitchFamily="34" charset="-122"/>
                <a:cs typeface="Calibri" pitchFamily="34" charset="-120"/>
              </a:rPr>
              <a:t>/datasets/</a:t>
            </a:r>
            <a:r>
              <a:rPr lang="en-US" sz="1250" err="1">
                <a:solidFill>
                  <a:srgbClr val="2B2B2B"/>
                </a:solidFill>
                <a:latin typeface="Calibri" pitchFamily="34" charset="0"/>
                <a:ea typeface="Calibri" pitchFamily="34" charset="-122"/>
                <a:cs typeface="Calibri" pitchFamily="34" charset="-120"/>
              </a:rPr>
              <a:t>yasserh</a:t>
            </a:r>
            <a:r>
              <a:rPr lang="en-US" sz="1250">
                <a:solidFill>
                  <a:srgbClr val="2B2B2B"/>
                </a:solidFill>
                <a:latin typeface="Calibri" pitchFamily="34" charset="0"/>
                <a:ea typeface="Calibri" pitchFamily="34" charset="-122"/>
                <a:cs typeface="Calibri" pitchFamily="34" charset="-120"/>
              </a:rPr>
              <a:t>/wine-quality-dataset)
</a:t>
            </a:r>
            <a:r>
              <a:rPr lang="en-US" sz="1250" b="1">
                <a:solidFill>
                  <a:srgbClr val="2B2B2B"/>
                </a:solidFill>
                <a:latin typeface="Calibri" pitchFamily="34" charset="0"/>
                <a:ea typeface="Calibri" pitchFamily="34" charset="-122"/>
                <a:cs typeface="Calibri" pitchFamily="34" charset="-120"/>
              </a:rPr>
              <a:t>Type: </a:t>
            </a:r>
            <a:r>
              <a:rPr lang="en-US" sz="1250">
                <a:solidFill>
                  <a:srgbClr val="2B2B2B"/>
                </a:solidFill>
                <a:latin typeface="Calibri" pitchFamily="34" charset="0"/>
                <a:ea typeface="Calibri" pitchFamily="34" charset="-122"/>
                <a:cs typeface="Calibri" pitchFamily="34" charset="-120"/>
              </a:rPr>
              <a:t>Red wine samples with physicochemical measurements
</a:t>
            </a:r>
            <a:r>
              <a:rPr lang="en-US" sz="1250" b="1">
                <a:solidFill>
                  <a:srgbClr val="2B2B2B"/>
                </a:solidFill>
                <a:latin typeface="Calibri" pitchFamily="34" charset="0"/>
                <a:ea typeface="Calibri" pitchFamily="34" charset="-122"/>
                <a:cs typeface="Calibri" pitchFamily="34" charset="-120"/>
              </a:rPr>
              <a:t>Size: </a:t>
            </a:r>
            <a:r>
              <a:rPr lang="en-US" sz="1250">
                <a:solidFill>
                  <a:srgbClr val="2B2B2B"/>
                </a:solidFill>
                <a:latin typeface="Calibri" pitchFamily="34" charset="0"/>
                <a:ea typeface="Calibri" pitchFamily="34" charset="-122"/>
                <a:cs typeface="Calibri" pitchFamily="34" charset="-120"/>
              </a:rPr>
              <a:t>1,143 samples, 12 columns (11 features + 1 target)</a:t>
            </a:r>
            <a:endParaRPr lang="en-US" sz="1250"/>
          </a:p>
        </p:txBody>
      </p:sp>
      <p:sp>
        <p:nvSpPr>
          <p:cNvPr id="12" name="Shape 10"/>
          <p:cNvSpPr/>
          <p:nvPr/>
        </p:nvSpPr>
        <p:spPr>
          <a:xfrm>
            <a:off x="4663440" y="2331720"/>
            <a:ext cx="4206240" cy="2514600"/>
          </a:xfrm>
          <a:prstGeom prst="rect">
            <a:avLst/>
          </a:prstGeom>
          <a:solidFill>
            <a:srgbClr val="FFFFFF"/>
          </a:solidFill>
          <a:ln/>
          <a:effectLst>
            <a:outerShdw blurRad="101600" dist="38100" dir="8100000" algn="bl" rotWithShape="0">
              <a:srgbClr val="000000">
                <a:alpha val="13000"/>
              </a:srgbClr>
            </a:outerShdw>
          </a:effectLst>
        </p:spPr>
        <p:txBody>
          <a:bodyPr/>
          <a:lstStyle/>
          <a:p>
            <a:endParaRPr lang="en-US"/>
          </a:p>
        </p:txBody>
      </p:sp>
      <p:sp>
        <p:nvSpPr>
          <p:cNvPr id="13" name="Shape 11"/>
          <p:cNvSpPr/>
          <p:nvPr/>
        </p:nvSpPr>
        <p:spPr>
          <a:xfrm>
            <a:off x="4663440" y="2331720"/>
            <a:ext cx="109728" cy="2514600"/>
          </a:xfrm>
          <a:prstGeom prst="rect">
            <a:avLst/>
          </a:prstGeom>
          <a:solidFill>
            <a:srgbClr val="A83258"/>
          </a:solidFill>
          <a:ln/>
        </p:spPr>
        <p:txBody>
          <a:bodyPr/>
          <a:lstStyle/>
          <a:p>
            <a:endParaRPr lang="en-US"/>
          </a:p>
        </p:txBody>
      </p:sp>
      <p:sp>
        <p:nvSpPr>
          <p:cNvPr id="14" name="Text 12"/>
          <p:cNvSpPr/>
          <p:nvPr/>
        </p:nvSpPr>
        <p:spPr>
          <a:xfrm>
            <a:off x="4937760" y="2423160"/>
            <a:ext cx="3657600" cy="347472"/>
          </a:xfrm>
          <a:prstGeom prst="rect">
            <a:avLst/>
          </a:prstGeom>
          <a:noFill/>
          <a:ln/>
        </p:spPr>
        <p:txBody>
          <a:bodyPr wrap="square" rtlCol="0" anchor="ctr"/>
          <a:lstStyle/>
          <a:p>
            <a:pPr marL="0" indent="0">
              <a:buNone/>
            </a:pPr>
            <a:r>
              <a:rPr lang="en-US" sz="1500" b="1">
                <a:solidFill>
                  <a:srgbClr val="6D1A36"/>
                </a:solidFill>
                <a:latin typeface="Georgia" pitchFamily="34" charset="0"/>
                <a:ea typeface="Georgia" pitchFamily="34" charset="-122"/>
                <a:cs typeface="Georgia" pitchFamily="34" charset="-120"/>
              </a:rPr>
              <a:t>11 Input Features</a:t>
            </a:r>
            <a:endParaRPr lang="en-US" sz="1500"/>
          </a:p>
        </p:txBody>
      </p:sp>
      <p:sp>
        <p:nvSpPr>
          <p:cNvPr id="15" name="Text 13"/>
          <p:cNvSpPr/>
          <p:nvPr/>
        </p:nvSpPr>
        <p:spPr>
          <a:xfrm>
            <a:off x="4892040" y="2834640"/>
            <a:ext cx="1920240" cy="274320"/>
          </a:xfrm>
          <a:prstGeom prst="rect">
            <a:avLst/>
          </a:prstGeom>
          <a:noFill/>
          <a:ln/>
        </p:spPr>
        <p:txBody>
          <a:bodyPr wrap="square" rtlCol="0" anchor="ctr"/>
          <a:lstStyle/>
          <a:p>
            <a:pPr marL="0" indent="0">
              <a:buNone/>
            </a:pPr>
            <a:r>
              <a:rPr lang="en-US" sz="1100">
                <a:solidFill>
                  <a:srgbClr val="2B2B2B"/>
                </a:solidFill>
                <a:latin typeface="Calibri" pitchFamily="34" charset="0"/>
                <a:ea typeface="Calibri" pitchFamily="34" charset="-122"/>
                <a:cs typeface="Calibri" pitchFamily="34" charset="-120"/>
              </a:rPr>
              <a:t>• Fixed Acidity</a:t>
            </a:r>
            <a:endParaRPr lang="en-US" sz="1100"/>
          </a:p>
        </p:txBody>
      </p:sp>
      <p:sp>
        <p:nvSpPr>
          <p:cNvPr id="16" name="Text 14"/>
          <p:cNvSpPr/>
          <p:nvPr/>
        </p:nvSpPr>
        <p:spPr>
          <a:xfrm>
            <a:off x="4892040" y="3136392"/>
            <a:ext cx="1920240" cy="274320"/>
          </a:xfrm>
          <a:prstGeom prst="rect">
            <a:avLst/>
          </a:prstGeom>
          <a:noFill/>
          <a:ln/>
        </p:spPr>
        <p:txBody>
          <a:bodyPr wrap="square" rtlCol="0" anchor="ctr"/>
          <a:lstStyle/>
          <a:p>
            <a:pPr marL="0" indent="0">
              <a:buNone/>
            </a:pPr>
            <a:r>
              <a:rPr lang="en-US" sz="1100">
                <a:solidFill>
                  <a:srgbClr val="2B2B2B"/>
                </a:solidFill>
                <a:latin typeface="Calibri" pitchFamily="34" charset="0"/>
                <a:ea typeface="Calibri" pitchFamily="34" charset="-122"/>
                <a:cs typeface="Calibri" pitchFamily="34" charset="-120"/>
              </a:rPr>
              <a:t>• Volatile Acidity</a:t>
            </a:r>
            <a:endParaRPr lang="en-US" sz="1100"/>
          </a:p>
        </p:txBody>
      </p:sp>
      <p:sp>
        <p:nvSpPr>
          <p:cNvPr id="17" name="Text 15"/>
          <p:cNvSpPr/>
          <p:nvPr/>
        </p:nvSpPr>
        <p:spPr>
          <a:xfrm>
            <a:off x="4892040" y="3438144"/>
            <a:ext cx="1920240" cy="274320"/>
          </a:xfrm>
          <a:prstGeom prst="rect">
            <a:avLst/>
          </a:prstGeom>
          <a:noFill/>
          <a:ln/>
        </p:spPr>
        <p:txBody>
          <a:bodyPr wrap="square" rtlCol="0" anchor="ctr"/>
          <a:lstStyle/>
          <a:p>
            <a:pPr marL="0" indent="0">
              <a:buNone/>
            </a:pPr>
            <a:r>
              <a:rPr lang="en-US" sz="1100">
                <a:solidFill>
                  <a:srgbClr val="2B2B2B"/>
                </a:solidFill>
                <a:latin typeface="Calibri" pitchFamily="34" charset="0"/>
                <a:ea typeface="Calibri" pitchFamily="34" charset="-122"/>
                <a:cs typeface="Calibri" pitchFamily="34" charset="-120"/>
              </a:rPr>
              <a:t>• Citric Acid</a:t>
            </a:r>
            <a:endParaRPr lang="en-US" sz="1100"/>
          </a:p>
        </p:txBody>
      </p:sp>
      <p:sp>
        <p:nvSpPr>
          <p:cNvPr id="18" name="Text 16"/>
          <p:cNvSpPr/>
          <p:nvPr/>
        </p:nvSpPr>
        <p:spPr>
          <a:xfrm>
            <a:off x="4892040" y="3739896"/>
            <a:ext cx="1920240" cy="274320"/>
          </a:xfrm>
          <a:prstGeom prst="rect">
            <a:avLst/>
          </a:prstGeom>
          <a:noFill/>
          <a:ln/>
        </p:spPr>
        <p:txBody>
          <a:bodyPr wrap="square" rtlCol="0" anchor="ctr"/>
          <a:lstStyle/>
          <a:p>
            <a:pPr marL="0" indent="0">
              <a:buNone/>
            </a:pPr>
            <a:r>
              <a:rPr lang="en-US" sz="1100">
                <a:solidFill>
                  <a:srgbClr val="2B2B2B"/>
                </a:solidFill>
                <a:latin typeface="Calibri" pitchFamily="34" charset="0"/>
                <a:ea typeface="Calibri" pitchFamily="34" charset="-122"/>
                <a:cs typeface="Calibri" pitchFamily="34" charset="-120"/>
              </a:rPr>
              <a:t>• Residual Sugar</a:t>
            </a:r>
            <a:endParaRPr lang="en-US" sz="1100"/>
          </a:p>
        </p:txBody>
      </p:sp>
      <p:sp>
        <p:nvSpPr>
          <p:cNvPr id="19" name="Text 17"/>
          <p:cNvSpPr/>
          <p:nvPr/>
        </p:nvSpPr>
        <p:spPr>
          <a:xfrm>
            <a:off x="4892040" y="4041648"/>
            <a:ext cx="1920240" cy="274320"/>
          </a:xfrm>
          <a:prstGeom prst="rect">
            <a:avLst/>
          </a:prstGeom>
          <a:noFill/>
          <a:ln/>
        </p:spPr>
        <p:txBody>
          <a:bodyPr wrap="square" rtlCol="0" anchor="ctr"/>
          <a:lstStyle/>
          <a:p>
            <a:pPr marL="0" indent="0">
              <a:buNone/>
            </a:pPr>
            <a:r>
              <a:rPr lang="en-US" sz="1100">
                <a:solidFill>
                  <a:srgbClr val="2B2B2B"/>
                </a:solidFill>
                <a:latin typeface="Calibri" pitchFamily="34" charset="0"/>
                <a:ea typeface="Calibri" pitchFamily="34" charset="-122"/>
                <a:cs typeface="Calibri" pitchFamily="34" charset="-120"/>
              </a:rPr>
              <a:t>• Chlorides</a:t>
            </a:r>
            <a:endParaRPr lang="en-US" sz="1100"/>
          </a:p>
        </p:txBody>
      </p:sp>
      <p:sp>
        <p:nvSpPr>
          <p:cNvPr id="20" name="Text 18"/>
          <p:cNvSpPr/>
          <p:nvPr/>
        </p:nvSpPr>
        <p:spPr>
          <a:xfrm>
            <a:off x="4892040" y="4343400"/>
            <a:ext cx="1920240" cy="274320"/>
          </a:xfrm>
          <a:prstGeom prst="rect">
            <a:avLst/>
          </a:prstGeom>
          <a:noFill/>
          <a:ln/>
        </p:spPr>
        <p:txBody>
          <a:bodyPr wrap="square" rtlCol="0" anchor="ctr"/>
          <a:lstStyle/>
          <a:p>
            <a:pPr marL="0" indent="0">
              <a:buNone/>
            </a:pPr>
            <a:r>
              <a:rPr lang="en-US" sz="1100">
                <a:solidFill>
                  <a:srgbClr val="2B2B2B"/>
                </a:solidFill>
                <a:latin typeface="Calibri" pitchFamily="34" charset="0"/>
                <a:ea typeface="Calibri" pitchFamily="34" charset="-122"/>
                <a:cs typeface="Calibri" pitchFamily="34" charset="-120"/>
              </a:rPr>
              <a:t>• Free SO₂</a:t>
            </a:r>
            <a:endParaRPr lang="en-US" sz="1100"/>
          </a:p>
        </p:txBody>
      </p:sp>
      <p:sp>
        <p:nvSpPr>
          <p:cNvPr id="21" name="Text 19"/>
          <p:cNvSpPr/>
          <p:nvPr/>
        </p:nvSpPr>
        <p:spPr>
          <a:xfrm>
            <a:off x="6858000" y="2834640"/>
            <a:ext cx="1920240" cy="274320"/>
          </a:xfrm>
          <a:prstGeom prst="rect">
            <a:avLst/>
          </a:prstGeom>
          <a:noFill/>
          <a:ln/>
        </p:spPr>
        <p:txBody>
          <a:bodyPr wrap="square" rtlCol="0" anchor="ctr"/>
          <a:lstStyle/>
          <a:p>
            <a:pPr marL="0" indent="0">
              <a:buNone/>
            </a:pPr>
            <a:r>
              <a:rPr lang="en-US" sz="1100">
                <a:solidFill>
                  <a:srgbClr val="2B2B2B"/>
                </a:solidFill>
                <a:latin typeface="Calibri" pitchFamily="34" charset="0"/>
                <a:ea typeface="Calibri" pitchFamily="34" charset="-122"/>
                <a:cs typeface="Calibri" pitchFamily="34" charset="-120"/>
              </a:rPr>
              <a:t>• Total SO₂</a:t>
            </a:r>
            <a:endParaRPr lang="en-US" sz="1100"/>
          </a:p>
        </p:txBody>
      </p:sp>
      <p:sp>
        <p:nvSpPr>
          <p:cNvPr id="22" name="Text 20"/>
          <p:cNvSpPr/>
          <p:nvPr/>
        </p:nvSpPr>
        <p:spPr>
          <a:xfrm>
            <a:off x="6858000" y="3136392"/>
            <a:ext cx="1920240" cy="274320"/>
          </a:xfrm>
          <a:prstGeom prst="rect">
            <a:avLst/>
          </a:prstGeom>
          <a:noFill/>
          <a:ln/>
        </p:spPr>
        <p:txBody>
          <a:bodyPr wrap="square" rtlCol="0" anchor="ctr"/>
          <a:lstStyle/>
          <a:p>
            <a:pPr marL="0" indent="0">
              <a:buNone/>
            </a:pPr>
            <a:r>
              <a:rPr lang="en-US" sz="1100">
                <a:solidFill>
                  <a:srgbClr val="2B2B2B"/>
                </a:solidFill>
                <a:latin typeface="Calibri" pitchFamily="34" charset="0"/>
                <a:ea typeface="Calibri" pitchFamily="34" charset="-122"/>
                <a:cs typeface="Calibri" pitchFamily="34" charset="-120"/>
              </a:rPr>
              <a:t>• Density</a:t>
            </a:r>
            <a:endParaRPr lang="en-US" sz="1100"/>
          </a:p>
        </p:txBody>
      </p:sp>
      <p:sp>
        <p:nvSpPr>
          <p:cNvPr id="23" name="Text 21"/>
          <p:cNvSpPr/>
          <p:nvPr/>
        </p:nvSpPr>
        <p:spPr>
          <a:xfrm>
            <a:off x="6858000" y="3438144"/>
            <a:ext cx="1920240" cy="274320"/>
          </a:xfrm>
          <a:prstGeom prst="rect">
            <a:avLst/>
          </a:prstGeom>
          <a:noFill/>
          <a:ln/>
        </p:spPr>
        <p:txBody>
          <a:bodyPr wrap="square" rtlCol="0" anchor="ctr"/>
          <a:lstStyle/>
          <a:p>
            <a:pPr marL="0" indent="0">
              <a:buNone/>
            </a:pPr>
            <a:r>
              <a:rPr lang="en-US" sz="1100">
                <a:solidFill>
                  <a:srgbClr val="2B2B2B"/>
                </a:solidFill>
                <a:latin typeface="Calibri" pitchFamily="34" charset="0"/>
                <a:ea typeface="Calibri" pitchFamily="34" charset="-122"/>
                <a:cs typeface="Calibri" pitchFamily="34" charset="-120"/>
              </a:rPr>
              <a:t>• pH</a:t>
            </a:r>
            <a:endParaRPr lang="en-US" sz="1100"/>
          </a:p>
        </p:txBody>
      </p:sp>
      <p:sp>
        <p:nvSpPr>
          <p:cNvPr id="24" name="Text 22"/>
          <p:cNvSpPr/>
          <p:nvPr/>
        </p:nvSpPr>
        <p:spPr>
          <a:xfrm>
            <a:off x="6858000" y="3739896"/>
            <a:ext cx="1920240" cy="274320"/>
          </a:xfrm>
          <a:prstGeom prst="rect">
            <a:avLst/>
          </a:prstGeom>
          <a:noFill/>
          <a:ln/>
        </p:spPr>
        <p:txBody>
          <a:bodyPr wrap="square" rtlCol="0" anchor="ctr"/>
          <a:lstStyle/>
          <a:p>
            <a:pPr marL="0" indent="0">
              <a:buNone/>
            </a:pPr>
            <a:r>
              <a:rPr lang="en-US" sz="1100">
                <a:solidFill>
                  <a:srgbClr val="2B2B2B"/>
                </a:solidFill>
                <a:latin typeface="Calibri" pitchFamily="34" charset="0"/>
                <a:ea typeface="Calibri" pitchFamily="34" charset="-122"/>
                <a:cs typeface="Calibri" pitchFamily="34" charset="-120"/>
              </a:rPr>
              <a:t>• Sulphates</a:t>
            </a:r>
            <a:endParaRPr lang="en-US" sz="1100"/>
          </a:p>
        </p:txBody>
      </p:sp>
      <p:sp>
        <p:nvSpPr>
          <p:cNvPr id="25" name="Text 23"/>
          <p:cNvSpPr/>
          <p:nvPr/>
        </p:nvSpPr>
        <p:spPr>
          <a:xfrm>
            <a:off x="6858000" y="4041648"/>
            <a:ext cx="1920240" cy="274320"/>
          </a:xfrm>
          <a:prstGeom prst="rect">
            <a:avLst/>
          </a:prstGeom>
          <a:noFill/>
          <a:ln/>
        </p:spPr>
        <p:txBody>
          <a:bodyPr wrap="square" rtlCol="0" anchor="ctr"/>
          <a:lstStyle/>
          <a:p>
            <a:pPr marL="0" indent="0">
              <a:buNone/>
            </a:pPr>
            <a:r>
              <a:rPr lang="en-US" sz="1100">
                <a:solidFill>
                  <a:srgbClr val="2B2B2B"/>
                </a:solidFill>
                <a:latin typeface="Calibri" pitchFamily="34" charset="0"/>
                <a:ea typeface="Calibri" pitchFamily="34" charset="-122"/>
                <a:cs typeface="Calibri" pitchFamily="34" charset="-120"/>
              </a:rPr>
              <a:t>• Alcohol</a:t>
            </a:r>
            <a:endParaRPr lang="en-US" sz="1100"/>
          </a:p>
        </p:txBody>
      </p:sp>
      <p:sp>
        <p:nvSpPr>
          <p:cNvPr id="26" name="Text 24"/>
          <p:cNvSpPr/>
          <p:nvPr/>
        </p:nvSpPr>
        <p:spPr>
          <a:xfrm>
            <a:off x="4892040" y="4588868"/>
            <a:ext cx="3840480" cy="256032"/>
          </a:xfrm>
          <a:prstGeom prst="rect">
            <a:avLst/>
          </a:prstGeom>
          <a:noFill/>
          <a:ln/>
        </p:spPr>
        <p:txBody>
          <a:bodyPr wrap="square" rtlCol="0" anchor="ctr"/>
          <a:lstStyle/>
          <a:p>
            <a:pPr marL="0" indent="0">
              <a:buNone/>
            </a:pPr>
            <a:r>
              <a:rPr lang="en-US" sz="1000" i="1">
                <a:solidFill>
                  <a:srgbClr val="7A6070"/>
                </a:solidFill>
                <a:latin typeface="Calibri" pitchFamily="34" charset="0"/>
                <a:ea typeface="Calibri" pitchFamily="34" charset="-122"/>
                <a:cs typeface="Calibri" pitchFamily="34" charset="-120"/>
              </a:rPr>
              <a:t>Target: Quality score → Binary (High ≥ 6 / Low ≤ 5)</a:t>
            </a:r>
            <a:endParaRPr lang="en-US" sz="10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2EC"/>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6D1A36"/>
          </a:solidFill>
          <a:ln/>
        </p:spPr>
        <p:txBody>
          <a:bodyPr/>
          <a:lstStyle/>
          <a:p>
            <a:endParaRPr lang="en-US"/>
          </a:p>
        </p:txBody>
      </p:sp>
      <p:sp>
        <p:nvSpPr>
          <p:cNvPr id="3" name="Text 1"/>
          <p:cNvSpPr/>
          <p:nvPr/>
        </p:nvSpPr>
        <p:spPr>
          <a:xfrm>
            <a:off x="365760" y="0"/>
            <a:ext cx="8412480" cy="822960"/>
          </a:xfrm>
          <a:prstGeom prst="rect">
            <a:avLst/>
          </a:prstGeom>
          <a:noFill/>
          <a:ln/>
        </p:spPr>
        <p:txBody>
          <a:bodyPr wrap="square" rtlCol="0" anchor="ctr"/>
          <a:lstStyle/>
          <a:p>
            <a:pPr marL="0" indent="0">
              <a:buNone/>
            </a:pPr>
            <a:r>
              <a:rPr lang="en-US" sz="2200" b="1">
                <a:solidFill>
                  <a:srgbClr val="FFFFFF"/>
                </a:solidFill>
                <a:latin typeface="Georgia" pitchFamily="34" charset="0"/>
                <a:ea typeface="Georgia" pitchFamily="34" charset="-122"/>
                <a:cs typeface="Georgia" pitchFamily="34" charset="-120"/>
              </a:rPr>
              <a:t>METHODS WE PLAN TO APPLY</a:t>
            </a:r>
            <a:endParaRPr lang="en-US" sz="2200"/>
          </a:p>
        </p:txBody>
      </p:sp>
      <p:sp>
        <p:nvSpPr>
          <p:cNvPr id="4" name="Text 2"/>
          <p:cNvSpPr/>
          <p:nvPr/>
        </p:nvSpPr>
        <p:spPr>
          <a:xfrm>
            <a:off x="365760" y="914400"/>
            <a:ext cx="8412480" cy="365760"/>
          </a:xfrm>
          <a:prstGeom prst="rect">
            <a:avLst/>
          </a:prstGeom>
          <a:noFill/>
          <a:ln/>
        </p:spPr>
        <p:txBody>
          <a:bodyPr wrap="square" rtlCol="0" anchor="ctr"/>
          <a:lstStyle/>
          <a:p>
            <a:pPr marL="0" indent="0">
              <a:buNone/>
            </a:pPr>
            <a:r>
              <a:rPr lang="en-US" sz="1300" i="1">
                <a:solidFill>
                  <a:srgbClr val="7A6070"/>
                </a:solidFill>
                <a:latin typeface="Calibri" pitchFamily="34" charset="0"/>
                <a:ea typeface="Calibri" pitchFamily="34" charset="-122"/>
                <a:cs typeface="Calibri" pitchFamily="34" charset="-120"/>
              </a:rPr>
              <a:t>We intend to apply and compare four classification models — each chosen for a specific reason:</a:t>
            </a:r>
            <a:endParaRPr lang="en-US" sz="1300"/>
          </a:p>
        </p:txBody>
      </p:sp>
      <p:sp>
        <p:nvSpPr>
          <p:cNvPr id="5" name="Shape 3"/>
          <p:cNvSpPr/>
          <p:nvPr/>
        </p:nvSpPr>
        <p:spPr>
          <a:xfrm>
            <a:off x="274320" y="1417320"/>
            <a:ext cx="4114800" cy="1600200"/>
          </a:xfrm>
          <a:prstGeom prst="rect">
            <a:avLst/>
          </a:prstGeom>
          <a:solidFill>
            <a:srgbClr val="FFFFFF"/>
          </a:solidFill>
          <a:ln/>
          <a:effectLst>
            <a:outerShdw blurRad="101600" dist="38100" dir="8100000" algn="bl" rotWithShape="0">
              <a:srgbClr val="000000">
                <a:alpha val="13000"/>
              </a:srgbClr>
            </a:outerShdw>
          </a:effectLst>
        </p:spPr>
        <p:txBody>
          <a:bodyPr/>
          <a:lstStyle/>
          <a:p>
            <a:endParaRPr lang="en-US"/>
          </a:p>
        </p:txBody>
      </p:sp>
      <p:sp>
        <p:nvSpPr>
          <p:cNvPr id="6" name="Shape 4"/>
          <p:cNvSpPr/>
          <p:nvPr/>
        </p:nvSpPr>
        <p:spPr>
          <a:xfrm>
            <a:off x="274320" y="1417320"/>
            <a:ext cx="4114800" cy="384048"/>
          </a:xfrm>
          <a:prstGeom prst="rect">
            <a:avLst/>
          </a:prstGeom>
          <a:solidFill>
            <a:srgbClr val="6D1A36"/>
          </a:solidFill>
          <a:ln/>
        </p:spPr>
        <p:txBody>
          <a:bodyPr/>
          <a:lstStyle/>
          <a:p>
            <a:endParaRPr lang="en-US"/>
          </a:p>
        </p:txBody>
      </p:sp>
      <p:sp>
        <p:nvSpPr>
          <p:cNvPr id="7" name="Text 5"/>
          <p:cNvSpPr/>
          <p:nvPr/>
        </p:nvSpPr>
        <p:spPr>
          <a:xfrm>
            <a:off x="411480" y="1453896"/>
            <a:ext cx="3840480" cy="347472"/>
          </a:xfrm>
          <a:prstGeom prst="rect">
            <a:avLst/>
          </a:prstGeom>
          <a:noFill/>
          <a:ln/>
        </p:spPr>
        <p:txBody>
          <a:bodyPr wrap="square" rtlCol="0" anchor="ctr"/>
          <a:lstStyle/>
          <a:p>
            <a:pPr marL="0" indent="0">
              <a:buNone/>
            </a:pPr>
            <a:r>
              <a:rPr lang="en-US" sz="1400" b="1">
                <a:solidFill>
                  <a:srgbClr val="FFFFFF"/>
                </a:solidFill>
                <a:latin typeface="Georgia" pitchFamily="34" charset="0"/>
                <a:ea typeface="Georgia" pitchFamily="34" charset="-122"/>
                <a:cs typeface="Georgia" pitchFamily="34" charset="-120"/>
              </a:rPr>
              <a:t>Logistic Regression</a:t>
            </a:r>
            <a:endParaRPr lang="en-US" sz="1400"/>
          </a:p>
        </p:txBody>
      </p:sp>
      <p:sp>
        <p:nvSpPr>
          <p:cNvPr id="8" name="Text 6"/>
          <p:cNvSpPr/>
          <p:nvPr/>
        </p:nvSpPr>
        <p:spPr>
          <a:xfrm>
            <a:off x="411480" y="1874520"/>
            <a:ext cx="3840480" cy="1051560"/>
          </a:xfrm>
          <a:prstGeom prst="rect">
            <a:avLst/>
          </a:prstGeom>
          <a:noFill/>
          <a:ln/>
        </p:spPr>
        <p:txBody>
          <a:bodyPr wrap="square" rtlCol="0" anchor="ctr"/>
          <a:lstStyle/>
          <a:p>
            <a:pPr marL="0" indent="0">
              <a:buNone/>
            </a:pPr>
            <a:r>
              <a:rPr lang="en-US" sz="1150">
                <a:solidFill>
                  <a:srgbClr val="2B2B2B"/>
                </a:solidFill>
                <a:latin typeface="Calibri" pitchFamily="34" charset="0"/>
                <a:ea typeface="Calibri" pitchFamily="34" charset="-122"/>
                <a:cs typeface="Calibri" pitchFamily="34" charset="-120"/>
              </a:rPr>
              <a:t>A strong linear baseline for binary classification. Its probability outputs and interpretable coefficients will help us understand which features matter most.</a:t>
            </a:r>
            <a:endParaRPr lang="en-US" sz="1150"/>
          </a:p>
        </p:txBody>
      </p:sp>
      <p:sp>
        <p:nvSpPr>
          <p:cNvPr id="9" name="Shape 7"/>
          <p:cNvSpPr/>
          <p:nvPr/>
        </p:nvSpPr>
        <p:spPr>
          <a:xfrm>
            <a:off x="4754880" y="1417320"/>
            <a:ext cx="4114800" cy="1600200"/>
          </a:xfrm>
          <a:prstGeom prst="rect">
            <a:avLst/>
          </a:prstGeom>
          <a:solidFill>
            <a:srgbClr val="FFFFFF"/>
          </a:solidFill>
          <a:ln/>
          <a:effectLst>
            <a:outerShdw blurRad="101600" dist="38100" dir="8100000" algn="bl" rotWithShape="0">
              <a:srgbClr val="000000">
                <a:alpha val="13000"/>
              </a:srgbClr>
            </a:outerShdw>
          </a:effectLst>
        </p:spPr>
        <p:txBody>
          <a:bodyPr/>
          <a:lstStyle/>
          <a:p>
            <a:endParaRPr lang="en-US"/>
          </a:p>
        </p:txBody>
      </p:sp>
      <p:sp>
        <p:nvSpPr>
          <p:cNvPr id="10" name="Shape 8"/>
          <p:cNvSpPr/>
          <p:nvPr/>
        </p:nvSpPr>
        <p:spPr>
          <a:xfrm>
            <a:off x="4754880" y="1417320"/>
            <a:ext cx="4114800" cy="384048"/>
          </a:xfrm>
          <a:prstGeom prst="rect">
            <a:avLst/>
          </a:prstGeom>
          <a:solidFill>
            <a:srgbClr val="A83258"/>
          </a:solidFill>
          <a:ln/>
        </p:spPr>
        <p:txBody>
          <a:bodyPr/>
          <a:lstStyle/>
          <a:p>
            <a:endParaRPr lang="en-US"/>
          </a:p>
        </p:txBody>
      </p:sp>
      <p:sp>
        <p:nvSpPr>
          <p:cNvPr id="11" name="Text 9"/>
          <p:cNvSpPr/>
          <p:nvPr/>
        </p:nvSpPr>
        <p:spPr>
          <a:xfrm>
            <a:off x="4892040" y="1453896"/>
            <a:ext cx="3840480" cy="347472"/>
          </a:xfrm>
          <a:prstGeom prst="rect">
            <a:avLst/>
          </a:prstGeom>
          <a:noFill/>
          <a:ln/>
        </p:spPr>
        <p:txBody>
          <a:bodyPr wrap="square" rtlCol="0" anchor="ctr"/>
          <a:lstStyle/>
          <a:p>
            <a:pPr marL="0" indent="0">
              <a:buNone/>
            </a:pPr>
            <a:r>
              <a:rPr lang="en-US" sz="1400" b="1">
                <a:solidFill>
                  <a:srgbClr val="FFFFFF"/>
                </a:solidFill>
                <a:latin typeface="Georgia" pitchFamily="34" charset="0"/>
                <a:ea typeface="Georgia" pitchFamily="34" charset="-122"/>
                <a:cs typeface="Georgia" pitchFamily="34" charset="-120"/>
              </a:rPr>
              <a:t>Decision Tree</a:t>
            </a:r>
            <a:endParaRPr lang="en-US" sz="1400"/>
          </a:p>
        </p:txBody>
      </p:sp>
      <p:sp>
        <p:nvSpPr>
          <p:cNvPr id="12" name="Text 10"/>
          <p:cNvSpPr/>
          <p:nvPr/>
        </p:nvSpPr>
        <p:spPr>
          <a:xfrm>
            <a:off x="4892040" y="1874520"/>
            <a:ext cx="3840480" cy="1051560"/>
          </a:xfrm>
          <a:prstGeom prst="rect">
            <a:avLst/>
          </a:prstGeom>
          <a:noFill/>
          <a:ln/>
        </p:spPr>
        <p:txBody>
          <a:bodyPr wrap="square" rtlCol="0" anchor="ctr"/>
          <a:lstStyle/>
          <a:p>
            <a:pPr marL="0" indent="0">
              <a:buNone/>
            </a:pPr>
            <a:r>
              <a:rPr lang="en-US" sz="1150">
                <a:solidFill>
                  <a:srgbClr val="2B2B2B"/>
                </a:solidFill>
                <a:latin typeface="Calibri" pitchFamily="34" charset="0"/>
                <a:ea typeface="Calibri" pitchFamily="34" charset="-122"/>
                <a:cs typeface="Calibri" pitchFamily="34" charset="-120"/>
              </a:rPr>
              <a:t>Handles non-linear relationships naturally without requiring feature scaling. Easy to visualize and interpret the decision logic for quality classification.</a:t>
            </a:r>
            <a:endParaRPr lang="en-US" sz="1150"/>
          </a:p>
        </p:txBody>
      </p:sp>
      <p:sp>
        <p:nvSpPr>
          <p:cNvPr id="13" name="Shape 11"/>
          <p:cNvSpPr/>
          <p:nvPr/>
        </p:nvSpPr>
        <p:spPr>
          <a:xfrm>
            <a:off x="274320" y="3200400"/>
            <a:ext cx="4114800" cy="1600200"/>
          </a:xfrm>
          <a:prstGeom prst="rect">
            <a:avLst/>
          </a:prstGeom>
          <a:solidFill>
            <a:srgbClr val="FFFFFF"/>
          </a:solidFill>
          <a:ln/>
          <a:effectLst>
            <a:outerShdw blurRad="101600" dist="38100" dir="8100000" algn="bl" rotWithShape="0">
              <a:srgbClr val="000000">
                <a:alpha val="13000"/>
              </a:srgbClr>
            </a:outerShdw>
          </a:effectLst>
        </p:spPr>
        <p:txBody>
          <a:bodyPr/>
          <a:lstStyle/>
          <a:p>
            <a:endParaRPr lang="en-US"/>
          </a:p>
        </p:txBody>
      </p:sp>
      <p:sp>
        <p:nvSpPr>
          <p:cNvPr id="14" name="Shape 12"/>
          <p:cNvSpPr/>
          <p:nvPr/>
        </p:nvSpPr>
        <p:spPr>
          <a:xfrm>
            <a:off x="274320" y="3200400"/>
            <a:ext cx="4114800" cy="384048"/>
          </a:xfrm>
          <a:prstGeom prst="rect">
            <a:avLst/>
          </a:prstGeom>
          <a:solidFill>
            <a:srgbClr val="C9A84C"/>
          </a:solidFill>
          <a:ln/>
        </p:spPr>
        <p:txBody>
          <a:bodyPr/>
          <a:lstStyle/>
          <a:p>
            <a:endParaRPr lang="en-US"/>
          </a:p>
        </p:txBody>
      </p:sp>
      <p:sp>
        <p:nvSpPr>
          <p:cNvPr id="15" name="Text 13"/>
          <p:cNvSpPr/>
          <p:nvPr/>
        </p:nvSpPr>
        <p:spPr>
          <a:xfrm>
            <a:off x="411480" y="3236976"/>
            <a:ext cx="3840480" cy="347472"/>
          </a:xfrm>
          <a:prstGeom prst="rect">
            <a:avLst/>
          </a:prstGeom>
          <a:noFill/>
          <a:ln/>
        </p:spPr>
        <p:txBody>
          <a:bodyPr wrap="square" rtlCol="0" anchor="ctr"/>
          <a:lstStyle/>
          <a:p>
            <a:pPr marL="0" indent="0">
              <a:buNone/>
            </a:pPr>
            <a:r>
              <a:rPr lang="en-US" sz="1400" b="1">
                <a:solidFill>
                  <a:srgbClr val="FFFFFF"/>
                </a:solidFill>
                <a:latin typeface="Georgia" pitchFamily="34" charset="0"/>
                <a:ea typeface="Georgia" pitchFamily="34" charset="-122"/>
                <a:cs typeface="Georgia" pitchFamily="34" charset="-120"/>
              </a:rPr>
              <a:t>Random Forest</a:t>
            </a:r>
            <a:endParaRPr lang="en-US" sz="1400"/>
          </a:p>
        </p:txBody>
      </p:sp>
      <p:sp>
        <p:nvSpPr>
          <p:cNvPr id="16" name="Text 14"/>
          <p:cNvSpPr/>
          <p:nvPr/>
        </p:nvSpPr>
        <p:spPr>
          <a:xfrm>
            <a:off x="411480" y="3657600"/>
            <a:ext cx="3840480" cy="1051560"/>
          </a:xfrm>
          <a:prstGeom prst="rect">
            <a:avLst/>
          </a:prstGeom>
          <a:noFill/>
          <a:ln/>
        </p:spPr>
        <p:txBody>
          <a:bodyPr wrap="square" rtlCol="0" anchor="ctr"/>
          <a:lstStyle/>
          <a:p>
            <a:pPr marL="0" indent="0">
              <a:buNone/>
            </a:pPr>
            <a:r>
              <a:rPr lang="en-US" sz="1150">
                <a:solidFill>
                  <a:srgbClr val="2B2B2B"/>
                </a:solidFill>
                <a:latin typeface="Calibri" pitchFamily="34" charset="0"/>
                <a:ea typeface="Calibri" pitchFamily="34" charset="-122"/>
                <a:cs typeface="Calibri" pitchFamily="34" charset="-120"/>
              </a:rPr>
              <a:t>An ensemble of trees that we expect to outperform single models by reducing variance. Also provides built-in feature importance scores for our analysis.</a:t>
            </a:r>
            <a:endParaRPr lang="en-US" sz="1150"/>
          </a:p>
        </p:txBody>
      </p:sp>
      <p:sp>
        <p:nvSpPr>
          <p:cNvPr id="17" name="Shape 15"/>
          <p:cNvSpPr/>
          <p:nvPr/>
        </p:nvSpPr>
        <p:spPr>
          <a:xfrm>
            <a:off x="4754880" y="3200400"/>
            <a:ext cx="4114800" cy="1600200"/>
          </a:xfrm>
          <a:prstGeom prst="rect">
            <a:avLst/>
          </a:prstGeom>
          <a:solidFill>
            <a:srgbClr val="FFFFFF"/>
          </a:solidFill>
          <a:ln/>
          <a:effectLst>
            <a:outerShdw blurRad="101600" dist="38100" dir="8100000" algn="bl" rotWithShape="0">
              <a:srgbClr val="000000">
                <a:alpha val="13000"/>
              </a:srgbClr>
            </a:outerShdw>
          </a:effectLst>
        </p:spPr>
        <p:txBody>
          <a:bodyPr/>
          <a:lstStyle/>
          <a:p>
            <a:endParaRPr lang="en-US"/>
          </a:p>
        </p:txBody>
      </p:sp>
      <p:sp>
        <p:nvSpPr>
          <p:cNvPr id="18" name="Shape 16"/>
          <p:cNvSpPr/>
          <p:nvPr/>
        </p:nvSpPr>
        <p:spPr>
          <a:xfrm>
            <a:off x="4754880" y="3200400"/>
            <a:ext cx="4114800" cy="384048"/>
          </a:xfrm>
          <a:prstGeom prst="rect">
            <a:avLst/>
          </a:prstGeom>
          <a:solidFill>
            <a:srgbClr val="6B7280"/>
          </a:solidFill>
          <a:ln/>
        </p:spPr>
        <p:txBody>
          <a:bodyPr/>
          <a:lstStyle/>
          <a:p>
            <a:endParaRPr lang="en-US"/>
          </a:p>
        </p:txBody>
      </p:sp>
      <p:sp>
        <p:nvSpPr>
          <p:cNvPr id="19" name="Text 17"/>
          <p:cNvSpPr/>
          <p:nvPr/>
        </p:nvSpPr>
        <p:spPr>
          <a:xfrm>
            <a:off x="4892040" y="3236976"/>
            <a:ext cx="3840480" cy="347472"/>
          </a:xfrm>
          <a:prstGeom prst="rect">
            <a:avLst/>
          </a:prstGeom>
          <a:noFill/>
          <a:ln/>
        </p:spPr>
        <p:txBody>
          <a:bodyPr wrap="square" rtlCol="0" anchor="ctr"/>
          <a:lstStyle/>
          <a:p>
            <a:pPr marL="0" indent="0">
              <a:buNone/>
            </a:pPr>
            <a:r>
              <a:rPr lang="en-US" sz="1400" b="1">
                <a:solidFill>
                  <a:srgbClr val="FFFFFF"/>
                </a:solidFill>
                <a:latin typeface="Georgia" pitchFamily="34" charset="0"/>
                <a:ea typeface="Georgia" pitchFamily="34" charset="-122"/>
                <a:cs typeface="Georgia" pitchFamily="34" charset="-120"/>
              </a:rPr>
              <a:t>K-Nearest Neighbors (KNN)</a:t>
            </a:r>
            <a:endParaRPr lang="en-US" sz="1400"/>
          </a:p>
        </p:txBody>
      </p:sp>
      <p:sp>
        <p:nvSpPr>
          <p:cNvPr id="20" name="Text 18"/>
          <p:cNvSpPr/>
          <p:nvPr/>
        </p:nvSpPr>
        <p:spPr>
          <a:xfrm>
            <a:off x="4892040" y="3657600"/>
            <a:ext cx="3840480" cy="1051560"/>
          </a:xfrm>
          <a:prstGeom prst="rect">
            <a:avLst/>
          </a:prstGeom>
          <a:noFill/>
          <a:ln/>
        </p:spPr>
        <p:txBody>
          <a:bodyPr wrap="square" rtlCol="0" anchor="ctr"/>
          <a:lstStyle/>
          <a:p>
            <a:pPr marL="0" indent="0">
              <a:buNone/>
            </a:pPr>
            <a:r>
              <a:rPr lang="en-US" sz="1150">
                <a:solidFill>
                  <a:srgbClr val="2B2B2B"/>
                </a:solidFill>
                <a:latin typeface="Calibri" pitchFamily="34" charset="0"/>
                <a:ea typeface="Calibri" pitchFamily="34" charset="-122"/>
                <a:cs typeface="Calibri" pitchFamily="34" charset="-120"/>
              </a:rPr>
              <a:t>A non-parametric, distance-based model that will serve as a useful benchmark, especially for exploring the impact of feature scaling on performance.</a:t>
            </a:r>
            <a:endParaRPr lang="en-US" sz="1150"/>
          </a:p>
        </p:txBody>
      </p:sp>
      <p:sp>
        <p:nvSpPr>
          <p:cNvPr id="21" name="Shape 19"/>
          <p:cNvSpPr/>
          <p:nvPr/>
        </p:nvSpPr>
        <p:spPr>
          <a:xfrm>
            <a:off x="274320" y="4645152"/>
            <a:ext cx="8595360" cy="347472"/>
          </a:xfrm>
          <a:prstGeom prst="rect">
            <a:avLst/>
          </a:prstGeom>
          <a:solidFill>
            <a:srgbClr val="EDD5DE"/>
          </a:solidFill>
          <a:ln/>
        </p:spPr>
        <p:txBody>
          <a:bodyPr/>
          <a:lstStyle/>
          <a:p>
            <a:endParaRPr lang="en-US"/>
          </a:p>
        </p:txBody>
      </p:sp>
      <p:sp>
        <p:nvSpPr>
          <p:cNvPr id="22" name="Text 20"/>
          <p:cNvSpPr/>
          <p:nvPr/>
        </p:nvSpPr>
        <p:spPr>
          <a:xfrm>
            <a:off x="411480" y="4663440"/>
            <a:ext cx="8321040" cy="310896"/>
          </a:xfrm>
          <a:prstGeom prst="rect">
            <a:avLst/>
          </a:prstGeom>
          <a:noFill/>
          <a:ln/>
        </p:spPr>
        <p:txBody>
          <a:bodyPr wrap="square" rtlCol="0" anchor="ctr"/>
          <a:lstStyle/>
          <a:p>
            <a:pPr marL="0" indent="0">
              <a:buNone/>
            </a:pPr>
            <a:r>
              <a:rPr lang="en-US" sz="1100" b="1">
                <a:solidFill>
                  <a:srgbClr val="6D1A36"/>
                </a:solidFill>
                <a:latin typeface="Calibri" pitchFamily="34" charset="0"/>
                <a:ea typeface="Calibri" pitchFamily="34" charset="-122"/>
                <a:cs typeface="Calibri" pitchFamily="34" charset="-120"/>
              </a:rPr>
              <a:t>⚙  Preprocessing Plan: Drop ‘Id’ column → Binarize quality → Apply StandardScaler → 80/20 train-test split</a:t>
            </a:r>
            <a:endParaRPr lang="en-US" sz="11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2EC"/>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6D1A36"/>
          </a:solidFill>
          <a:ln/>
        </p:spPr>
        <p:txBody>
          <a:bodyPr/>
          <a:lstStyle/>
          <a:p>
            <a:endParaRPr lang="en-US"/>
          </a:p>
        </p:txBody>
      </p:sp>
      <p:sp>
        <p:nvSpPr>
          <p:cNvPr id="3" name="Text 1"/>
          <p:cNvSpPr/>
          <p:nvPr/>
        </p:nvSpPr>
        <p:spPr>
          <a:xfrm>
            <a:off x="365760" y="0"/>
            <a:ext cx="8412480" cy="822960"/>
          </a:xfrm>
          <a:prstGeom prst="rect">
            <a:avLst/>
          </a:prstGeom>
          <a:noFill/>
          <a:ln/>
        </p:spPr>
        <p:txBody>
          <a:bodyPr wrap="square" rtlCol="0" anchor="ctr"/>
          <a:lstStyle/>
          <a:p>
            <a:pPr marL="0" indent="0">
              <a:buNone/>
            </a:pPr>
            <a:r>
              <a:rPr lang="en-US" sz="2200" b="1">
                <a:solidFill>
                  <a:srgbClr val="FFFFFF"/>
                </a:solidFill>
                <a:latin typeface="Georgia" pitchFamily="34" charset="0"/>
                <a:ea typeface="Georgia" pitchFamily="34" charset="-122"/>
                <a:cs typeface="Georgia" pitchFamily="34" charset="-120"/>
              </a:rPr>
              <a:t>RESEARCH QUESTIONS  (1 of 2)</a:t>
            </a:r>
            <a:endParaRPr lang="en-US" sz="2200"/>
          </a:p>
        </p:txBody>
      </p:sp>
      <p:sp>
        <p:nvSpPr>
          <p:cNvPr id="4" name="Text 2"/>
          <p:cNvSpPr/>
          <p:nvPr/>
        </p:nvSpPr>
        <p:spPr>
          <a:xfrm>
            <a:off x="365760" y="914400"/>
            <a:ext cx="8412480" cy="347472"/>
          </a:xfrm>
          <a:prstGeom prst="rect">
            <a:avLst/>
          </a:prstGeom>
          <a:noFill/>
          <a:ln/>
        </p:spPr>
        <p:txBody>
          <a:bodyPr wrap="square" rtlCol="0" anchor="ctr"/>
          <a:lstStyle/>
          <a:p>
            <a:pPr marL="0" indent="0">
              <a:buNone/>
            </a:pPr>
            <a:r>
              <a:rPr lang="en-US" sz="1300" i="1">
                <a:solidFill>
                  <a:srgbClr val="7A6070"/>
                </a:solidFill>
                <a:latin typeface="Calibri" pitchFamily="34" charset="0"/>
                <a:ea typeface="Calibri" pitchFamily="34" charset="-122"/>
                <a:cs typeface="Calibri" pitchFamily="34" charset="-120"/>
              </a:rPr>
              <a:t>Our questions are designed around comparisons — across models, features, and preprocessing strategies.</a:t>
            </a:r>
            <a:endParaRPr lang="en-US" sz="1300"/>
          </a:p>
        </p:txBody>
      </p:sp>
      <p:sp>
        <p:nvSpPr>
          <p:cNvPr id="5" name="Shape 3"/>
          <p:cNvSpPr/>
          <p:nvPr/>
        </p:nvSpPr>
        <p:spPr>
          <a:xfrm>
            <a:off x="274320" y="1371600"/>
            <a:ext cx="8595360" cy="1645920"/>
          </a:xfrm>
          <a:prstGeom prst="rect">
            <a:avLst/>
          </a:prstGeom>
          <a:solidFill>
            <a:srgbClr val="FFFFFF"/>
          </a:solidFill>
          <a:ln/>
          <a:effectLst>
            <a:outerShdw blurRad="101600" dist="38100" dir="8100000" algn="bl" rotWithShape="0">
              <a:srgbClr val="000000">
                <a:alpha val="13000"/>
              </a:srgbClr>
            </a:outerShdw>
          </a:effectLst>
        </p:spPr>
        <p:txBody>
          <a:bodyPr/>
          <a:lstStyle/>
          <a:p>
            <a:endParaRPr lang="en-US"/>
          </a:p>
        </p:txBody>
      </p:sp>
      <p:sp>
        <p:nvSpPr>
          <p:cNvPr id="6" name="Shape 4"/>
          <p:cNvSpPr/>
          <p:nvPr/>
        </p:nvSpPr>
        <p:spPr>
          <a:xfrm>
            <a:off x="274320" y="1371600"/>
            <a:ext cx="457200" cy="1645920"/>
          </a:xfrm>
          <a:prstGeom prst="rect">
            <a:avLst/>
          </a:prstGeom>
          <a:solidFill>
            <a:srgbClr val="6D1A36"/>
          </a:solidFill>
          <a:ln/>
        </p:spPr>
        <p:txBody>
          <a:bodyPr/>
          <a:lstStyle/>
          <a:p>
            <a:endParaRPr lang="en-US"/>
          </a:p>
        </p:txBody>
      </p:sp>
      <p:sp>
        <p:nvSpPr>
          <p:cNvPr id="7" name="Text 5"/>
          <p:cNvSpPr/>
          <p:nvPr/>
        </p:nvSpPr>
        <p:spPr>
          <a:xfrm rot="16200000">
            <a:off x="274320" y="1371600"/>
            <a:ext cx="457200" cy="1645920"/>
          </a:xfrm>
          <a:prstGeom prst="rect">
            <a:avLst/>
          </a:prstGeom>
          <a:noFill/>
          <a:ln/>
        </p:spPr>
        <p:txBody>
          <a:bodyPr wrap="square" rtlCol="0" anchor="ctr"/>
          <a:lstStyle/>
          <a:p>
            <a:pPr marL="0" indent="0" algn="ctr">
              <a:buNone/>
            </a:pPr>
            <a:r>
              <a:rPr lang="en-US" sz="1000" b="1">
                <a:solidFill>
                  <a:srgbClr val="FFFFFF"/>
                </a:solidFill>
                <a:latin typeface="Calibri" pitchFamily="34" charset="0"/>
                <a:ea typeface="Calibri" pitchFamily="34" charset="-122"/>
                <a:cs typeface="Calibri" pitchFamily="34" charset="-120"/>
              </a:rPr>
              <a:t>RQ 1</a:t>
            </a:r>
            <a:endParaRPr lang="en-US" sz="1000"/>
          </a:p>
        </p:txBody>
      </p:sp>
      <p:sp>
        <p:nvSpPr>
          <p:cNvPr id="8" name="Text 6"/>
          <p:cNvSpPr/>
          <p:nvPr/>
        </p:nvSpPr>
        <p:spPr>
          <a:xfrm>
            <a:off x="914400" y="1463040"/>
            <a:ext cx="7772400" cy="411480"/>
          </a:xfrm>
          <a:prstGeom prst="rect">
            <a:avLst/>
          </a:prstGeom>
          <a:noFill/>
          <a:ln/>
        </p:spPr>
        <p:txBody>
          <a:bodyPr wrap="square" rtlCol="0" anchor="ctr"/>
          <a:lstStyle/>
          <a:p>
            <a:pPr marL="0" indent="0">
              <a:buNone/>
            </a:pPr>
            <a:r>
              <a:rPr lang="en-US" sz="1500" b="1">
                <a:solidFill>
                  <a:srgbClr val="6D1A36"/>
                </a:solidFill>
                <a:latin typeface="Georgia" pitchFamily="34" charset="0"/>
                <a:ea typeface="Georgia" pitchFamily="34" charset="-122"/>
                <a:cs typeface="Georgia" pitchFamily="34" charset="-120"/>
              </a:rPr>
              <a:t>Can we accurately predict wine quality using only its chemical properties?</a:t>
            </a:r>
            <a:endParaRPr lang="en-US" sz="1500"/>
          </a:p>
        </p:txBody>
      </p:sp>
      <p:sp>
        <p:nvSpPr>
          <p:cNvPr id="9" name="Text 7"/>
          <p:cNvSpPr/>
          <p:nvPr/>
        </p:nvSpPr>
        <p:spPr>
          <a:xfrm>
            <a:off x="914400" y="1920240"/>
            <a:ext cx="7772400" cy="1005840"/>
          </a:xfrm>
          <a:prstGeom prst="rect">
            <a:avLst/>
          </a:prstGeom>
          <a:noFill/>
          <a:ln/>
        </p:spPr>
        <p:txBody>
          <a:bodyPr wrap="square" rtlCol="0" anchor="ctr"/>
          <a:lstStyle/>
          <a:p>
            <a:pPr marL="0" indent="0">
              <a:buNone/>
            </a:pPr>
            <a:r>
              <a:rPr lang="en-US" sz="1250">
                <a:solidFill>
                  <a:srgbClr val="2B2B2B"/>
                </a:solidFill>
                <a:latin typeface="Calibri" pitchFamily="34" charset="0"/>
                <a:ea typeface="Calibri" pitchFamily="34" charset="-122"/>
                <a:cs typeface="Calibri" pitchFamily="34" charset="-120"/>
              </a:rPr>
              <a:t>We plan to train classification models on the 11 physicochemical features and evaluate their prediction accuracy against actual quality labels. This will tell us whether measurable chemistry alone is a sufficient signal for quality — or whether expert sensory judgment remains irreplaceable. We will compare accuracy, precision, recall, and F1-score across all four models.</a:t>
            </a:r>
            <a:endParaRPr lang="en-US" sz="1250"/>
          </a:p>
        </p:txBody>
      </p:sp>
      <p:sp>
        <p:nvSpPr>
          <p:cNvPr id="10" name="Shape 8"/>
          <p:cNvSpPr/>
          <p:nvPr/>
        </p:nvSpPr>
        <p:spPr>
          <a:xfrm>
            <a:off x="274320" y="3154680"/>
            <a:ext cx="8595360" cy="1737360"/>
          </a:xfrm>
          <a:prstGeom prst="rect">
            <a:avLst/>
          </a:prstGeom>
          <a:solidFill>
            <a:srgbClr val="FFFFFF"/>
          </a:solidFill>
          <a:ln/>
          <a:effectLst>
            <a:outerShdw blurRad="101600" dist="38100" dir="8100000" algn="bl" rotWithShape="0">
              <a:srgbClr val="000000">
                <a:alpha val="13000"/>
              </a:srgbClr>
            </a:outerShdw>
          </a:effectLst>
        </p:spPr>
        <p:txBody>
          <a:bodyPr/>
          <a:lstStyle/>
          <a:p>
            <a:endParaRPr lang="en-US"/>
          </a:p>
        </p:txBody>
      </p:sp>
      <p:sp>
        <p:nvSpPr>
          <p:cNvPr id="11" name="Shape 9"/>
          <p:cNvSpPr/>
          <p:nvPr/>
        </p:nvSpPr>
        <p:spPr>
          <a:xfrm>
            <a:off x="274320" y="3154680"/>
            <a:ext cx="457200" cy="1737360"/>
          </a:xfrm>
          <a:prstGeom prst="rect">
            <a:avLst/>
          </a:prstGeom>
          <a:solidFill>
            <a:srgbClr val="A83258"/>
          </a:solidFill>
          <a:ln/>
        </p:spPr>
        <p:txBody>
          <a:bodyPr/>
          <a:lstStyle/>
          <a:p>
            <a:endParaRPr lang="en-US"/>
          </a:p>
        </p:txBody>
      </p:sp>
      <p:sp>
        <p:nvSpPr>
          <p:cNvPr id="12" name="Text 10"/>
          <p:cNvSpPr/>
          <p:nvPr/>
        </p:nvSpPr>
        <p:spPr>
          <a:xfrm rot="16200000">
            <a:off x="274320" y="3154680"/>
            <a:ext cx="457200" cy="1737360"/>
          </a:xfrm>
          <a:prstGeom prst="rect">
            <a:avLst/>
          </a:prstGeom>
          <a:noFill/>
          <a:ln/>
        </p:spPr>
        <p:txBody>
          <a:bodyPr wrap="square" rtlCol="0" anchor="ctr"/>
          <a:lstStyle/>
          <a:p>
            <a:pPr marL="0" indent="0" algn="ctr">
              <a:buNone/>
            </a:pPr>
            <a:r>
              <a:rPr lang="en-US" sz="1000" b="1">
                <a:solidFill>
                  <a:srgbClr val="FFFFFF"/>
                </a:solidFill>
                <a:latin typeface="Calibri" pitchFamily="34" charset="0"/>
                <a:ea typeface="Calibri" pitchFamily="34" charset="-122"/>
                <a:cs typeface="Calibri" pitchFamily="34" charset="-120"/>
              </a:rPr>
              <a:t>RQ 2</a:t>
            </a:r>
            <a:endParaRPr lang="en-US" sz="1000"/>
          </a:p>
        </p:txBody>
      </p:sp>
      <p:sp>
        <p:nvSpPr>
          <p:cNvPr id="13" name="Text 11"/>
          <p:cNvSpPr/>
          <p:nvPr/>
        </p:nvSpPr>
        <p:spPr>
          <a:xfrm>
            <a:off x="914400" y="3246120"/>
            <a:ext cx="7772400" cy="411480"/>
          </a:xfrm>
          <a:prstGeom prst="rect">
            <a:avLst/>
          </a:prstGeom>
          <a:noFill/>
          <a:ln/>
        </p:spPr>
        <p:txBody>
          <a:bodyPr wrap="square" rtlCol="0" anchor="ctr"/>
          <a:lstStyle/>
          <a:p>
            <a:pPr marL="0" indent="0">
              <a:buNone/>
            </a:pPr>
            <a:r>
              <a:rPr lang="en-US" sz="1500" b="1">
                <a:solidFill>
                  <a:srgbClr val="A83258"/>
                </a:solidFill>
                <a:latin typeface="Georgia" pitchFamily="34" charset="0"/>
                <a:ea typeface="Georgia" pitchFamily="34" charset="-122"/>
                <a:cs typeface="Georgia" pitchFamily="34" charset="-120"/>
              </a:rPr>
              <a:t>Which chemical features most influence wine quality predictions?</a:t>
            </a:r>
            <a:endParaRPr lang="en-US" sz="1500"/>
          </a:p>
        </p:txBody>
      </p:sp>
      <p:sp>
        <p:nvSpPr>
          <p:cNvPr id="14" name="Text 12"/>
          <p:cNvSpPr/>
          <p:nvPr/>
        </p:nvSpPr>
        <p:spPr>
          <a:xfrm>
            <a:off x="914400" y="3703320"/>
            <a:ext cx="7772400" cy="1115568"/>
          </a:xfrm>
          <a:prstGeom prst="rect">
            <a:avLst/>
          </a:prstGeom>
          <a:noFill/>
          <a:ln/>
        </p:spPr>
        <p:txBody>
          <a:bodyPr wrap="square" rtlCol="0" anchor="ctr"/>
          <a:lstStyle/>
          <a:p>
            <a:pPr marL="0" indent="0">
              <a:buNone/>
            </a:pPr>
            <a:r>
              <a:rPr lang="en-US" sz="1250">
                <a:solidFill>
                  <a:srgbClr val="2B2B2B"/>
                </a:solidFill>
                <a:latin typeface="Calibri" pitchFamily="34" charset="0"/>
                <a:ea typeface="Calibri" pitchFamily="34" charset="-122"/>
                <a:cs typeface="Calibri" pitchFamily="34" charset="-120"/>
              </a:rPr>
              <a:t>Using feature importance scores from Random Forest and coefficient analysis from Logistic Regression, we intend to identify which of the 11 chemical properties are most predictive of quality. We will compare feature rankings across models to see whether they agree, and discuss whether the top features make intuitive chemical sense.</a:t>
            </a:r>
            <a:endParaRPr lang="en-US" sz="125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2EC"/>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6D1A36"/>
          </a:solidFill>
          <a:ln/>
        </p:spPr>
        <p:txBody>
          <a:bodyPr/>
          <a:lstStyle/>
          <a:p>
            <a:endParaRPr lang="en-US"/>
          </a:p>
        </p:txBody>
      </p:sp>
      <p:sp>
        <p:nvSpPr>
          <p:cNvPr id="3" name="Text 1"/>
          <p:cNvSpPr/>
          <p:nvPr/>
        </p:nvSpPr>
        <p:spPr>
          <a:xfrm>
            <a:off x="365760" y="0"/>
            <a:ext cx="8412480" cy="822960"/>
          </a:xfrm>
          <a:prstGeom prst="rect">
            <a:avLst/>
          </a:prstGeom>
          <a:noFill/>
          <a:ln/>
        </p:spPr>
        <p:txBody>
          <a:bodyPr wrap="square" rtlCol="0" anchor="ctr"/>
          <a:lstStyle/>
          <a:p>
            <a:pPr marL="0" indent="0">
              <a:buNone/>
            </a:pPr>
            <a:r>
              <a:rPr lang="en-US" sz="2200" b="1">
                <a:solidFill>
                  <a:srgbClr val="FFFFFF"/>
                </a:solidFill>
                <a:latin typeface="Georgia" pitchFamily="34" charset="0"/>
                <a:ea typeface="Georgia" pitchFamily="34" charset="-122"/>
                <a:cs typeface="Georgia" pitchFamily="34" charset="-120"/>
              </a:rPr>
              <a:t>RESEARCH QUESTIONS  (2 of 2)</a:t>
            </a:r>
            <a:endParaRPr lang="en-US" sz="2200"/>
          </a:p>
        </p:txBody>
      </p:sp>
      <p:sp>
        <p:nvSpPr>
          <p:cNvPr id="4" name="Shape 2"/>
          <p:cNvSpPr/>
          <p:nvPr/>
        </p:nvSpPr>
        <p:spPr>
          <a:xfrm>
            <a:off x="274320" y="960120"/>
            <a:ext cx="8595360" cy="1828800"/>
          </a:xfrm>
          <a:prstGeom prst="rect">
            <a:avLst/>
          </a:prstGeom>
          <a:solidFill>
            <a:srgbClr val="FFFFFF"/>
          </a:solidFill>
          <a:ln/>
          <a:effectLst>
            <a:outerShdw blurRad="101600" dist="38100" dir="8100000" algn="bl" rotWithShape="0">
              <a:srgbClr val="000000">
                <a:alpha val="13000"/>
              </a:srgbClr>
            </a:outerShdw>
          </a:effectLst>
        </p:spPr>
        <p:txBody>
          <a:bodyPr/>
          <a:lstStyle/>
          <a:p>
            <a:endParaRPr lang="en-US"/>
          </a:p>
        </p:txBody>
      </p:sp>
      <p:sp>
        <p:nvSpPr>
          <p:cNvPr id="5" name="Shape 3"/>
          <p:cNvSpPr/>
          <p:nvPr/>
        </p:nvSpPr>
        <p:spPr>
          <a:xfrm>
            <a:off x="274320" y="960120"/>
            <a:ext cx="457200" cy="1828800"/>
          </a:xfrm>
          <a:prstGeom prst="rect">
            <a:avLst/>
          </a:prstGeom>
          <a:solidFill>
            <a:srgbClr val="C9A84C"/>
          </a:solidFill>
          <a:ln/>
        </p:spPr>
        <p:txBody>
          <a:bodyPr/>
          <a:lstStyle/>
          <a:p>
            <a:endParaRPr lang="en-US"/>
          </a:p>
        </p:txBody>
      </p:sp>
      <p:sp>
        <p:nvSpPr>
          <p:cNvPr id="6" name="Text 4"/>
          <p:cNvSpPr/>
          <p:nvPr/>
        </p:nvSpPr>
        <p:spPr>
          <a:xfrm rot="16200000">
            <a:off x="274320" y="960120"/>
            <a:ext cx="457200" cy="1828800"/>
          </a:xfrm>
          <a:prstGeom prst="rect">
            <a:avLst/>
          </a:prstGeom>
          <a:noFill/>
          <a:ln/>
        </p:spPr>
        <p:txBody>
          <a:bodyPr wrap="square" rtlCol="0" anchor="ctr"/>
          <a:lstStyle/>
          <a:p>
            <a:pPr marL="0" indent="0" algn="ctr">
              <a:buNone/>
            </a:pPr>
            <a:r>
              <a:rPr lang="en-US" sz="1000" b="1">
                <a:solidFill>
                  <a:srgbClr val="FFFFFF"/>
                </a:solidFill>
                <a:latin typeface="Calibri" pitchFamily="34" charset="0"/>
                <a:ea typeface="Calibri" pitchFamily="34" charset="-122"/>
                <a:cs typeface="Calibri" pitchFamily="34" charset="-120"/>
              </a:rPr>
              <a:t>RQ 3</a:t>
            </a:r>
            <a:endParaRPr lang="en-US" sz="1000"/>
          </a:p>
        </p:txBody>
      </p:sp>
      <p:sp>
        <p:nvSpPr>
          <p:cNvPr id="7" name="Text 5"/>
          <p:cNvSpPr/>
          <p:nvPr/>
        </p:nvSpPr>
        <p:spPr>
          <a:xfrm>
            <a:off x="914400" y="1051560"/>
            <a:ext cx="7772400" cy="411480"/>
          </a:xfrm>
          <a:prstGeom prst="rect">
            <a:avLst/>
          </a:prstGeom>
          <a:noFill/>
          <a:ln/>
        </p:spPr>
        <p:txBody>
          <a:bodyPr wrap="square" rtlCol="0" anchor="ctr"/>
          <a:lstStyle/>
          <a:p>
            <a:pPr marL="0" indent="0">
              <a:buNone/>
            </a:pPr>
            <a:r>
              <a:rPr lang="en-US" sz="1500" b="1">
                <a:solidFill>
                  <a:srgbClr val="C9A84C"/>
                </a:solidFill>
                <a:latin typeface="Georgia" pitchFamily="34" charset="0"/>
                <a:ea typeface="Georgia" pitchFamily="34" charset="-122"/>
                <a:cs typeface="Georgia" pitchFamily="34" charset="-120"/>
              </a:rPr>
              <a:t>Which machine learning model performs best for wine quality prediction?</a:t>
            </a:r>
            <a:endParaRPr lang="en-US" sz="1500"/>
          </a:p>
        </p:txBody>
      </p:sp>
      <p:sp>
        <p:nvSpPr>
          <p:cNvPr id="8" name="Text 6"/>
          <p:cNvSpPr/>
          <p:nvPr/>
        </p:nvSpPr>
        <p:spPr>
          <a:xfrm>
            <a:off x="914400" y="1508760"/>
            <a:ext cx="7772400" cy="1188720"/>
          </a:xfrm>
          <a:prstGeom prst="rect">
            <a:avLst/>
          </a:prstGeom>
          <a:noFill/>
          <a:ln/>
        </p:spPr>
        <p:txBody>
          <a:bodyPr wrap="square" rtlCol="0" anchor="ctr"/>
          <a:lstStyle/>
          <a:p>
            <a:pPr marL="0" indent="0">
              <a:buNone/>
            </a:pPr>
            <a:r>
              <a:rPr lang="en-US" sz="1250">
                <a:solidFill>
                  <a:srgbClr val="2B2B2B"/>
                </a:solidFill>
                <a:latin typeface="Calibri" pitchFamily="34" charset="0"/>
                <a:ea typeface="Calibri" pitchFamily="34" charset="-122"/>
                <a:cs typeface="Calibri" pitchFamily="34" charset="-120"/>
              </a:rPr>
              <a:t>We will systematically compare all four models — Logistic Regression, Decision Tree, Random Forest, and KNN — on the same train/test split using consistent evaluation metrics (accuracy, F1-score, confusion matrix). The comparison will reveal which algorithmic approach best captures the relationship between chemical properties and wine quality, and whether ensemble methods justify their added complexity.</a:t>
            </a:r>
            <a:endParaRPr lang="en-US" sz="1250"/>
          </a:p>
        </p:txBody>
      </p:sp>
      <p:sp>
        <p:nvSpPr>
          <p:cNvPr id="9" name="Shape 7"/>
          <p:cNvSpPr/>
          <p:nvPr/>
        </p:nvSpPr>
        <p:spPr>
          <a:xfrm>
            <a:off x="274320" y="2926080"/>
            <a:ext cx="8595360" cy="1920240"/>
          </a:xfrm>
          <a:prstGeom prst="rect">
            <a:avLst/>
          </a:prstGeom>
          <a:solidFill>
            <a:srgbClr val="FFFFFF"/>
          </a:solidFill>
          <a:ln/>
          <a:effectLst>
            <a:outerShdw blurRad="101600" dist="38100" dir="8100000" algn="bl" rotWithShape="0">
              <a:srgbClr val="000000">
                <a:alpha val="13000"/>
              </a:srgbClr>
            </a:outerShdw>
          </a:effectLst>
        </p:spPr>
        <p:txBody>
          <a:bodyPr/>
          <a:lstStyle/>
          <a:p>
            <a:endParaRPr lang="en-US"/>
          </a:p>
        </p:txBody>
      </p:sp>
      <p:sp>
        <p:nvSpPr>
          <p:cNvPr id="10" name="Shape 8"/>
          <p:cNvSpPr/>
          <p:nvPr/>
        </p:nvSpPr>
        <p:spPr>
          <a:xfrm>
            <a:off x="274320" y="2926080"/>
            <a:ext cx="457200" cy="1920240"/>
          </a:xfrm>
          <a:prstGeom prst="rect">
            <a:avLst/>
          </a:prstGeom>
          <a:solidFill>
            <a:srgbClr val="028090"/>
          </a:solidFill>
          <a:ln/>
        </p:spPr>
        <p:txBody>
          <a:bodyPr/>
          <a:lstStyle/>
          <a:p>
            <a:endParaRPr lang="en-US"/>
          </a:p>
        </p:txBody>
      </p:sp>
      <p:sp>
        <p:nvSpPr>
          <p:cNvPr id="11" name="Text 9"/>
          <p:cNvSpPr/>
          <p:nvPr/>
        </p:nvSpPr>
        <p:spPr>
          <a:xfrm rot="16200000">
            <a:off x="274320" y="2926080"/>
            <a:ext cx="457200" cy="1920240"/>
          </a:xfrm>
          <a:prstGeom prst="rect">
            <a:avLst/>
          </a:prstGeom>
          <a:noFill/>
          <a:ln/>
        </p:spPr>
        <p:txBody>
          <a:bodyPr wrap="square" rtlCol="0" anchor="ctr"/>
          <a:lstStyle/>
          <a:p>
            <a:pPr marL="0" indent="0" algn="ctr">
              <a:buNone/>
            </a:pPr>
            <a:r>
              <a:rPr lang="en-US" sz="1000" b="1">
                <a:solidFill>
                  <a:srgbClr val="FFFFFF"/>
                </a:solidFill>
                <a:latin typeface="Calibri" pitchFamily="34" charset="0"/>
                <a:ea typeface="Calibri" pitchFamily="34" charset="-122"/>
                <a:cs typeface="Calibri" pitchFamily="34" charset="-120"/>
              </a:rPr>
              <a:t>RQ 4</a:t>
            </a:r>
            <a:endParaRPr lang="en-US" sz="1000"/>
          </a:p>
        </p:txBody>
      </p:sp>
      <p:sp>
        <p:nvSpPr>
          <p:cNvPr id="12" name="Text 10"/>
          <p:cNvSpPr/>
          <p:nvPr/>
        </p:nvSpPr>
        <p:spPr>
          <a:xfrm>
            <a:off x="914400" y="3017520"/>
            <a:ext cx="7772400" cy="411480"/>
          </a:xfrm>
          <a:prstGeom prst="rect">
            <a:avLst/>
          </a:prstGeom>
          <a:noFill/>
          <a:ln/>
        </p:spPr>
        <p:txBody>
          <a:bodyPr wrap="square" rtlCol="0" anchor="ctr"/>
          <a:lstStyle/>
          <a:p>
            <a:pPr marL="0" indent="0">
              <a:buNone/>
            </a:pPr>
            <a:r>
              <a:rPr lang="en-US" sz="1500" b="1">
                <a:solidFill>
                  <a:srgbClr val="028090"/>
                </a:solidFill>
                <a:latin typeface="Georgia" pitchFamily="34" charset="0"/>
                <a:ea typeface="Georgia" pitchFamily="34" charset="-122"/>
                <a:cs typeface="Georgia" pitchFamily="34" charset="-120"/>
              </a:rPr>
              <a:t>How does feature scaling impact model performance across different algorithms?</a:t>
            </a:r>
            <a:endParaRPr lang="en-US" sz="1500"/>
          </a:p>
        </p:txBody>
      </p:sp>
      <p:sp>
        <p:nvSpPr>
          <p:cNvPr id="13" name="Text 11"/>
          <p:cNvSpPr/>
          <p:nvPr/>
        </p:nvSpPr>
        <p:spPr>
          <a:xfrm>
            <a:off x="914400" y="3474720"/>
            <a:ext cx="7772400" cy="1298448"/>
          </a:xfrm>
          <a:prstGeom prst="rect">
            <a:avLst/>
          </a:prstGeom>
          <a:noFill/>
          <a:ln/>
        </p:spPr>
        <p:txBody>
          <a:bodyPr wrap="square" rtlCol="0" anchor="ctr"/>
          <a:lstStyle/>
          <a:p>
            <a:pPr marL="0" indent="0">
              <a:buNone/>
            </a:pPr>
            <a:r>
              <a:rPr lang="en-US" sz="1250">
                <a:solidFill>
                  <a:srgbClr val="2B2B2B"/>
                </a:solidFill>
                <a:latin typeface="Calibri" pitchFamily="34" charset="0"/>
                <a:ea typeface="Calibri" pitchFamily="34" charset="-122"/>
                <a:cs typeface="Calibri" pitchFamily="34" charset="-120"/>
              </a:rPr>
              <a:t>We plan to train each model both with and without StandardScaler normalization and compare the resulting accuracy scores. Since KNN and Logistic Regression are sensitive to feature magnitude while tree-based models are not, this experiment will let us quantify the practical impact of scaling — and determine whether preprocessing decisions meaningfully change which model performs best.</a:t>
            </a:r>
            <a:endParaRPr lang="en-US" sz="1250"/>
          </a:p>
        </p:txBody>
      </p:sp>
      <p:sp>
        <p:nvSpPr>
          <p:cNvPr id="14" name="Shape 12"/>
          <p:cNvSpPr/>
          <p:nvPr/>
        </p:nvSpPr>
        <p:spPr>
          <a:xfrm>
            <a:off x="274320" y="4892040"/>
            <a:ext cx="8595360" cy="182880"/>
          </a:xfrm>
          <a:prstGeom prst="rect">
            <a:avLst/>
          </a:prstGeom>
          <a:solidFill>
            <a:srgbClr val="EDD5DE"/>
          </a:solidFill>
          <a:ln/>
        </p:spPr>
        <p:txBody>
          <a:bodyPr/>
          <a:lstStyle/>
          <a:p>
            <a:endParaRPr lang="en-US"/>
          </a:p>
        </p:txBody>
      </p:sp>
      <p:sp>
        <p:nvSpPr>
          <p:cNvPr id="15" name="Text 13"/>
          <p:cNvSpPr/>
          <p:nvPr/>
        </p:nvSpPr>
        <p:spPr>
          <a:xfrm>
            <a:off x="411480" y="4901184"/>
            <a:ext cx="8321040" cy="164592"/>
          </a:xfrm>
          <a:prstGeom prst="rect">
            <a:avLst/>
          </a:prstGeom>
          <a:noFill/>
          <a:ln/>
        </p:spPr>
        <p:txBody>
          <a:bodyPr wrap="square" rtlCol="0" anchor="ctr"/>
          <a:lstStyle/>
          <a:p>
            <a:pPr marL="0" indent="0">
              <a:buNone/>
            </a:pPr>
            <a:r>
              <a:rPr lang="en-US" sz="950" b="1" i="1">
                <a:solidFill>
                  <a:srgbClr val="6D1A36"/>
                </a:solidFill>
                <a:latin typeface="Calibri" pitchFamily="34" charset="0"/>
                <a:ea typeface="Calibri" pitchFamily="34" charset="-122"/>
                <a:cs typeface="Calibri" pitchFamily="34" charset="-120"/>
              </a:rPr>
              <a:t>All four questions involve direct comparisons — across models, features, and preprocessing approaches.</a:t>
            </a:r>
            <a:endParaRPr lang="en-US" sz="95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2EC"/>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6D1A36"/>
          </a:solidFill>
          <a:ln/>
        </p:spPr>
        <p:txBody>
          <a:bodyPr/>
          <a:lstStyle/>
          <a:p>
            <a:endParaRPr lang="en-US"/>
          </a:p>
        </p:txBody>
      </p:sp>
      <p:sp>
        <p:nvSpPr>
          <p:cNvPr id="3" name="Text 1"/>
          <p:cNvSpPr/>
          <p:nvPr/>
        </p:nvSpPr>
        <p:spPr>
          <a:xfrm>
            <a:off x="365760" y="0"/>
            <a:ext cx="8412480" cy="822960"/>
          </a:xfrm>
          <a:prstGeom prst="rect">
            <a:avLst/>
          </a:prstGeom>
          <a:noFill/>
          <a:ln/>
        </p:spPr>
        <p:txBody>
          <a:bodyPr wrap="square" rtlCol="0" anchor="ctr"/>
          <a:lstStyle/>
          <a:p>
            <a:pPr marL="0" indent="0">
              <a:buNone/>
            </a:pPr>
            <a:r>
              <a:rPr lang="en-US" sz="2200" b="1">
                <a:solidFill>
                  <a:srgbClr val="FFFFFF"/>
                </a:solidFill>
                <a:latin typeface="Georgia" pitchFamily="34" charset="0"/>
                <a:ea typeface="Georgia" pitchFamily="34" charset="-122"/>
                <a:cs typeface="Georgia" pitchFamily="34" charset="-120"/>
              </a:rPr>
              <a:t>OUR HYPOTHESIS</a:t>
            </a:r>
            <a:endParaRPr lang="en-US" sz="2200"/>
          </a:p>
        </p:txBody>
      </p:sp>
      <p:sp>
        <p:nvSpPr>
          <p:cNvPr id="4" name="Text 2"/>
          <p:cNvSpPr/>
          <p:nvPr/>
        </p:nvSpPr>
        <p:spPr>
          <a:xfrm>
            <a:off x="365760" y="914400"/>
            <a:ext cx="8412480" cy="347472"/>
          </a:xfrm>
          <a:prstGeom prst="rect">
            <a:avLst/>
          </a:prstGeom>
          <a:noFill/>
          <a:ln/>
        </p:spPr>
        <p:txBody>
          <a:bodyPr wrap="square" rtlCol="0" anchor="ctr"/>
          <a:lstStyle/>
          <a:p>
            <a:pPr marL="0" indent="0">
              <a:buNone/>
            </a:pPr>
            <a:r>
              <a:rPr lang="en-US" sz="1300" i="1">
                <a:solidFill>
                  <a:srgbClr val="7A6070"/>
                </a:solidFill>
                <a:latin typeface="Calibri" pitchFamily="34" charset="0"/>
                <a:ea typeface="Calibri" pitchFamily="34" charset="-122"/>
                <a:cs typeface="Calibri" pitchFamily="34" charset="-120"/>
              </a:rPr>
              <a:t>What we expect to find — and why:</a:t>
            </a:r>
            <a:endParaRPr lang="en-US" sz="1300"/>
          </a:p>
        </p:txBody>
      </p:sp>
      <p:sp>
        <p:nvSpPr>
          <p:cNvPr id="5" name="Shape 3"/>
          <p:cNvSpPr/>
          <p:nvPr/>
        </p:nvSpPr>
        <p:spPr>
          <a:xfrm>
            <a:off x="274320" y="1389888"/>
            <a:ext cx="4160520" cy="1627632"/>
          </a:xfrm>
          <a:prstGeom prst="rect">
            <a:avLst/>
          </a:prstGeom>
          <a:solidFill>
            <a:srgbClr val="FFFFFF"/>
          </a:solidFill>
          <a:ln/>
          <a:effectLst>
            <a:outerShdw blurRad="101600" dist="38100" dir="8100000" algn="bl" rotWithShape="0">
              <a:srgbClr val="000000">
                <a:alpha val="13000"/>
              </a:srgbClr>
            </a:outerShdw>
          </a:effectLst>
        </p:spPr>
        <p:txBody>
          <a:bodyPr/>
          <a:lstStyle/>
          <a:p>
            <a:endParaRPr lang="en-US"/>
          </a:p>
        </p:txBody>
      </p:sp>
      <p:sp>
        <p:nvSpPr>
          <p:cNvPr id="6" name="Shape 4"/>
          <p:cNvSpPr/>
          <p:nvPr/>
        </p:nvSpPr>
        <p:spPr>
          <a:xfrm>
            <a:off x="274320" y="1389888"/>
            <a:ext cx="4160520" cy="54864"/>
          </a:xfrm>
          <a:prstGeom prst="rect">
            <a:avLst/>
          </a:prstGeom>
          <a:solidFill>
            <a:srgbClr val="6D1A36"/>
          </a:solidFill>
          <a:ln/>
        </p:spPr>
        <p:txBody>
          <a:bodyPr/>
          <a:lstStyle/>
          <a:p>
            <a:endParaRPr lang="en-US"/>
          </a:p>
        </p:txBody>
      </p:sp>
      <p:sp>
        <p:nvSpPr>
          <p:cNvPr id="7" name="Shape 5"/>
          <p:cNvSpPr/>
          <p:nvPr/>
        </p:nvSpPr>
        <p:spPr>
          <a:xfrm>
            <a:off x="411480" y="1517904"/>
            <a:ext cx="530352" cy="292608"/>
          </a:xfrm>
          <a:prstGeom prst="rect">
            <a:avLst/>
          </a:prstGeom>
          <a:solidFill>
            <a:srgbClr val="6D1A36"/>
          </a:solidFill>
          <a:ln/>
        </p:spPr>
        <p:txBody>
          <a:bodyPr/>
          <a:lstStyle/>
          <a:p>
            <a:endParaRPr lang="en-US"/>
          </a:p>
        </p:txBody>
      </p:sp>
      <p:sp>
        <p:nvSpPr>
          <p:cNvPr id="8" name="Text 6"/>
          <p:cNvSpPr/>
          <p:nvPr/>
        </p:nvSpPr>
        <p:spPr>
          <a:xfrm>
            <a:off x="411480" y="1517904"/>
            <a:ext cx="530352" cy="292608"/>
          </a:xfrm>
          <a:prstGeom prst="rect">
            <a:avLst/>
          </a:prstGeom>
          <a:noFill/>
          <a:ln/>
        </p:spPr>
        <p:txBody>
          <a:bodyPr wrap="square" rtlCol="0" anchor="ctr"/>
          <a:lstStyle/>
          <a:p>
            <a:pPr marL="0" indent="0" algn="ctr">
              <a:buNone/>
            </a:pPr>
            <a:r>
              <a:rPr lang="en-US" sz="1000" b="1">
                <a:solidFill>
                  <a:srgbClr val="FFFFFF"/>
                </a:solidFill>
                <a:latin typeface="Calibri" pitchFamily="34" charset="0"/>
                <a:ea typeface="Calibri" pitchFamily="34" charset="-122"/>
                <a:cs typeface="Calibri" pitchFamily="34" charset="-120"/>
              </a:rPr>
              <a:t>RQ1</a:t>
            </a:r>
            <a:endParaRPr lang="en-US" sz="1000"/>
          </a:p>
        </p:txBody>
      </p:sp>
      <p:sp>
        <p:nvSpPr>
          <p:cNvPr id="9" name="Text 7"/>
          <p:cNvSpPr/>
          <p:nvPr/>
        </p:nvSpPr>
        <p:spPr>
          <a:xfrm>
            <a:off x="1051560" y="1517904"/>
            <a:ext cx="3246120" cy="292608"/>
          </a:xfrm>
          <a:prstGeom prst="rect">
            <a:avLst/>
          </a:prstGeom>
          <a:noFill/>
          <a:ln/>
        </p:spPr>
        <p:txBody>
          <a:bodyPr wrap="square" rtlCol="0" anchor="ctr"/>
          <a:lstStyle/>
          <a:p>
            <a:pPr marL="0" indent="0">
              <a:buNone/>
            </a:pPr>
            <a:r>
              <a:rPr lang="en-US" sz="1200" b="1">
                <a:solidFill>
                  <a:srgbClr val="2B2B2B"/>
                </a:solidFill>
                <a:latin typeface="Georgia" pitchFamily="34" charset="0"/>
                <a:ea typeface="Georgia" pitchFamily="34" charset="-122"/>
                <a:cs typeface="Georgia" pitchFamily="34" charset="-120"/>
              </a:rPr>
              <a:t>Can chemistry predict quality?</a:t>
            </a:r>
            <a:endParaRPr lang="en-US" sz="1200"/>
          </a:p>
        </p:txBody>
      </p:sp>
      <p:sp>
        <p:nvSpPr>
          <p:cNvPr id="10" name="Text 8"/>
          <p:cNvSpPr/>
          <p:nvPr/>
        </p:nvSpPr>
        <p:spPr>
          <a:xfrm>
            <a:off x="411480" y="1892808"/>
            <a:ext cx="3886200" cy="1051560"/>
          </a:xfrm>
          <a:prstGeom prst="rect">
            <a:avLst/>
          </a:prstGeom>
          <a:noFill/>
          <a:ln/>
        </p:spPr>
        <p:txBody>
          <a:bodyPr wrap="square" rtlCol="0" anchor="ctr"/>
          <a:lstStyle/>
          <a:p>
            <a:pPr marL="0" indent="0">
              <a:buNone/>
            </a:pPr>
            <a:r>
              <a:rPr lang="en-US" sz="1100">
                <a:solidFill>
                  <a:srgbClr val="2B2B2B"/>
                </a:solidFill>
                <a:latin typeface="Calibri" pitchFamily="34" charset="0"/>
                <a:ea typeface="Calibri" pitchFamily="34" charset="-122"/>
                <a:cs typeface="Calibri" pitchFamily="34" charset="-120"/>
              </a:rPr>
              <a:t>We believe yes. Chemical properties like alcohol and acidity are well-documented quality indicators in oenology. We expect all models to significantly beat a 50% random baseline, suggesting chemistry alone is a strong predictor.</a:t>
            </a:r>
            <a:endParaRPr lang="en-US" sz="1100"/>
          </a:p>
        </p:txBody>
      </p:sp>
      <p:sp>
        <p:nvSpPr>
          <p:cNvPr id="11" name="Shape 9"/>
          <p:cNvSpPr/>
          <p:nvPr/>
        </p:nvSpPr>
        <p:spPr>
          <a:xfrm>
            <a:off x="4709160" y="1389888"/>
            <a:ext cx="4160520" cy="1627632"/>
          </a:xfrm>
          <a:prstGeom prst="rect">
            <a:avLst/>
          </a:prstGeom>
          <a:solidFill>
            <a:srgbClr val="FFFFFF"/>
          </a:solidFill>
          <a:ln/>
          <a:effectLst>
            <a:outerShdw blurRad="101600" dist="38100" dir="8100000" algn="bl" rotWithShape="0">
              <a:srgbClr val="000000">
                <a:alpha val="13000"/>
              </a:srgbClr>
            </a:outerShdw>
          </a:effectLst>
        </p:spPr>
        <p:txBody>
          <a:bodyPr/>
          <a:lstStyle/>
          <a:p>
            <a:endParaRPr lang="en-US"/>
          </a:p>
        </p:txBody>
      </p:sp>
      <p:sp>
        <p:nvSpPr>
          <p:cNvPr id="12" name="Shape 10"/>
          <p:cNvSpPr/>
          <p:nvPr/>
        </p:nvSpPr>
        <p:spPr>
          <a:xfrm>
            <a:off x="4709160" y="1389888"/>
            <a:ext cx="4160520" cy="54864"/>
          </a:xfrm>
          <a:prstGeom prst="rect">
            <a:avLst/>
          </a:prstGeom>
          <a:solidFill>
            <a:srgbClr val="A83258"/>
          </a:solidFill>
          <a:ln/>
        </p:spPr>
        <p:txBody>
          <a:bodyPr/>
          <a:lstStyle/>
          <a:p>
            <a:endParaRPr lang="en-US"/>
          </a:p>
        </p:txBody>
      </p:sp>
      <p:sp>
        <p:nvSpPr>
          <p:cNvPr id="13" name="Shape 11"/>
          <p:cNvSpPr/>
          <p:nvPr/>
        </p:nvSpPr>
        <p:spPr>
          <a:xfrm>
            <a:off x="4846320" y="1517904"/>
            <a:ext cx="530352" cy="292608"/>
          </a:xfrm>
          <a:prstGeom prst="rect">
            <a:avLst/>
          </a:prstGeom>
          <a:solidFill>
            <a:srgbClr val="A83258"/>
          </a:solidFill>
          <a:ln/>
        </p:spPr>
        <p:txBody>
          <a:bodyPr/>
          <a:lstStyle/>
          <a:p>
            <a:endParaRPr lang="en-US"/>
          </a:p>
        </p:txBody>
      </p:sp>
      <p:sp>
        <p:nvSpPr>
          <p:cNvPr id="14" name="Text 12"/>
          <p:cNvSpPr/>
          <p:nvPr/>
        </p:nvSpPr>
        <p:spPr>
          <a:xfrm>
            <a:off x="4846320" y="1517904"/>
            <a:ext cx="530352" cy="292608"/>
          </a:xfrm>
          <a:prstGeom prst="rect">
            <a:avLst/>
          </a:prstGeom>
          <a:noFill/>
          <a:ln/>
        </p:spPr>
        <p:txBody>
          <a:bodyPr wrap="square" rtlCol="0" anchor="ctr"/>
          <a:lstStyle/>
          <a:p>
            <a:pPr marL="0" indent="0" algn="ctr">
              <a:buNone/>
            </a:pPr>
            <a:r>
              <a:rPr lang="en-US" sz="1000" b="1">
                <a:solidFill>
                  <a:srgbClr val="FFFFFF"/>
                </a:solidFill>
                <a:latin typeface="Calibri" pitchFamily="34" charset="0"/>
                <a:ea typeface="Calibri" pitchFamily="34" charset="-122"/>
                <a:cs typeface="Calibri" pitchFamily="34" charset="-120"/>
              </a:rPr>
              <a:t>RQ2</a:t>
            </a:r>
            <a:endParaRPr lang="en-US" sz="1000"/>
          </a:p>
        </p:txBody>
      </p:sp>
      <p:sp>
        <p:nvSpPr>
          <p:cNvPr id="15" name="Text 13"/>
          <p:cNvSpPr/>
          <p:nvPr/>
        </p:nvSpPr>
        <p:spPr>
          <a:xfrm>
            <a:off x="5486400" y="1517904"/>
            <a:ext cx="3246120" cy="292608"/>
          </a:xfrm>
          <a:prstGeom prst="rect">
            <a:avLst/>
          </a:prstGeom>
          <a:noFill/>
          <a:ln/>
        </p:spPr>
        <p:txBody>
          <a:bodyPr wrap="square" rtlCol="0" anchor="ctr"/>
          <a:lstStyle/>
          <a:p>
            <a:pPr marL="0" indent="0">
              <a:buNone/>
            </a:pPr>
            <a:r>
              <a:rPr lang="en-US" sz="1200" b="1">
                <a:solidFill>
                  <a:srgbClr val="2B2B2B"/>
                </a:solidFill>
                <a:latin typeface="Georgia" pitchFamily="34" charset="0"/>
                <a:ea typeface="Georgia" pitchFamily="34" charset="-122"/>
                <a:cs typeface="Georgia" pitchFamily="34" charset="-120"/>
              </a:rPr>
              <a:t>Which features matter most?</a:t>
            </a:r>
            <a:endParaRPr lang="en-US" sz="1200"/>
          </a:p>
        </p:txBody>
      </p:sp>
      <p:sp>
        <p:nvSpPr>
          <p:cNvPr id="16" name="Text 14"/>
          <p:cNvSpPr/>
          <p:nvPr/>
        </p:nvSpPr>
        <p:spPr>
          <a:xfrm>
            <a:off x="4846320" y="1892808"/>
            <a:ext cx="3886200" cy="1051560"/>
          </a:xfrm>
          <a:prstGeom prst="rect">
            <a:avLst/>
          </a:prstGeom>
          <a:noFill/>
          <a:ln/>
        </p:spPr>
        <p:txBody>
          <a:bodyPr wrap="square" rtlCol="0" anchor="ctr"/>
          <a:lstStyle/>
          <a:p>
            <a:pPr marL="0" indent="0">
              <a:buNone/>
            </a:pPr>
            <a:r>
              <a:rPr lang="en-US" sz="1100">
                <a:solidFill>
                  <a:srgbClr val="2B2B2B"/>
                </a:solidFill>
                <a:latin typeface="Calibri" pitchFamily="34" charset="0"/>
                <a:ea typeface="Calibri" pitchFamily="34" charset="-122"/>
                <a:cs typeface="Calibri" pitchFamily="34" charset="-120"/>
              </a:rPr>
              <a:t>We expect alcohol content and volatile acidity to rank as the top predictors. Higher alcohol is linked to riper grapes and better quality, while excess volatile acidity imparts a vinegary taste that lowers perceived quality.</a:t>
            </a:r>
            <a:endParaRPr lang="en-US" sz="1100"/>
          </a:p>
        </p:txBody>
      </p:sp>
      <p:sp>
        <p:nvSpPr>
          <p:cNvPr id="17" name="Shape 15"/>
          <p:cNvSpPr/>
          <p:nvPr/>
        </p:nvSpPr>
        <p:spPr>
          <a:xfrm>
            <a:off x="274320" y="3172968"/>
            <a:ext cx="4160520" cy="1627632"/>
          </a:xfrm>
          <a:prstGeom prst="rect">
            <a:avLst/>
          </a:prstGeom>
          <a:solidFill>
            <a:srgbClr val="FFFFFF"/>
          </a:solidFill>
          <a:ln/>
          <a:effectLst>
            <a:outerShdw blurRad="101600" dist="38100" dir="8100000" algn="bl" rotWithShape="0">
              <a:srgbClr val="000000">
                <a:alpha val="13000"/>
              </a:srgbClr>
            </a:outerShdw>
          </a:effectLst>
        </p:spPr>
        <p:txBody>
          <a:bodyPr/>
          <a:lstStyle/>
          <a:p>
            <a:endParaRPr lang="en-US"/>
          </a:p>
        </p:txBody>
      </p:sp>
      <p:sp>
        <p:nvSpPr>
          <p:cNvPr id="18" name="Shape 16"/>
          <p:cNvSpPr/>
          <p:nvPr/>
        </p:nvSpPr>
        <p:spPr>
          <a:xfrm>
            <a:off x="274320" y="3172968"/>
            <a:ext cx="4160520" cy="54864"/>
          </a:xfrm>
          <a:prstGeom prst="rect">
            <a:avLst/>
          </a:prstGeom>
          <a:solidFill>
            <a:srgbClr val="C9A84C"/>
          </a:solidFill>
          <a:ln/>
        </p:spPr>
        <p:txBody>
          <a:bodyPr/>
          <a:lstStyle/>
          <a:p>
            <a:endParaRPr lang="en-US"/>
          </a:p>
        </p:txBody>
      </p:sp>
      <p:sp>
        <p:nvSpPr>
          <p:cNvPr id="19" name="Shape 17"/>
          <p:cNvSpPr/>
          <p:nvPr/>
        </p:nvSpPr>
        <p:spPr>
          <a:xfrm>
            <a:off x="411480" y="3300984"/>
            <a:ext cx="530352" cy="292608"/>
          </a:xfrm>
          <a:prstGeom prst="rect">
            <a:avLst/>
          </a:prstGeom>
          <a:solidFill>
            <a:srgbClr val="C9A84C"/>
          </a:solidFill>
          <a:ln/>
        </p:spPr>
        <p:txBody>
          <a:bodyPr/>
          <a:lstStyle/>
          <a:p>
            <a:endParaRPr lang="en-US"/>
          </a:p>
        </p:txBody>
      </p:sp>
      <p:sp>
        <p:nvSpPr>
          <p:cNvPr id="20" name="Text 18"/>
          <p:cNvSpPr/>
          <p:nvPr/>
        </p:nvSpPr>
        <p:spPr>
          <a:xfrm>
            <a:off x="411480" y="3300984"/>
            <a:ext cx="530352" cy="292608"/>
          </a:xfrm>
          <a:prstGeom prst="rect">
            <a:avLst/>
          </a:prstGeom>
          <a:noFill/>
          <a:ln/>
        </p:spPr>
        <p:txBody>
          <a:bodyPr wrap="square" rtlCol="0" anchor="ctr"/>
          <a:lstStyle/>
          <a:p>
            <a:pPr marL="0" indent="0" algn="ctr">
              <a:buNone/>
            </a:pPr>
            <a:r>
              <a:rPr lang="en-US" sz="1000" b="1">
                <a:solidFill>
                  <a:srgbClr val="FFFFFF"/>
                </a:solidFill>
                <a:latin typeface="Calibri" pitchFamily="34" charset="0"/>
                <a:ea typeface="Calibri" pitchFamily="34" charset="-122"/>
                <a:cs typeface="Calibri" pitchFamily="34" charset="-120"/>
              </a:rPr>
              <a:t>RQ3</a:t>
            </a:r>
            <a:endParaRPr lang="en-US" sz="1000"/>
          </a:p>
        </p:txBody>
      </p:sp>
      <p:sp>
        <p:nvSpPr>
          <p:cNvPr id="21" name="Text 19"/>
          <p:cNvSpPr/>
          <p:nvPr/>
        </p:nvSpPr>
        <p:spPr>
          <a:xfrm>
            <a:off x="1051560" y="3300984"/>
            <a:ext cx="3246120" cy="292608"/>
          </a:xfrm>
          <a:prstGeom prst="rect">
            <a:avLst/>
          </a:prstGeom>
          <a:noFill/>
          <a:ln/>
        </p:spPr>
        <p:txBody>
          <a:bodyPr wrap="square" rtlCol="0" anchor="ctr"/>
          <a:lstStyle/>
          <a:p>
            <a:pPr marL="0" indent="0">
              <a:buNone/>
            </a:pPr>
            <a:r>
              <a:rPr lang="en-US" sz="1200" b="1">
                <a:solidFill>
                  <a:srgbClr val="2B2B2B"/>
                </a:solidFill>
                <a:latin typeface="Georgia" pitchFamily="34" charset="0"/>
                <a:ea typeface="Georgia" pitchFamily="34" charset="-122"/>
                <a:cs typeface="Georgia" pitchFamily="34" charset="-120"/>
              </a:rPr>
              <a:t>Which model performs best?</a:t>
            </a:r>
            <a:endParaRPr lang="en-US" sz="1200"/>
          </a:p>
        </p:txBody>
      </p:sp>
      <p:sp>
        <p:nvSpPr>
          <p:cNvPr id="22" name="Text 20"/>
          <p:cNvSpPr/>
          <p:nvPr/>
        </p:nvSpPr>
        <p:spPr>
          <a:xfrm>
            <a:off x="411480" y="3675888"/>
            <a:ext cx="3886200" cy="1051560"/>
          </a:xfrm>
          <a:prstGeom prst="rect">
            <a:avLst/>
          </a:prstGeom>
          <a:noFill/>
          <a:ln/>
        </p:spPr>
        <p:txBody>
          <a:bodyPr wrap="square" rtlCol="0" anchor="ctr"/>
          <a:lstStyle/>
          <a:p>
            <a:pPr marL="0" indent="0">
              <a:buNone/>
            </a:pPr>
            <a:r>
              <a:rPr lang="en-US" sz="1100">
                <a:solidFill>
                  <a:srgbClr val="2B2B2B"/>
                </a:solidFill>
                <a:latin typeface="Calibri" pitchFamily="34" charset="0"/>
                <a:ea typeface="Calibri" pitchFamily="34" charset="-122"/>
                <a:cs typeface="Calibri" pitchFamily="34" charset="-120"/>
              </a:rPr>
              <a:t>We hypothesize that Random Forest will outperform the other three models. Its ensemble approach and ability to model complex, non-linear feature interactions should provide an accuracy advantage over single estimators.</a:t>
            </a:r>
            <a:endParaRPr lang="en-US" sz="1100"/>
          </a:p>
        </p:txBody>
      </p:sp>
      <p:sp>
        <p:nvSpPr>
          <p:cNvPr id="23" name="Shape 21"/>
          <p:cNvSpPr/>
          <p:nvPr/>
        </p:nvSpPr>
        <p:spPr>
          <a:xfrm>
            <a:off x="4709160" y="3172968"/>
            <a:ext cx="4160520" cy="1627632"/>
          </a:xfrm>
          <a:prstGeom prst="rect">
            <a:avLst/>
          </a:prstGeom>
          <a:solidFill>
            <a:srgbClr val="FFFFFF"/>
          </a:solidFill>
          <a:ln/>
          <a:effectLst>
            <a:outerShdw blurRad="101600" dist="38100" dir="8100000" algn="bl" rotWithShape="0">
              <a:srgbClr val="000000">
                <a:alpha val="13000"/>
              </a:srgbClr>
            </a:outerShdw>
          </a:effectLst>
        </p:spPr>
        <p:txBody>
          <a:bodyPr/>
          <a:lstStyle/>
          <a:p>
            <a:endParaRPr lang="en-US"/>
          </a:p>
        </p:txBody>
      </p:sp>
      <p:sp>
        <p:nvSpPr>
          <p:cNvPr id="24" name="Shape 22"/>
          <p:cNvSpPr/>
          <p:nvPr/>
        </p:nvSpPr>
        <p:spPr>
          <a:xfrm>
            <a:off x="4709160" y="3172968"/>
            <a:ext cx="4160520" cy="54864"/>
          </a:xfrm>
          <a:prstGeom prst="rect">
            <a:avLst/>
          </a:prstGeom>
          <a:solidFill>
            <a:srgbClr val="028090"/>
          </a:solidFill>
          <a:ln/>
        </p:spPr>
        <p:txBody>
          <a:bodyPr/>
          <a:lstStyle/>
          <a:p>
            <a:endParaRPr lang="en-US"/>
          </a:p>
        </p:txBody>
      </p:sp>
      <p:sp>
        <p:nvSpPr>
          <p:cNvPr id="25" name="Shape 23"/>
          <p:cNvSpPr/>
          <p:nvPr/>
        </p:nvSpPr>
        <p:spPr>
          <a:xfrm>
            <a:off x="4846320" y="3300984"/>
            <a:ext cx="530352" cy="292608"/>
          </a:xfrm>
          <a:prstGeom prst="rect">
            <a:avLst/>
          </a:prstGeom>
          <a:solidFill>
            <a:srgbClr val="028090"/>
          </a:solidFill>
          <a:ln/>
        </p:spPr>
        <p:txBody>
          <a:bodyPr/>
          <a:lstStyle/>
          <a:p>
            <a:endParaRPr lang="en-US"/>
          </a:p>
        </p:txBody>
      </p:sp>
      <p:sp>
        <p:nvSpPr>
          <p:cNvPr id="26" name="Text 24"/>
          <p:cNvSpPr/>
          <p:nvPr/>
        </p:nvSpPr>
        <p:spPr>
          <a:xfrm>
            <a:off x="4846320" y="3300984"/>
            <a:ext cx="530352" cy="292608"/>
          </a:xfrm>
          <a:prstGeom prst="rect">
            <a:avLst/>
          </a:prstGeom>
          <a:noFill/>
          <a:ln/>
        </p:spPr>
        <p:txBody>
          <a:bodyPr wrap="square" rtlCol="0" anchor="ctr"/>
          <a:lstStyle/>
          <a:p>
            <a:pPr marL="0" indent="0" algn="ctr">
              <a:buNone/>
            </a:pPr>
            <a:r>
              <a:rPr lang="en-US" sz="1000" b="1">
                <a:solidFill>
                  <a:srgbClr val="FFFFFF"/>
                </a:solidFill>
                <a:latin typeface="Calibri" pitchFamily="34" charset="0"/>
                <a:ea typeface="Calibri" pitchFamily="34" charset="-122"/>
                <a:cs typeface="Calibri" pitchFamily="34" charset="-120"/>
              </a:rPr>
              <a:t>RQ4</a:t>
            </a:r>
            <a:endParaRPr lang="en-US" sz="1000"/>
          </a:p>
        </p:txBody>
      </p:sp>
      <p:sp>
        <p:nvSpPr>
          <p:cNvPr id="27" name="Text 25"/>
          <p:cNvSpPr/>
          <p:nvPr/>
        </p:nvSpPr>
        <p:spPr>
          <a:xfrm>
            <a:off x="5486400" y="3300984"/>
            <a:ext cx="3246120" cy="292608"/>
          </a:xfrm>
          <a:prstGeom prst="rect">
            <a:avLst/>
          </a:prstGeom>
          <a:noFill/>
          <a:ln/>
        </p:spPr>
        <p:txBody>
          <a:bodyPr wrap="square" rtlCol="0" anchor="ctr"/>
          <a:lstStyle/>
          <a:p>
            <a:pPr marL="0" indent="0">
              <a:buNone/>
            </a:pPr>
            <a:r>
              <a:rPr lang="en-US" sz="1200" b="1">
                <a:solidFill>
                  <a:srgbClr val="2B2B2B"/>
                </a:solidFill>
                <a:latin typeface="Georgia" pitchFamily="34" charset="0"/>
                <a:ea typeface="Georgia" pitchFamily="34" charset="-122"/>
                <a:cs typeface="Georgia" pitchFamily="34" charset="-120"/>
              </a:rPr>
              <a:t>Does scaling change results?</a:t>
            </a:r>
            <a:endParaRPr lang="en-US" sz="1200"/>
          </a:p>
        </p:txBody>
      </p:sp>
      <p:sp>
        <p:nvSpPr>
          <p:cNvPr id="28" name="Text 26"/>
          <p:cNvSpPr/>
          <p:nvPr/>
        </p:nvSpPr>
        <p:spPr>
          <a:xfrm>
            <a:off x="4846320" y="3675888"/>
            <a:ext cx="3886200" cy="1051560"/>
          </a:xfrm>
          <a:prstGeom prst="rect">
            <a:avLst/>
          </a:prstGeom>
          <a:noFill/>
          <a:ln/>
        </p:spPr>
        <p:txBody>
          <a:bodyPr wrap="square" rtlCol="0" anchor="ctr"/>
          <a:lstStyle/>
          <a:p>
            <a:pPr marL="0" indent="0">
              <a:buNone/>
            </a:pPr>
            <a:r>
              <a:rPr lang="en-US" sz="1100">
                <a:solidFill>
                  <a:srgbClr val="2B2B2B"/>
                </a:solidFill>
                <a:latin typeface="Calibri" pitchFamily="34" charset="0"/>
                <a:ea typeface="Calibri" pitchFamily="34" charset="-122"/>
                <a:cs typeface="Calibri" pitchFamily="34" charset="-120"/>
              </a:rPr>
              <a:t>We expect scaling to meaningfully boost KNN and Logistic Regression accuracy since they are sensitive to feature magnitude, while Random Forest and Decision Tree should remain largely unaffected, as tree splits are scale-invariant.</a:t>
            </a:r>
            <a:endParaRPr lang="en-US" sz="11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C0A14"/>
        </a:solidFill>
        <a:effectLst/>
      </p:bgPr>
    </p:bg>
    <p:spTree>
      <p:nvGrpSpPr>
        <p:cNvPr id="1" name=""/>
        <p:cNvGrpSpPr/>
        <p:nvPr/>
      </p:nvGrpSpPr>
      <p:grpSpPr>
        <a:xfrm>
          <a:off x="0" y="0"/>
          <a:ext cx="0" cy="0"/>
          <a:chOff x="0" y="0"/>
          <a:chExt cx="0" cy="0"/>
        </a:xfrm>
      </p:grpSpPr>
      <p:sp>
        <p:nvSpPr>
          <p:cNvPr id="2" name="Shape 0"/>
          <p:cNvSpPr/>
          <p:nvPr/>
        </p:nvSpPr>
        <p:spPr>
          <a:xfrm>
            <a:off x="-914400" y="-914400"/>
            <a:ext cx="4572000" cy="4572000"/>
          </a:xfrm>
          <a:prstGeom prst="ellipse">
            <a:avLst/>
          </a:prstGeom>
          <a:solidFill>
            <a:srgbClr val="6D1A36">
              <a:alpha val="20000"/>
            </a:srgbClr>
          </a:solidFill>
          <a:ln w="12700">
            <a:solidFill>
              <a:srgbClr val="6D1A36"/>
            </a:solidFill>
            <a:prstDash val="solid"/>
          </a:ln>
        </p:spPr>
        <p:txBody>
          <a:bodyPr/>
          <a:lstStyle/>
          <a:p>
            <a:endParaRPr lang="en-US"/>
          </a:p>
        </p:txBody>
      </p:sp>
      <p:sp>
        <p:nvSpPr>
          <p:cNvPr id="3" name="Shape 1"/>
          <p:cNvSpPr/>
          <p:nvPr/>
        </p:nvSpPr>
        <p:spPr>
          <a:xfrm>
            <a:off x="6858000" y="2286000"/>
            <a:ext cx="3657600" cy="3657600"/>
          </a:xfrm>
          <a:prstGeom prst="ellipse">
            <a:avLst/>
          </a:prstGeom>
          <a:solidFill>
            <a:srgbClr val="A83258">
              <a:alpha val="15000"/>
            </a:srgbClr>
          </a:solidFill>
          <a:ln w="12700">
            <a:solidFill>
              <a:srgbClr val="A83258"/>
            </a:solidFill>
            <a:prstDash val="solid"/>
          </a:ln>
        </p:spPr>
        <p:txBody>
          <a:bodyPr/>
          <a:lstStyle/>
          <a:p>
            <a:endParaRPr lang="en-US"/>
          </a:p>
        </p:txBody>
      </p:sp>
      <p:sp>
        <p:nvSpPr>
          <p:cNvPr id="4" name="Text 2"/>
          <p:cNvSpPr/>
          <p:nvPr/>
        </p:nvSpPr>
        <p:spPr>
          <a:xfrm>
            <a:off x="457200" y="201168"/>
            <a:ext cx="8229600" cy="502920"/>
          </a:xfrm>
          <a:prstGeom prst="rect">
            <a:avLst/>
          </a:prstGeom>
          <a:noFill/>
          <a:ln/>
        </p:spPr>
        <p:txBody>
          <a:bodyPr wrap="square" rtlCol="0" anchor="ctr"/>
          <a:lstStyle/>
          <a:p>
            <a:pPr marL="0" indent="0" algn="ctr">
              <a:buNone/>
            </a:pPr>
            <a:r>
              <a:rPr lang="en-US" sz="1000" b="1" kern="0" spc="400">
                <a:solidFill>
                  <a:srgbClr val="C9A84C"/>
                </a:solidFill>
                <a:latin typeface="Calibri" pitchFamily="34" charset="0"/>
                <a:ea typeface="Calibri" pitchFamily="34" charset="-122"/>
                <a:cs typeface="Calibri" pitchFamily="34" charset="-120"/>
              </a:rPr>
              <a:t>WHAT WE HOPE TO LEARN</a:t>
            </a:r>
            <a:endParaRPr lang="en-US" sz="1000"/>
          </a:p>
        </p:txBody>
      </p:sp>
      <p:sp>
        <p:nvSpPr>
          <p:cNvPr id="5" name="Text 3"/>
          <p:cNvSpPr/>
          <p:nvPr/>
        </p:nvSpPr>
        <p:spPr>
          <a:xfrm>
            <a:off x="457200" y="658368"/>
            <a:ext cx="8229600" cy="594360"/>
          </a:xfrm>
          <a:prstGeom prst="rect">
            <a:avLst/>
          </a:prstGeom>
          <a:noFill/>
          <a:ln/>
        </p:spPr>
        <p:txBody>
          <a:bodyPr wrap="square" rtlCol="0" anchor="ctr"/>
          <a:lstStyle/>
          <a:p>
            <a:pPr marL="0" indent="0" algn="ctr">
              <a:buNone/>
            </a:pPr>
            <a:r>
              <a:rPr lang="en-US" sz="3200" b="1">
                <a:solidFill>
                  <a:srgbClr val="FFFFFF"/>
                </a:solidFill>
                <a:latin typeface="Georgia" pitchFamily="34" charset="0"/>
                <a:ea typeface="Georgia" pitchFamily="34" charset="-122"/>
                <a:cs typeface="Georgia" pitchFamily="34" charset="-120"/>
              </a:rPr>
              <a:t>Goals &amp; Takeaways</a:t>
            </a:r>
            <a:endParaRPr lang="en-US" sz="3200"/>
          </a:p>
        </p:txBody>
      </p:sp>
      <p:sp>
        <p:nvSpPr>
          <p:cNvPr id="6" name="Shape 4"/>
          <p:cNvSpPr/>
          <p:nvPr/>
        </p:nvSpPr>
        <p:spPr>
          <a:xfrm>
            <a:off x="365760" y="1417320"/>
            <a:ext cx="4114800" cy="1481328"/>
          </a:xfrm>
          <a:prstGeom prst="rect">
            <a:avLst/>
          </a:prstGeom>
          <a:solidFill>
            <a:srgbClr val="6D1A36">
              <a:alpha val="75000"/>
            </a:srgbClr>
          </a:solidFill>
          <a:ln/>
          <a:effectLst>
            <a:outerShdw blurRad="101600" dist="38100" dir="8100000" algn="bl" rotWithShape="0">
              <a:srgbClr val="000000">
                <a:alpha val="13000"/>
              </a:srgbClr>
            </a:outerShdw>
          </a:effectLst>
        </p:spPr>
        <p:txBody>
          <a:bodyPr/>
          <a:lstStyle/>
          <a:p>
            <a:endParaRPr lang="en-US"/>
          </a:p>
        </p:txBody>
      </p:sp>
      <p:sp>
        <p:nvSpPr>
          <p:cNvPr id="7" name="Shape 5"/>
          <p:cNvSpPr/>
          <p:nvPr/>
        </p:nvSpPr>
        <p:spPr>
          <a:xfrm>
            <a:off x="365760" y="1417320"/>
            <a:ext cx="548640" cy="1481328"/>
          </a:xfrm>
          <a:prstGeom prst="rect">
            <a:avLst/>
          </a:prstGeom>
          <a:solidFill>
            <a:srgbClr val="C9A84C">
              <a:alpha val="80000"/>
            </a:srgbClr>
          </a:solidFill>
          <a:ln/>
        </p:spPr>
        <p:txBody>
          <a:bodyPr/>
          <a:lstStyle/>
          <a:p>
            <a:endParaRPr lang="en-US"/>
          </a:p>
        </p:txBody>
      </p:sp>
      <p:sp>
        <p:nvSpPr>
          <p:cNvPr id="8" name="Text 6"/>
          <p:cNvSpPr/>
          <p:nvPr/>
        </p:nvSpPr>
        <p:spPr>
          <a:xfrm>
            <a:off x="365760" y="1417320"/>
            <a:ext cx="548640" cy="1481328"/>
          </a:xfrm>
          <a:prstGeom prst="rect">
            <a:avLst/>
          </a:prstGeom>
          <a:noFill/>
          <a:ln/>
        </p:spPr>
        <p:txBody>
          <a:bodyPr wrap="square" rtlCol="0" anchor="ctr"/>
          <a:lstStyle/>
          <a:p>
            <a:pPr marL="0" indent="0" algn="ctr">
              <a:buNone/>
            </a:pPr>
            <a:r>
              <a:rPr lang="en-US" sz="2000" b="1">
                <a:solidFill>
                  <a:srgbClr val="C9A84C"/>
                </a:solidFill>
                <a:latin typeface="Georgia" pitchFamily="34" charset="0"/>
                <a:ea typeface="Georgia" pitchFamily="34" charset="-122"/>
                <a:cs typeface="Georgia" pitchFamily="34" charset="-120"/>
              </a:rPr>
              <a:t>01</a:t>
            </a:r>
            <a:endParaRPr lang="en-US" sz="2000"/>
          </a:p>
        </p:txBody>
      </p:sp>
      <p:sp>
        <p:nvSpPr>
          <p:cNvPr id="9" name="Text 7"/>
          <p:cNvSpPr/>
          <p:nvPr/>
        </p:nvSpPr>
        <p:spPr>
          <a:xfrm>
            <a:off x="1024128" y="1527048"/>
            <a:ext cx="3337560" cy="347472"/>
          </a:xfrm>
          <a:prstGeom prst="rect">
            <a:avLst/>
          </a:prstGeom>
          <a:noFill/>
          <a:ln/>
        </p:spPr>
        <p:txBody>
          <a:bodyPr wrap="square" rtlCol="0" anchor="ctr"/>
          <a:lstStyle/>
          <a:p>
            <a:pPr marL="0" indent="0">
              <a:buNone/>
            </a:pPr>
            <a:r>
              <a:rPr lang="en-US" sz="1300" b="1">
                <a:solidFill>
                  <a:srgbClr val="C9A84C"/>
                </a:solidFill>
                <a:latin typeface="Georgia" pitchFamily="34" charset="0"/>
                <a:ea typeface="Georgia" pitchFamily="34" charset="-122"/>
                <a:cs typeface="Georgia" pitchFamily="34" charset="-120"/>
              </a:rPr>
              <a:t>End-to-End ML Pipeline</a:t>
            </a:r>
            <a:endParaRPr lang="en-US" sz="1300"/>
          </a:p>
        </p:txBody>
      </p:sp>
      <p:sp>
        <p:nvSpPr>
          <p:cNvPr id="10" name="Text 8"/>
          <p:cNvSpPr/>
          <p:nvPr/>
        </p:nvSpPr>
        <p:spPr>
          <a:xfrm>
            <a:off x="1024128" y="1892808"/>
            <a:ext cx="3337560" cy="914400"/>
          </a:xfrm>
          <a:prstGeom prst="rect">
            <a:avLst/>
          </a:prstGeom>
          <a:noFill/>
          <a:ln/>
        </p:spPr>
        <p:txBody>
          <a:bodyPr wrap="square" rtlCol="0" anchor="ctr"/>
          <a:lstStyle/>
          <a:p>
            <a:pPr marL="0" indent="0">
              <a:buNone/>
            </a:pPr>
            <a:r>
              <a:rPr lang="en-US" sz="1100">
                <a:solidFill>
                  <a:srgbClr val="FFFFFF"/>
                </a:solidFill>
                <a:latin typeface="Calibri" pitchFamily="34" charset="0"/>
                <a:ea typeface="Calibri" pitchFamily="34" charset="-122"/>
                <a:cs typeface="Calibri" pitchFamily="34" charset="-120"/>
              </a:rPr>
              <a:t>We hope to gain hands-on experience with the full ML workflow — from raw data cleaning and EDA through preprocessing, model training, and evaluation — on a real-world dataset.</a:t>
            </a:r>
            <a:endParaRPr lang="en-US" sz="1100"/>
          </a:p>
        </p:txBody>
      </p:sp>
      <p:sp>
        <p:nvSpPr>
          <p:cNvPr id="11" name="Shape 9"/>
          <p:cNvSpPr/>
          <p:nvPr/>
        </p:nvSpPr>
        <p:spPr>
          <a:xfrm>
            <a:off x="4800600" y="1417320"/>
            <a:ext cx="4114800" cy="1481328"/>
          </a:xfrm>
          <a:prstGeom prst="rect">
            <a:avLst/>
          </a:prstGeom>
          <a:solidFill>
            <a:srgbClr val="6D1A36">
              <a:alpha val="75000"/>
            </a:srgbClr>
          </a:solidFill>
          <a:ln/>
          <a:effectLst>
            <a:outerShdw blurRad="101600" dist="38100" dir="8100000" algn="bl" rotWithShape="0">
              <a:srgbClr val="000000">
                <a:alpha val="13000"/>
              </a:srgbClr>
            </a:outerShdw>
          </a:effectLst>
        </p:spPr>
        <p:txBody>
          <a:bodyPr/>
          <a:lstStyle/>
          <a:p>
            <a:endParaRPr lang="en-US"/>
          </a:p>
        </p:txBody>
      </p:sp>
      <p:sp>
        <p:nvSpPr>
          <p:cNvPr id="12" name="Shape 10"/>
          <p:cNvSpPr/>
          <p:nvPr/>
        </p:nvSpPr>
        <p:spPr>
          <a:xfrm>
            <a:off x="4800600" y="1417320"/>
            <a:ext cx="548640" cy="1481328"/>
          </a:xfrm>
          <a:prstGeom prst="rect">
            <a:avLst/>
          </a:prstGeom>
          <a:solidFill>
            <a:srgbClr val="C9A84C">
              <a:alpha val="80000"/>
            </a:srgbClr>
          </a:solidFill>
          <a:ln/>
        </p:spPr>
        <p:txBody>
          <a:bodyPr/>
          <a:lstStyle/>
          <a:p>
            <a:endParaRPr lang="en-US"/>
          </a:p>
        </p:txBody>
      </p:sp>
      <p:sp>
        <p:nvSpPr>
          <p:cNvPr id="13" name="Text 11"/>
          <p:cNvSpPr/>
          <p:nvPr/>
        </p:nvSpPr>
        <p:spPr>
          <a:xfrm>
            <a:off x="4800600" y="1417320"/>
            <a:ext cx="548640" cy="1481328"/>
          </a:xfrm>
          <a:prstGeom prst="rect">
            <a:avLst/>
          </a:prstGeom>
          <a:noFill/>
          <a:ln/>
        </p:spPr>
        <p:txBody>
          <a:bodyPr wrap="square" rtlCol="0" anchor="ctr"/>
          <a:lstStyle/>
          <a:p>
            <a:pPr marL="0" indent="0" algn="ctr">
              <a:buNone/>
            </a:pPr>
            <a:r>
              <a:rPr lang="en-US" sz="2000" b="1">
                <a:solidFill>
                  <a:srgbClr val="C9A84C"/>
                </a:solidFill>
                <a:latin typeface="Georgia" pitchFamily="34" charset="0"/>
                <a:ea typeface="Georgia" pitchFamily="34" charset="-122"/>
                <a:cs typeface="Georgia" pitchFamily="34" charset="-120"/>
              </a:rPr>
              <a:t>02</a:t>
            </a:r>
            <a:endParaRPr lang="en-US" sz="2000"/>
          </a:p>
        </p:txBody>
      </p:sp>
      <p:sp>
        <p:nvSpPr>
          <p:cNvPr id="14" name="Text 12"/>
          <p:cNvSpPr/>
          <p:nvPr/>
        </p:nvSpPr>
        <p:spPr>
          <a:xfrm>
            <a:off x="5458968" y="1527048"/>
            <a:ext cx="3337560" cy="347472"/>
          </a:xfrm>
          <a:prstGeom prst="rect">
            <a:avLst/>
          </a:prstGeom>
          <a:noFill/>
          <a:ln/>
        </p:spPr>
        <p:txBody>
          <a:bodyPr wrap="square" rtlCol="0" anchor="ctr"/>
          <a:lstStyle/>
          <a:p>
            <a:pPr marL="0" indent="0">
              <a:buNone/>
            </a:pPr>
            <a:r>
              <a:rPr lang="en-US" sz="1300" b="1">
                <a:solidFill>
                  <a:srgbClr val="C9A84C"/>
                </a:solidFill>
                <a:latin typeface="Georgia" pitchFamily="34" charset="0"/>
                <a:ea typeface="Georgia" pitchFamily="34" charset="-122"/>
                <a:cs typeface="Georgia" pitchFamily="34" charset="-120"/>
              </a:rPr>
              <a:t>Model Selection Intuition</a:t>
            </a:r>
            <a:endParaRPr lang="en-US" sz="1300"/>
          </a:p>
        </p:txBody>
      </p:sp>
      <p:sp>
        <p:nvSpPr>
          <p:cNvPr id="15" name="Text 13"/>
          <p:cNvSpPr/>
          <p:nvPr/>
        </p:nvSpPr>
        <p:spPr>
          <a:xfrm>
            <a:off x="5458968" y="1892808"/>
            <a:ext cx="3337560" cy="914400"/>
          </a:xfrm>
          <a:prstGeom prst="rect">
            <a:avLst/>
          </a:prstGeom>
          <a:noFill/>
          <a:ln/>
        </p:spPr>
        <p:txBody>
          <a:bodyPr wrap="square" rtlCol="0" anchor="ctr"/>
          <a:lstStyle/>
          <a:p>
            <a:pPr marL="0" indent="0">
              <a:buNone/>
            </a:pPr>
            <a:r>
              <a:rPr lang="en-US" sz="1100">
                <a:solidFill>
                  <a:srgbClr val="FFFFFF"/>
                </a:solidFill>
                <a:latin typeface="Calibri" pitchFamily="34" charset="0"/>
                <a:ea typeface="Calibri" pitchFamily="34" charset="-122"/>
                <a:cs typeface="Calibri" pitchFamily="34" charset="-120"/>
              </a:rPr>
              <a:t>By comparing four algorithms on the same problem, we aim to build intuition for when to choose linear vs. tree-based vs. instance-based models and understand the tradeoffs between them.</a:t>
            </a:r>
            <a:endParaRPr lang="en-US" sz="1100"/>
          </a:p>
        </p:txBody>
      </p:sp>
      <p:sp>
        <p:nvSpPr>
          <p:cNvPr id="16" name="Shape 14"/>
          <p:cNvSpPr/>
          <p:nvPr/>
        </p:nvSpPr>
        <p:spPr>
          <a:xfrm>
            <a:off x="365760" y="3081528"/>
            <a:ext cx="4114800" cy="1481328"/>
          </a:xfrm>
          <a:prstGeom prst="rect">
            <a:avLst/>
          </a:prstGeom>
          <a:solidFill>
            <a:srgbClr val="6D1A36">
              <a:alpha val="75000"/>
            </a:srgbClr>
          </a:solidFill>
          <a:ln/>
          <a:effectLst>
            <a:outerShdw blurRad="101600" dist="38100" dir="8100000" algn="bl" rotWithShape="0">
              <a:srgbClr val="000000">
                <a:alpha val="13000"/>
              </a:srgbClr>
            </a:outerShdw>
          </a:effectLst>
        </p:spPr>
        <p:txBody>
          <a:bodyPr/>
          <a:lstStyle/>
          <a:p>
            <a:endParaRPr lang="en-US"/>
          </a:p>
        </p:txBody>
      </p:sp>
      <p:sp>
        <p:nvSpPr>
          <p:cNvPr id="17" name="Shape 15"/>
          <p:cNvSpPr/>
          <p:nvPr/>
        </p:nvSpPr>
        <p:spPr>
          <a:xfrm>
            <a:off x="365760" y="3081528"/>
            <a:ext cx="548640" cy="1481328"/>
          </a:xfrm>
          <a:prstGeom prst="rect">
            <a:avLst/>
          </a:prstGeom>
          <a:solidFill>
            <a:srgbClr val="C9A84C">
              <a:alpha val="80000"/>
            </a:srgbClr>
          </a:solidFill>
          <a:ln/>
        </p:spPr>
        <p:txBody>
          <a:bodyPr/>
          <a:lstStyle/>
          <a:p>
            <a:endParaRPr lang="en-US"/>
          </a:p>
        </p:txBody>
      </p:sp>
      <p:sp>
        <p:nvSpPr>
          <p:cNvPr id="18" name="Text 16"/>
          <p:cNvSpPr/>
          <p:nvPr/>
        </p:nvSpPr>
        <p:spPr>
          <a:xfrm>
            <a:off x="365760" y="3081528"/>
            <a:ext cx="548640" cy="1481328"/>
          </a:xfrm>
          <a:prstGeom prst="rect">
            <a:avLst/>
          </a:prstGeom>
          <a:noFill/>
          <a:ln/>
        </p:spPr>
        <p:txBody>
          <a:bodyPr wrap="square" rtlCol="0" anchor="ctr"/>
          <a:lstStyle/>
          <a:p>
            <a:pPr marL="0" indent="0" algn="ctr">
              <a:buNone/>
            </a:pPr>
            <a:r>
              <a:rPr lang="en-US" sz="2000" b="1">
                <a:solidFill>
                  <a:srgbClr val="C9A84C"/>
                </a:solidFill>
                <a:latin typeface="Georgia" pitchFamily="34" charset="0"/>
                <a:ea typeface="Georgia" pitchFamily="34" charset="-122"/>
                <a:cs typeface="Georgia" pitchFamily="34" charset="-120"/>
              </a:rPr>
              <a:t>03</a:t>
            </a:r>
            <a:endParaRPr lang="en-US" sz="2000"/>
          </a:p>
        </p:txBody>
      </p:sp>
      <p:sp>
        <p:nvSpPr>
          <p:cNvPr id="19" name="Text 17"/>
          <p:cNvSpPr/>
          <p:nvPr/>
        </p:nvSpPr>
        <p:spPr>
          <a:xfrm>
            <a:off x="1024128" y="3191256"/>
            <a:ext cx="3337560" cy="347472"/>
          </a:xfrm>
          <a:prstGeom prst="rect">
            <a:avLst/>
          </a:prstGeom>
          <a:noFill/>
          <a:ln/>
        </p:spPr>
        <p:txBody>
          <a:bodyPr wrap="square" rtlCol="0" anchor="ctr"/>
          <a:lstStyle/>
          <a:p>
            <a:pPr marL="0" indent="0">
              <a:buNone/>
            </a:pPr>
            <a:r>
              <a:rPr lang="en-US" sz="1300" b="1">
                <a:solidFill>
                  <a:srgbClr val="C9A84C"/>
                </a:solidFill>
                <a:latin typeface="Georgia" pitchFamily="34" charset="0"/>
                <a:ea typeface="Georgia" pitchFamily="34" charset="-122"/>
                <a:cs typeface="Georgia" pitchFamily="34" charset="-120"/>
              </a:rPr>
              <a:t>Feature Engineering Insight</a:t>
            </a:r>
            <a:endParaRPr lang="en-US" sz="1300"/>
          </a:p>
        </p:txBody>
      </p:sp>
      <p:sp>
        <p:nvSpPr>
          <p:cNvPr id="20" name="Text 18"/>
          <p:cNvSpPr/>
          <p:nvPr/>
        </p:nvSpPr>
        <p:spPr>
          <a:xfrm>
            <a:off x="1024128" y="3557016"/>
            <a:ext cx="3337560" cy="914400"/>
          </a:xfrm>
          <a:prstGeom prst="rect">
            <a:avLst/>
          </a:prstGeom>
          <a:noFill/>
          <a:ln/>
        </p:spPr>
        <p:txBody>
          <a:bodyPr wrap="square" rtlCol="0" anchor="ctr"/>
          <a:lstStyle/>
          <a:p>
            <a:pPr marL="0" indent="0">
              <a:buNone/>
            </a:pPr>
            <a:r>
              <a:rPr lang="en-US" sz="1100">
                <a:solidFill>
                  <a:srgbClr val="FFFFFF"/>
                </a:solidFill>
                <a:latin typeface="Calibri" pitchFamily="34" charset="0"/>
                <a:ea typeface="Calibri" pitchFamily="34" charset="-122"/>
                <a:cs typeface="Calibri" pitchFamily="34" charset="-120"/>
              </a:rPr>
              <a:t>We hope to connect chemical domain knowledge to ML feature importance — understanding why certain physicochemical properties are more predictive of quality than others.</a:t>
            </a:r>
            <a:endParaRPr lang="en-US" sz="1100"/>
          </a:p>
        </p:txBody>
      </p:sp>
      <p:sp>
        <p:nvSpPr>
          <p:cNvPr id="21" name="Shape 19"/>
          <p:cNvSpPr/>
          <p:nvPr/>
        </p:nvSpPr>
        <p:spPr>
          <a:xfrm>
            <a:off x="4800600" y="3081528"/>
            <a:ext cx="4114800" cy="1481328"/>
          </a:xfrm>
          <a:prstGeom prst="rect">
            <a:avLst/>
          </a:prstGeom>
          <a:solidFill>
            <a:srgbClr val="6D1A36">
              <a:alpha val="75000"/>
            </a:srgbClr>
          </a:solidFill>
          <a:ln/>
          <a:effectLst>
            <a:outerShdw blurRad="101600" dist="38100" dir="8100000" algn="bl" rotWithShape="0">
              <a:srgbClr val="000000">
                <a:alpha val="13000"/>
              </a:srgbClr>
            </a:outerShdw>
          </a:effectLst>
        </p:spPr>
        <p:txBody>
          <a:bodyPr/>
          <a:lstStyle/>
          <a:p>
            <a:endParaRPr lang="en-US"/>
          </a:p>
        </p:txBody>
      </p:sp>
      <p:sp>
        <p:nvSpPr>
          <p:cNvPr id="22" name="Shape 20"/>
          <p:cNvSpPr/>
          <p:nvPr/>
        </p:nvSpPr>
        <p:spPr>
          <a:xfrm>
            <a:off x="4800600" y="3081528"/>
            <a:ext cx="548640" cy="1481328"/>
          </a:xfrm>
          <a:prstGeom prst="rect">
            <a:avLst/>
          </a:prstGeom>
          <a:solidFill>
            <a:srgbClr val="C9A84C">
              <a:alpha val="80000"/>
            </a:srgbClr>
          </a:solidFill>
          <a:ln/>
        </p:spPr>
        <p:txBody>
          <a:bodyPr/>
          <a:lstStyle/>
          <a:p>
            <a:endParaRPr lang="en-US"/>
          </a:p>
        </p:txBody>
      </p:sp>
      <p:sp>
        <p:nvSpPr>
          <p:cNvPr id="23" name="Text 21"/>
          <p:cNvSpPr/>
          <p:nvPr/>
        </p:nvSpPr>
        <p:spPr>
          <a:xfrm>
            <a:off x="4800600" y="3081528"/>
            <a:ext cx="548640" cy="1481328"/>
          </a:xfrm>
          <a:prstGeom prst="rect">
            <a:avLst/>
          </a:prstGeom>
          <a:noFill/>
          <a:ln/>
        </p:spPr>
        <p:txBody>
          <a:bodyPr wrap="square" rtlCol="0" anchor="ctr"/>
          <a:lstStyle/>
          <a:p>
            <a:pPr marL="0" indent="0" algn="ctr">
              <a:buNone/>
            </a:pPr>
            <a:r>
              <a:rPr lang="en-US" sz="2000" b="1">
                <a:solidFill>
                  <a:srgbClr val="C9A84C"/>
                </a:solidFill>
                <a:latin typeface="Georgia" pitchFamily="34" charset="0"/>
                <a:ea typeface="Georgia" pitchFamily="34" charset="-122"/>
                <a:cs typeface="Georgia" pitchFamily="34" charset="-120"/>
              </a:rPr>
              <a:t>04</a:t>
            </a:r>
            <a:endParaRPr lang="en-US" sz="2000"/>
          </a:p>
        </p:txBody>
      </p:sp>
      <p:sp>
        <p:nvSpPr>
          <p:cNvPr id="24" name="Text 22"/>
          <p:cNvSpPr/>
          <p:nvPr/>
        </p:nvSpPr>
        <p:spPr>
          <a:xfrm>
            <a:off x="5458968" y="3191256"/>
            <a:ext cx="3337560" cy="347472"/>
          </a:xfrm>
          <a:prstGeom prst="rect">
            <a:avLst/>
          </a:prstGeom>
          <a:noFill/>
          <a:ln/>
        </p:spPr>
        <p:txBody>
          <a:bodyPr wrap="square" rtlCol="0" anchor="ctr"/>
          <a:lstStyle/>
          <a:p>
            <a:pPr marL="0" indent="0">
              <a:buNone/>
            </a:pPr>
            <a:r>
              <a:rPr lang="en-US" sz="1300" b="1">
                <a:solidFill>
                  <a:srgbClr val="C9A84C"/>
                </a:solidFill>
                <a:latin typeface="Georgia" pitchFamily="34" charset="0"/>
                <a:ea typeface="Georgia" pitchFamily="34" charset="-122"/>
                <a:cs typeface="Georgia" pitchFamily="34" charset="-120"/>
              </a:rPr>
              <a:t>Preprocessing Best Practices</a:t>
            </a:r>
            <a:endParaRPr lang="en-US" sz="1300"/>
          </a:p>
        </p:txBody>
      </p:sp>
      <p:sp>
        <p:nvSpPr>
          <p:cNvPr id="25" name="Text 23"/>
          <p:cNvSpPr/>
          <p:nvPr/>
        </p:nvSpPr>
        <p:spPr>
          <a:xfrm>
            <a:off x="5458968" y="3557016"/>
            <a:ext cx="3337560" cy="914400"/>
          </a:xfrm>
          <a:prstGeom prst="rect">
            <a:avLst/>
          </a:prstGeom>
          <a:noFill/>
          <a:ln/>
        </p:spPr>
        <p:txBody>
          <a:bodyPr wrap="square" rtlCol="0" anchor="ctr"/>
          <a:lstStyle/>
          <a:p>
            <a:pPr marL="0" indent="0">
              <a:buNone/>
            </a:pPr>
            <a:r>
              <a:rPr lang="en-US" sz="1100">
                <a:solidFill>
                  <a:srgbClr val="FFFFFF"/>
                </a:solidFill>
                <a:latin typeface="Calibri" pitchFamily="34" charset="0"/>
                <a:ea typeface="Calibri" pitchFamily="34" charset="-122"/>
                <a:cs typeface="Calibri" pitchFamily="34" charset="-120"/>
              </a:rPr>
              <a:t>Through the scaling experiment, we aim to deeply understand when and why normalization matters — a foundational skill applicable well beyond this dataset.</a:t>
            </a:r>
            <a:endParaRPr lang="en-US" sz="11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C0A14"/>
        </a:solidFill>
        <a:effectLst/>
      </p:bgPr>
    </p:bg>
    <p:spTree>
      <p:nvGrpSpPr>
        <p:cNvPr id="1" name=""/>
        <p:cNvGrpSpPr/>
        <p:nvPr/>
      </p:nvGrpSpPr>
      <p:grpSpPr>
        <a:xfrm>
          <a:off x="0" y="0"/>
          <a:ext cx="0" cy="0"/>
          <a:chOff x="0" y="0"/>
          <a:chExt cx="0" cy="0"/>
        </a:xfrm>
      </p:grpSpPr>
      <p:sp>
        <p:nvSpPr>
          <p:cNvPr id="2" name="Shape 0"/>
          <p:cNvSpPr/>
          <p:nvPr/>
        </p:nvSpPr>
        <p:spPr>
          <a:xfrm>
            <a:off x="-1371600" y="-1371600"/>
            <a:ext cx="5486400" cy="5486400"/>
          </a:xfrm>
          <a:prstGeom prst="ellipse">
            <a:avLst/>
          </a:prstGeom>
          <a:solidFill>
            <a:srgbClr val="6D1A36">
              <a:alpha val="25000"/>
            </a:srgbClr>
          </a:solidFill>
          <a:ln w="12700">
            <a:solidFill>
              <a:srgbClr val="6D1A36"/>
            </a:solidFill>
            <a:prstDash val="solid"/>
          </a:ln>
        </p:spPr>
        <p:txBody>
          <a:bodyPr/>
          <a:lstStyle/>
          <a:p>
            <a:endParaRPr lang="en-US"/>
          </a:p>
        </p:txBody>
      </p:sp>
      <p:sp>
        <p:nvSpPr>
          <p:cNvPr id="3" name="Shape 1"/>
          <p:cNvSpPr/>
          <p:nvPr/>
        </p:nvSpPr>
        <p:spPr>
          <a:xfrm>
            <a:off x="6400800" y="1828800"/>
            <a:ext cx="4572000" cy="4572000"/>
          </a:xfrm>
          <a:prstGeom prst="ellipse">
            <a:avLst/>
          </a:prstGeom>
          <a:solidFill>
            <a:srgbClr val="A83258">
              <a:alpha val="18000"/>
            </a:srgbClr>
          </a:solidFill>
          <a:ln w="12700">
            <a:solidFill>
              <a:srgbClr val="A83258"/>
            </a:solidFill>
            <a:prstDash val="solid"/>
          </a:ln>
        </p:spPr>
        <p:txBody>
          <a:bodyPr/>
          <a:lstStyle/>
          <a:p>
            <a:endParaRPr lang="en-US"/>
          </a:p>
        </p:txBody>
      </p:sp>
      <p:sp>
        <p:nvSpPr>
          <p:cNvPr id="4" name="Shape 2"/>
          <p:cNvSpPr/>
          <p:nvPr/>
        </p:nvSpPr>
        <p:spPr>
          <a:xfrm>
            <a:off x="3200400" y="3200400"/>
            <a:ext cx="2743200" cy="2743200"/>
          </a:xfrm>
          <a:prstGeom prst="ellipse">
            <a:avLst/>
          </a:prstGeom>
          <a:solidFill>
            <a:srgbClr val="C9A84C">
              <a:alpha val="12000"/>
            </a:srgbClr>
          </a:solidFill>
          <a:ln w="12700">
            <a:solidFill>
              <a:srgbClr val="C9A84C"/>
            </a:solidFill>
            <a:prstDash val="solid"/>
          </a:ln>
        </p:spPr>
        <p:txBody>
          <a:bodyPr/>
          <a:lstStyle/>
          <a:p>
            <a:endParaRPr lang="en-US"/>
          </a:p>
        </p:txBody>
      </p:sp>
      <p:sp>
        <p:nvSpPr>
          <p:cNvPr id="5" name="Text 3"/>
          <p:cNvSpPr/>
          <p:nvPr/>
        </p:nvSpPr>
        <p:spPr>
          <a:xfrm>
            <a:off x="457200" y="256032"/>
            <a:ext cx="8229600" cy="347472"/>
          </a:xfrm>
          <a:prstGeom prst="rect">
            <a:avLst/>
          </a:prstGeom>
          <a:noFill/>
          <a:ln/>
        </p:spPr>
        <p:txBody>
          <a:bodyPr wrap="square" rtlCol="0" anchor="ctr"/>
          <a:lstStyle/>
          <a:p>
            <a:pPr marL="0" indent="0" algn="ctr">
              <a:buNone/>
            </a:pPr>
            <a:r>
              <a:rPr lang="en-US" sz="900" b="1" kern="0" spc="300">
                <a:solidFill>
                  <a:srgbClr val="C9A84C"/>
                </a:solidFill>
                <a:latin typeface="Calibri" pitchFamily="34" charset="0"/>
                <a:ea typeface="Calibri" pitchFamily="34" charset="-122"/>
                <a:cs typeface="Calibri" pitchFamily="34" charset="-120"/>
              </a:rPr>
              <a:t>WINE QUALITY PREDICTION  |  PROJECT PROPOSAL</a:t>
            </a:r>
            <a:endParaRPr lang="en-US" sz="900"/>
          </a:p>
        </p:txBody>
      </p:sp>
      <p:sp>
        <p:nvSpPr>
          <p:cNvPr id="6" name="Text 4"/>
          <p:cNvSpPr/>
          <p:nvPr/>
        </p:nvSpPr>
        <p:spPr>
          <a:xfrm>
            <a:off x="457200" y="731520"/>
            <a:ext cx="8229600" cy="1188720"/>
          </a:xfrm>
          <a:prstGeom prst="rect">
            <a:avLst/>
          </a:prstGeom>
          <a:noFill/>
          <a:ln/>
        </p:spPr>
        <p:txBody>
          <a:bodyPr wrap="square" rtlCol="0" anchor="ctr"/>
          <a:lstStyle/>
          <a:p>
            <a:pPr marL="0" indent="0" algn="ctr">
              <a:buNone/>
            </a:pPr>
            <a:r>
              <a:rPr lang="en-US" sz="7200" b="1">
                <a:solidFill>
                  <a:srgbClr val="FFFFFF"/>
                </a:solidFill>
                <a:latin typeface="Georgia" pitchFamily="34" charset="0"/>
                <a:ea typeface="Georgia" pitchFamily="34" charset="-122"/>
                <a:cs typeface="Georgia" pitchFamily="34" charset="-120"/>
              </a:rPr>
              <a:t>Thank You!</a:t>
            </a:r>
            <a:endParaRPr lang="en-US" sz="7200"/>
          </a:p>
        </p:txBody>
      </p:sp>
      <p:sp>
        <p:nvSpPr>
          <p:cNvPr id="7" name="Shape 5"/>
          <p:cNvSpPr/>
          <p:nvPr/>
        </p:nvSpPr>
        <p:spPr>
          <a:xfrm>
            <a:off x="3200400" y="1938528"/>
            <a:ext cx="2743200" cy="54864"/>
          </a:xfrm>
          <a:prstGeom prst="rect">
            <a:avLst/>
          </a:prstGeom>
          <a:solidFill>
            <a:srgbClr val="C9A84C"/>
          </a:solidFill>
          <a:ln/>
        </p:spPr>
        <p:txBody>
          <a:bodyPr/>
          <a:lstStyle/>
          <a:p>
            <a:endParaRPr lang="en-US"/>
          </a:p>
        </p:txBody>
      </p:sp>
      <p:sp>
        <p:nvSpPr>
          <p:cNvPr id="8" name="Text 6"/>
          <p:cNvSpPr/>
          <p:nvPr/>
        </p:nvSpPr>
        <p:spPr>
          <a:xfrm>
            <a:off x="457200" y="2084832"/>
            <a:ext cx="8229600" cy="822960"/>
          </a:xfrm>
          <a:prstGeom prst="rect">
            <a:avLst/>
          </a:prstGeom>
          <a:noFill/>
          <a:ln/>
        </p:spPr>
        <p:txBody>
          <a:bodyPr wrap="square" rtlCol="0" anchor="ctr"/>
          <a:lstStyle/>
          <a:p>
            <a:pPr marL="0" indent="0" algn="ctr">
              <a:buNone/>
            </a:pPr>
            <a:r>
              <a:rPr lang="en-US" sz="5200" b="1">
                <a:solidFill>
                  <a:srgbClr val="C9A84C"/>
                </a:solidFill>
                <a:latin typeface="Georgia" pitchFamily="34" charset="0"/>
                <a:ea typeface="Georgia" pitchFamily="34" charset="-122"/>
                <a:cs typeface="Georgia" pitchFamily="34" charset="-120"/>
              </a:rPr>
              <a:t>Q &amp; A</a:t>
            </a:r>
            <a:endParaRPr lang="en-US" sz="5200"/>
          </a:p>
        </p:txBody>
      </p:sp>
      <p:sp>
        <p:nvSpPr>
          <p:cNvPr id="9" name="Text 7"/>
          <p:cNvSpPr/>
          <p:nvPr/>
        </p:nvSpPr>
        <p:spPr>
          <a:xfrm>
            <a:off x="1371600" y="2944368"/>
            <a:ext cx="6400800" cy="384048"/>
          </a:xfrm>
          <a:prstGeom prst="rect">
            <a:avLst/>
          </a:prstGeom>
          <a:noFill/>
          <a:ln/>
        </p:spPr>
        <p:txBody>
          <a:bodyPr wrap="square" rtlCol="0" anchor="ctr"/>
          <a:lstStyle/>
          <a:p>
            <a:pPr marL="0" indent="0" algn="ctr">
              <a:buNone/>
            </a:pPr>
            <a:r>
              <a:rPr lang="en-US" sz="1400" i="1">
                <a:solidFill>
                  <a:srgbClr val="EDD5DE"/>
                </a:solidFill>
                <a:latin typeface="Calibri" pitchFamily="34" charset="0"/>
                <a:ea typeface="Calibri" pitchFamily="34" charset="-122"/>
                <a:cs typeface="Calibri" pitchFamily="34" charset="-120"/>
              </a:rPr>
              <a:t>We welcome your questions and feedback.</a:t>
            </a:r>
            <a:endParaRPr lang="en-US" sz="1400"/>
          </a:p>
        </p:txBody>
      </p:sp>
      <p:sp>
        <p:nvSpPr>
          <p:cNvPr id="10" name="Shape 8"/>
          <p:cNvSpPr/>
          <p:nvPr/>
        </p:nvSpPr>
        <p:spPr>
          <a:xfrm>
            <a:off x="274320" y="3520440"/>
            <a:ext cx="8595360" cy="54864"/>
          </a:xfrm>
          <a:prstGeom prst="rect">
            <a:avLst/>
          </a:prstGeom>
          <a:solidFill>
            <a:srgbClr val="6D1A36"/>
          </a:solidFill>
          <a:ln/>
        </p:spPr>
        <p:txBody>
          <a:bodyPr/>
          <a:lstStyle/>
          <a:p>
            <a:endParaRPr lang="en-US"/>
          </a:p>
        </p:txBody>
      </p:sp>
      <p:sp>
        <p:nvSpPr>
          <p:cNvPr id="11" name="Text 9"/>
          <p:cNvSpPr/>
          <p:nvPr/>
        </p:nvSpPr>
        <p:spPr>
          <a:xfrm>
            <a:off x="274320" y="3657600"/>
            <a:ext cx="914400" cy="274320"/>
          </a:xfrm>
          <a:prstGeom prst="rect">
            <a:avLst/>
          </a:prstGeom>
          <a:noFill/>
          <a:ln/>
        </p:spPr>
        <p:txBody>
          <a:bodyPr wrap="square" rtlCol="0" anchor="ctr"/>
          <a:lstStyle/>
          <a:p>
            <a:pPr marL="0" indent="0">
              <a:buNone/>
            </a:pPr>
            <a:r>
              <a:rPr lang="en-US" sz="900" b="1" kern="0" spc="200">
                <a:solidFill>
                  <a:srgbClr val="C9A84C"/>
                </a:solidFill>
                <a:latin typeface="Calibri" pitchFamily="34" charset="0"/>
                <a:ea typeface="Calibri" pitchFamily="34" charset="-122"/>
                <a:cs typeface="Calibri" pitchFamily="34" charset="-120"/>
              </a:rPr>
              <a:t>TEAM</a:t>
            </a:r>
            <a:endParaRPr lang="en-US" sz="900"/>
          </a:p>
        </p:txBody>
      </p:sp>
      <p:sp>
        <p:nvSpPr>
          <p:cNvPr id="12" name="Text 10"/>
          <p:cNvSpPr/>
          <p:nvPr/>
        </p:nvSpPr>
        <p:spPr>
          <a:xfrm>
            <a:off x="1097280" y="3657600"/>
            <a:ext cx="1920240" cy="274320"/>
          </a:xfrm>
          <a:prstGeom prst="rect">
            <a:avLst/>
          </a:prstGeom>
          <a:noFill/>
          <a:ln/>
        </p:spPr>
        <p:txBody>
          <a:bodyPr wrap="square" rtlCol="0" anchor="ctr"/>
          <a:lstStyle/>
          <a:p>
            <a:pPr marL="0" indent="0">
              <a:buNone/>
            </a:pPr>
            <a:r>
              <a:rPr lang="en-US" sz="1200" b="1">
                <a:solidFill>
                  <a:srgbClr val="FFFFFF"/>
                </a:solidFill>
                <a:latin typeface="Calibri" pitchFamily="34" charset="0"/>
                <a:ea typeface="Calibri" pitchFamily="34" charset="-122"/>
                <a:cs typeface="Calibri" pitchFamily="34" charset="-120"/>
              </a:rPr>
              <a:t>• Ashish Gole</a:t>
            </a:r>
            <a:endParaRPr lang="en-US" sz="1200"/>
          </a:p>
        </p:txBody>
      </p:sp>
      <p:sp>
        <p:nvSpPr>
          <p:cNvPr id="13" name="Text 11"/>
          <p:cNvSpPr/>
          <p:nvPr/>
        </p:nvSpPr>
        <p:spPr>
          <a:xfrm>
            <a:off x="3090672" y="3657600"/>
            <a:ext cx="1920240" cy="274320"/>
          </a:xfrm>
          <a:prstGeom prst="rect">
            <a:avLst/>
          </a:prstGeom>
          <a:noFill/>
          <a:ln/>
        </p:spPr>
        <p:txBody>
          <a:bodyPr wrap="square" rtlCol="0" anchor="ctr"/>
          <a:lstStyle/>
          <a:p>
            <a:pPr marL="0" indent="0">
              <a:buNone/>
            </a:pPr>
            <a:r>
              <a:rPr lang="en-US" sz="1200" b="1">
                <a:solidFill>
                  <a:srgbClr val="FFFFFF"/>
                </a:solidFill>
                <a:latin typeface="Calibri" pitchFamily="34" charset="0"/>
                <a:ea typeface="Calibri" pitchFamily="34" charset="-122"/>
                <a:cs typeface="Calibri" pitchFamily="34" charset="-120"/>
              </a:rPr>
              <a:t>• Siddhi Retharekar</a:t>
            </a:r>
            <a:endParaRPr lang="en-US" sz="1200"/>
          </a:p>
        </p:txBody>
      </p:sp>
      <p:sp>
        <p:nvSpPr>
          <p:cNvPr id="14" name="Text 12"/>
          <p:cNvSpPr/>
          <p:nvPr/>
        </p:nvSpPr>
        <p:spPr>
          <a:xfrm>
            <a:off x="5084064" y="3657600"/>
            <a:ext cx="1920240" cy="274320"/>
          </a:xfrm>
          <a:prstGeom prst="rect">
            <a:avLst/>
          </a:prstGeom>
          <a:noFill/>
          <a:ln/>
        </p:spPr>
        <p:txBody>
          <a:bodyPr wrap="square" rtlCol="0" anchor="ctr"/>
          <a:lstStyle/>
          <a:p>
            <a:pPr marL="0" indent="0">
              <a:buNone/>
            </a:pPr>
            <a:r>
              <a:rPr lang="en-US" sz="1200" b="1">
                <a:solidFill>
                  <a:srgbClr val="FFFFFF"/>
                </a:solidFill>
                <a:latin typeface="Calibri" pitchFamily="34" charset="0"/>
                <a:ea typeface="Calibri" pitchFamily="34" charset="-122"/>
                <a:cs typeface="Calibri" pitchFamily="34" charset="-120"/>
              </a:rPr>
              <a:t>• Sanyami Naik</a:t>
            </a:r>
            <a:endParaRPr lang="en-US" sz="1200"/>
          </a:p>
        </p:txBody>
      </p:sp>
      <p:sp>
        <p:nvSpPr>
          <p:cNvPr id="15" name="Text 13"/>
          <p:cNvSpPr/>
          <p:nvPr/>
        </p:nvSpPr>
        <p:spPr>
          <a:xfrm>
            <a:off x="7077456" y="3657600"/>
            <a:ext cx="1920240" cy="274320"/>
          </a:xfrm>
          <a:prstGeom prst="rect">
            <a:avLst/>
          </a:prstGeom>
          <a:noFill/>
          <a:ln/>
        </p:spPr>
        <p:txBody>
          <a:bodyPr wrap="square" rtlCol="0" anchor="ctr"/>
          <a:lstStyle/>
          <a:p>
            <a:pPr marL="0" indent="0">
              <a:buNone/>
            </a:pPr>
            <a:r>
              <a:rPr lang="en-US" sz="1200" b="1">
                <a:solidFill>
                  <a:srgbClr val="FFFFFF"/>
                </a:solidFill>
                <a:latin typeface="Calibri" pitchFamily="34" charset="0"/>
                <a:ea typeface="Calibri" pitchFamily="34" charset="-122"/>
                <a:cs typeface="Calibri" pitchFamily="34" charset="-120"/>
              </a:rPr>
              <a:t>• Nirmal Attarde</a:t>
            </a:r>
            <a:endParaRPr lang="en-US" sz="1200"/>
          </a:p>
        </p:txBody>
      </p:sp>
      <p:sp>
        <p:nvSpPr>
          <p:cNvPr id="16" name="Shape 14"/>
          <p:cNvSpPr/>
          <p:nvPr/>
        </p:nvSpPr>
        <p:spPr>
          <a:xfrm>
            <a:off x="0" y="4846320"/>
            <a:ext cx="9144000" cy="297180"/>
          </a:xfrm>
          <a:prstGeom prst="rect">
            <a:avLst/>
          </a:prstGeom>
          <a:solidFill>
            <a:srgbClr val="6D1A36"/>
          </a:solidFill>
          <a:ln/>
        </p:spPr>
        <p:txBody>
          <a:bodyPr/>
          <a:lstStyle/>
          <a:p>
            <a:endParaRPr lang="en-US"/>
          </a:p>
        </p:txBody>
      </p:sp>
      <p:sp>
        <p:nvSpPr>
          <p:cNvPr id="17" name="Text 15"/>
          <p:cNvSpPr/>
          <p:nvPr/>
        </p:nvSpPr>
        <p:spPr>
          <a:xfrm>
            <a:off x="274320" y="4864608"/>
            <a:ext cx="8595360" cy="256032"/>
          </a:xfrm>
          <a:prstGeom prst="rect">
            <a:avLst/>
          </a:prstGeom>
          <a:noFill/>
          <a:ln/>
        </p:spPr>
        <p:txBody>
          <a:bodyPr wrap="square" rtlCol="0" anchor="ctr"/>
          <a:lstStyle/>
          <a:p>
            <a:pPr algn="ctr"/>
            <a:r>
              <a:rPr lang="en-US" sz="900">
                <a:solidFill>
                  <a:srgbClr val="FFFFFF"/>
                </a:solidFill>
                <a:latin typeface="Calibri" pitchFamily="34" charset="0"/>
                <a:ea typeface="Calibri" pitchFamily="34" charset="-122"/>
                <a:cs typeface="Calibri" pitchFamily="34" charset="-120"/>
              </a:rPr>
              <a:t>Wine Quality Prediction  |  Project Proposal  | IS 407 - Introduction to Data Science</a:t>
            </a:r>
            <a:endParaRPr lang="en-US" sz="90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On-screen Show (16:9)</PresentationFormat>
  <Slides>8</Slides>
  <Notes>8</Notes>
  <HiddenSlides>0</HiddenSlides>
  <ScaleCrop>false</ScaleCrop>
  <HeadingPairs>
    <vt:vector size="4" baseType="variant">
      <vt:variant>
        <vt:lpstr>Theme</vt:lpstr>
      </vt:variant>
      <vt:variant>
        <vt:i4>1</vt:i4>
      </vt:variant>
      <vt:variant>
        <vt:lpstr>Slide Titles</vt:lpstr>
      </vt:variant>
      <vt:variant>
        <vt:i4>8</vt:i4>
      </vt:variant>
    </vt:vector>
  </HeadingPairs>
  <TitlesOfParts>
    <vt:vector size="9"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Wine Quality Prediction - Project Proposal</dc:title>
  <dc:subject>PptxGenJS Presentation</dc:subject>
  <dc:creator>PptxGenJS</dc:creator>
  <cp:revision>1</cp:revision>
  <dcterms:created xsi:type="dcterms:W3CDTF">2026-03-22T21:44:47Z</dcterms:created>
  <dcterms:modified xsi:type="dcterms:W3CDTF">2026-03-30T17:57:18Z</dcterms:modified>
</cp:coreProperties>
</file>