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4" d="100"/>
          <a:sy n="164" d="100"/>
        </p:scale>
        <p:origin x="312"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82192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everyone. I'm [Name], and together with my teammates Ashish Gole, Siddhi Retharekar, Sanyami Naik, and Nirmal Attarde, we're presenting the final results of our IS 407 project — Wine Quality Prediction Using Machine Learning. In our proposal, we set out to predict whether a red wine is High or Low quality based purely on its chemical properties, using four different ML models. Today we're here to share what we found, answer our four research questions, and validate the hypotheses we stated in the proposal. Let's dive in.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getting into results, let me quickly recap what we did. Our objective was to classify 1,143 red wine samples from the WineQT Kaggle dataset into binary quality labels — High quality for scores 6 and above, and Low quality for scores 5 and below — using 11 physicochemical features. Our pipeline had five stages: data loading and EDA, preprocessing where we dropped the Id column and binarized the quality target, feature scaling with StandardScaler fitted only on training data to prevent data leakage, model training on all four classifiers, and finally evaluation with feature importance and scaling experiments. The dataset is nearly balanced — 522 Low quality and 621 High quality samples — which is good news for model training.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Starting with exploratory data analysis. The quality scores range from 3 to 8, with scores 5 and 6 together making up over 82% of all samples. This creates a challenge for classification because our binarization threshold sits right at the 5-6 boundary — the densest region of the data. Many samples near this boundary are genuinely hard to distinguish. After binarizing, we ended up with 522 Low quality samples at 45.7% and 621 High quality samples at 54.3% — a near-balanced split with no major class imbalance issues, so we did not need to apply techniques like SMOTE or class weighting.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 looked at correlations and feature trends. The heatmap on the left shows that Fixed Acidity and Density are strongly positively correlated at plus 0.68, while Fixed Acidity and pH are strongly negatively correlated at minus 0.69 — both chemically intuitive. The boxplots on the right are very informative. Alcohol rises monotonically with quality — wines scoring 8 have a median alcohol of nearly 12% versus about 9.9% for score 5. Volatile Acidity follows the opposite trend — it falls as quality increases. These clear trends gave us strong early evidence before any model training that chemistry does carry a meaningful signal for quality prediction.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2 — which chemical features most influence predictions. We used two methods: Random Forest's Mean Decrease in Impurity on the left, and Logistic Regression's coefficient magnitudes on the right. Both models agree that Alcohol is the number one predictor — scoring 0.1910 in Random Forest and 0.9511 in Logistic Regression. After alcohol, the models differ slightly: Random Forest ranks Sulphates second at 0.1350, then Volatile Acidity third. Logistic Regression puts Volatile Acidity second with a negative coefficient, meaning higher volatile acidity predicts lower quality, and Sulphates third. Our hypothesis was that Alcohol and Volatile Acidity would be top-2 in both models — we got a partial result. Alcohol is universally number one, but Sulphates displaced Volatile Acidity to second place in the Random Forest ranking.</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3 — which model performs best. The results are clear: Random Forest takes the top spot with 77.29% accuracy and a macro F1 of 0.771. Logistic Regression comes in a very close second at 76.86% — only 0.43 percentage points behind. KNN is third at 72.49%, and Decision Tree is last at 68.12%. This confirms Hypothesis 3 that Random Forest would win. However, what's noteworthy is how competitive Logistic Regression is despite being a much simpler linear model. This tells us the relationship between chemical features and quality has a strong linear component. All four models beat the 50% random baseline by at least 18 percentage points, and the best model exceeds it by over 27 percentage points.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Digging deeper into the F1 analysis for Research Question 3. The most important observation here is that all four models predict High quality wines better than Low quality wines. For Random Forest, F1 for High quality is 0.792 versus 0.750 for Low quality. This asymmetry exists because there are more High quality samples in the test set — 127 versus 102 — giving models more training signal. High quality wines also tend to have more distinctive chemical profiles, making them easier to classify. A key takeaway: the gap between Random Forest and Logistic Regression in F1 is essentially negligible at just 0.001. In a real production setting, you might actually prefer Logistic Regression for its interpretability, speed, and near-equivalent performance.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Question 4 — impact of feature scaling. We trained each model twice: once on raw unscaled data and once on StandardScaler normalized data. Tree-based models — Random Forest and Decision Tree — show exactly zero change with scaling, as expected, because tree splits are based on rank order of values rather than absolute magnitude. Logistic Regression also showed no change here, which was somewhat surprising since it is theoretically sensitive to feature scale. This likely happened because our features converged within the 1000 iteration limit even without scaling. KNN, however, improved by 5.24 percentage points — from 67.25% to 72.49% — with scaling applied. This is exactly what we predicted: KNN calculates Euclidean distances, so features with large ranges like Fixed Acidity would dominate without normalization. Our hypothesis was partially confirmed.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Answering Research Question 1 directly — can chemistry alone predict wine quality. The answer is a clear YES. Every single model beats the 50% random baseline by a significant margin. Random Forest achieves plus 27.29% above baseline, Logistic Regression plus 26.86%, KNN plus 22.49%, and even Decision Tree beats baseline by plus 18.12%. However, we should be honest about what 77.29% accuracy means: roughly 1 in 4 predictions is still wrong. Chemistry captures the dominant signal, but unmeasured factors — such as grape variety, vintage year, winemaking technique, and barrel aging — likely explain the remaining error. The 9 percentage point gap between best and worst model also shows that model choice matters significantly.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formally validate all four hypotheses from our proposal. Hypothesis 1 — all models beat the 50% baseline — is fully SUPPORTED. Every model exceeded 68%, well above 50%. Hypothesis 2 — Alcohol and Volatile Acidity are top-2 in both models — is PARTIAL. Alcohol is number one in both, but Random Forest ranked Sulphates second rather than Volatile Acidity. Hypothesis 3 — Random Forest achieves the highest accuracy — is fully SUPPORTED at 77.29%, though Logistic Regression was extremely close. Hypothesis 4 — scaling boosts both KNN and Logistic Regression — is PARTIAL. KNN improved by 5.24% as predicted, but Logistic Regression showed zero change, which was unexpected. Overall: 2 hypotheses fully confirmed, 2 partially confirmed.</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wrap up our final results. Best accuracy: 77.29% by Random Forest. Top feature across both models: Alcohol content. Biggest impact from scaling: KNN with plus 5.24% boost. Hypothesis scorecard: 3 out of 4 confirmed, either fully or partially. What did we learn? We gained genuine hands-on experience with a full end-to-end ML pipeline. We developed model selection intuition — understanding when a simple linear model can match a complex ensemble. We connected chemical domain knowledge to ML feature importance. And we understood when preprocessing choices matter and when they don't. Every goal we set in the project proposal has been achieved. This project demonstrated that the chemistry of wine carries real predictive power for quality classification.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that concludes our final project presentation for Wine Quality Prediction. To summarize in three sentences: red wine quality can be predicted from chemical properties alone with up to 77.29% accuracy; Random Forest was the best model but Logistic Regression matched it within 0.43%; and alcohol content is the single most important chemical predictor across all models. Thank you all for your attention. We're happy to take any questions about our methodology, results, or anything else.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0A14"/>
        </a:solidFill>
        <a:effectLst/>
      </p:bgPr>
    </p:bg>
    <p:spTree>
      <p:nvGrpSpPr>
        <p:cNvPr id="1" name=""/>
        <p:cNvGrpSpPr/>
        <p:nvPr/>
      </p:nvGrpSpPr>
      <p:grpSpPr>
        <a:xfrm>
          <a:off x="0" y="0"/>
          <a:ext cx="0" cy="0"/>
          <a:chOff x="0" y="0"/>
          <a:chExt cx="0" cy="0"/>
        </a:xfrm>
      </p:grpSpPr>
      <p:sp>
        <p:nvSpPr>
          <p:cNvPr id="2" name="Shape 0"/>
          <p:cNvSpPr/>
          <p:nvPr/>
        </p:nvSpPr>
        <p:spPr>
          <a:xfrm>
            <a:off x="0" y="0"/>
            <a:ext cx="201168" cy="5143500"/>
          </a:xfrm>
          <a:prstGeom prst="rect">
            <a:avLst/>
          </a:prstGeom>
          <a:solidFill>
            <a:srgbClr val="6D1A36"/>
          </a:solidFill>
          <a:ln/>
        </p:spPr>
        <p:txBody>
          <a:bodyPr/>
          <a:lstStyle/>
          <a:p>
            <a:endParaRPr lang="en-US"/>
          </a:p>
        </p:txBody>
      </p:sp>
      <p:sp>
        <p:nvSpPr>
          <p:cNvPr id="3" name="Shape 1"/>
          <p:cNvSpPr/>
          <p:nvPr/>
        </p:nvSpPr>
        <p:spPr>
          <a:xfrm>
            <a:off x="5943600" y="-1097280"/>
            <a:ext cx="5029200" cy="5029200"/>
          </a:xfrm>
          <a:prstGeom prst="ellipse">
            <a:avLst/>
          </a:prstGeom>
          <a:solidFill>
            <a:srgbClr val="6D1A36">
              <a:alpha val="25000"/>
            </a:srgbClr>
          </a:solidFill>
          <a:ln w="12700">
            <a:solidFill>
              <a:srgbClr val="6D1A36"/>
            </a:solidFill>
            <a:prstDash val="solid"/>
          </a:ln>
        </p:spPr>
        <p:txBody>
          <a:bodyPr/>
          <a:lstStyle/>
          <a:p>
            <a:endParaRPr lang="en-US"/>
          </a:p>
        </p:txBody>
      </p:sp>
      <p:sp>
        <p:nvSpPr>
          <p:cNvPr id="4" name="Shape 2"/>
          <p:cNvSpPr/>
          <p:nvPr/>
        </p:nvSpPr>
        <p:spPr>
          <a:xfrm>
            <a:off x="6583680" y="-457200"/>
            <a:ext cx="3657600" cy="3657600"/>
          </a:xfrm>
          <a:prstGeom prst="ellipse">
            <a:avLst/>
          </a:prstGeom>
          <a:solidFill>
            <a:srgbClr val="A83258">
              <a:alpha val="20000"/>
            </a:srgbClr>
          </a:solidFill>
          <a:ln w="12700">
            <a:solidFill>
              <a:srgbClr val="A83258"/>
            </a:solidFill>
            <a:prstDash val="solid"/>
          </a:ln>
        </p:spPr>
        <p:txBody>
          <a:bodyPr/>
          <a:lstStyle/>
          <a:p>
            <a:endParaRPr lang="en-US"/>
          </a:p>
        </p:txBody>
      </p:sp>
      <p:sp>
        <p:nvSpPr>
          <p:cNvPr id="5" name="Shape 3"/>
          <p:cNvSpPr/>
          <p:nvPr/>
        </p:nvSpPr>
        <p:spPr>
          <a:xfrm>
            <a:off x="502920" y="1536192"/>
            <a:ext cx="1371600" cy="54864"/>
          </a:xfrm>
          <a:prstGeom prst="rect">
            <a:avLst/>
          </a:prstGeom>
          <a:solidFill>
            <a:srgbClr val="C9A84C"/>
          </a:solidFill>
          <a:ln/>
        </p:spPr>
        <p:txBody>
          <a:bodyPr/>
          <a:lstStyle/>
          <a:p>
            <a:endParaRPr lang="en-US"/>
          </a:p>
        </p:txBody>
      </p:sp>
      <p:sp>
        <p:nvSpPr>
          <p:cNvPr id="6" name="Text 4"/>
          <p:cNvSpPr/>
          <p:nvPr/>
        </p:nvSpPr>
        <p:spPr>
          <a:xfrm>
            <a:off x="502920" y="1170432"/>
            <a:ext cx="6400800" cy="320040"/>
          </a:xfrm>
          <a:prstGeom prst="rect">
            <a:avLst/>
          </a:prstGeom>
          <a:noFill/>
          <a:ln/>
        </p:spPr>
        <p:txBody>
          <a:bodyPr wrap="square" lIns="0" tIns="0" rIns="0" bIns="0" rtlCol="0" anchor="ctr"/>
          <a:lstStyle/>
          <a:p>
            <a:pPr marL="0" indent="0">
              <a:buNone/>
            </a:pPr>
            <a:r>
              <a:rPr lang="en-US" sz="1000" b="1" kern="0" spc="400" dirty="0">
                <a:solidFill>
                  <a:srgbClr val="C9A84C"/>
                </a:solidFill>
                <a:latin typeface="Calibri" pitchFamily="34" charset="0"/>
                <a:ea typeface="Calibri" pitchFamily="34" charset="-122"/>
                <a:cs typeface="Calibri" pitchFamily="34" charset="-120"/>
              </a:rPr>
              <a:t>FINAL PROJECT PRESENTATION</a:t>
            </a:r>
            <a:endParaRPr lang="en-US" sz="1000" dirty="0"/>
          </a:p>
        </p:txBody>
      </p:sp>
      <p:sp>
        <p:nvSpPr>
          <p:cNvPr id="7" name="Text 5"/>
          <p:cNvSpPr/>
          <p:nvPr/>
        </p:nvSpPr>
        <p:spPr>
          <a:xfrm>
            <a:off x="502920" y="1664208"/>
            <a:ext cx="7772400" cy="1828800"/>
          </a:xfrm>
          <a:prstGeom prst="rect">
            <a:avLst/>
          </a:prstGeom>
          <a:noFill/>
          <a:ln/>
        </p:spPr>
        <p:txBody>
          <a:bodyPr wrap="square" rtlCol="0" anchor="ctr"/>
          <a:lstStyle/>
          <a:p>
            <a:pPr marL="0" indent="0">
              <a:lnSpc>
                <a:spcPct val="110000"/>
              </a:lnSpc>
              <a:buNone/>
            </a:pPr>
            <a:r>
              <a:rPr lang="en-US" sz="5200" b="1" dirty="0">
                <a:solidFill>
                  <a:srgbClr val="FFFFFF"/>
                </a:solidFill>
                <a:latin typeface="Georgia" pitchFamily="34" charset="0"/>
                <a:ea typeface="Georgia" pitchFamily="34" charset="-122"/>
                <a:cs typeface="Georgia" pitchFamily="34" charset="-120"/>
              </a:rPr>
              <a:t>Wine Quality</a:t>
            </a:r>
            <a:endParaRPr lang="en-US" sz="5200" dirty="0"/>
          </a:p>
          <a:p>
            <a:pPr marL="0" indent="0">
              <a:lnSpc>
                <a:spcPct val="110000"/>
              </a:lnSpc>
              <a:buNone/>
            </a:pPr>
            <a:r>
              <a:rPr lang="en-US" sz="5200" b="1" dirty="0">
                <a:solidFill>
                  <a:srgbClr val="FFFFFF"/>
                </a:solidFill>
                <a:latin typeface="Georgia" pitchFamily="34" charset="0"/>
                <a:ea typeface="Georgia" pitchFamily="34" charset="-122"/>
                <a:cs typeface="Georgia" pitchFamily="34" charset="-120"/>
              </a:rPr>
              <a:t>Prediction</a:t>
            </a:r>
            <a:endParaRPr lang="en-US" sz="5200" dirty="0"/>
          </a:p>
        </p:txBody>
      </p:sp>
      <p:sp>
        <p:nvSpPr>
          <p:cNvPr id="8" name="Text 6"/>
          <p:cNvSpPr/>
          <p:nvPr/>
        </p:nvSpPr>
        <p:spPr>
          <a:xfrm>
            <a:off x="502920" y="3456432"/>
            <a:ext cx="6858000" cy="347472"/>
          </a:xfrm>
          <a:prstGeom prst="rect">
            <a:avLst/>
          </a:prstGeom>
          <a:noFill/>
          <a:ln/>
        </p:spPr>
        <p:txBody>
          <a:bodyPr wrap="square" rtlCol="0" anchor="ctr"/>
          <a:lstStyle/>
          <a:p>
            <a:pPr marL="0" indent="0">
              <a:buNone/>
            </a:pPr>
            <a:r>
              <a:rPr lang="en-US" sz="1400" i="1" dirty="0">
                <a:solidFill>
                  <a:srgbClr val="EDD5DE"/>
                </a:solidFill>
                <a:latin typeface="Calibri" pitchFamily="34" charset="0"/>
                <a:ea typeface="Calibri" pitchFamily="34" charset="-122"/>
                <a:cs typeface="Calibri" pitchFamily="34" charset="-120"/>
              </a:rPr>
              <a:t>Results, Findings &amp; Hypothesis Validation</a:t>
            </a:r>
            <a:endParaRPr lang="en-US" sz="1400" dirty="0"/>
          </a:p>
        </p:txBody>
      </p:sp>
      <p:sp>
        <p:nvSpPr>
          <p:cNvPr id="9" name="Text 7"/>
          <p:cNvSpPr/>
          <p:nvPr/>
        </p:nvSpPr>
        <p:spPr>
          <a:xfrm>
            <a:off x="502920" y="3895344"/>
            <a:ext cx="2743200" cy="256032"/>
          </a:xfrm>
          <a:prstGeom prst="rect">
            <a:avLst/>
          </a:prstGeom>
          <a:noFill/>
          <a:ln/>
        </p:spPr>
        <p:txBody>
          <a:bodyPr wrap="square" lIns="0" tIns="0" rIns="0" bIns="0" rtlCol="0" anchor="ctr"/>
          <a:lstStyle/>
          <a:p>
            <a:pPr marL="0" indent="0">
              <a:buNone/>
            </a:pPr>
            <a:r>
              <a:rPr lang="en-US" sz="900" b="1" kern="0" spc="300" dirty="0">
                <a:solidFill>
                  <a:srgbClr val="C9A84C"/>
                </a:solidFill>
                <a:latin typeface="Calibri" pitchFamily="34" charset="0"/>
                <a:ea typeface="Calibri" pitchFamily="34" charset="-122"/>
                <a:cs typeface="Calibri" pitchFamily="34" charset="-120"/>
              </a:rPr>
              <a:t>TEAM MEMBERS</a:t>
            </a:r>
            <a:endParaRPr lang="en-US" sz="900" dirty="0"/>
          </a:p>
        </p:txBody>
      </p:sp>
      <p:sp>
        <p:nvSpPr>
          <p:cNvPr id="10" name="Shape 8"/>
          <p:cNvSpPr/>
          <p:nvPr/>
        </p:nvSpPr>
        <p:spPr>
          <a:xfrm>
            <a:off x="502920" y="4187952"/>
            <a:ext cx="1938528" cy="347472"/>
          </a:xfrm>
          <a:prstGeom prst="rect">
            <a:avLst/>
          </a:prstGeom>
          <a:solidFill>
            <a:srgbClr val="6D1A36"/>
          </a:solidFill>
          <a:ln/>
        </p:spPr>
        <p:txBody>
          <a:bodyPr/>
          <a:lstStyle/>
          <a:p>
            <a:endParaRPr lang="en-US"/>
          </a:p>
        </p:txBody>
      </p:sp>
      <p:sp>
        <p:nvSpPr>
          <p:cNvPr id="11" name="Text 9"/>
          <p:cNvSpPr/>
          <p:nvPr/>
        </p:nvSpPr>
        <p:spPr>
          <a:xfrm>
            <a:off x="502920" y="4187952"/>
            <a:ext cx="1938528"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Ashish Gole</a:t>
            </a:r>
            <a:endParaRPr lang="en-US" sz="1100" dirty="0"/>
          </a:p>
        </p:txBody>
      </p:sp>
      <p:sp>
        <p:nvSpPr>
          <p:cNvPr id="12" name="Shape 10"/>
          <p:cNvSpPr/>
          <p:nvPr/>
        </p:nvSpPr>
        <p:spPr>
          <a:xfrm>
            <a:off x="2606040" y="4187952"/>
            <a:ext cx="1938528" cy="347472"/>
          </a:xfrm>
          <a:prstGeom prst="rect">
            <a:avLst/>
          </a:prstGeom>
          <a:solidFill>
            <a:srgbClr val="6D1A36"/>
          </a:solidFill>
          <a:ln/>
        </p:spPr>
        <p:txBody>
          <a:bodyPr/>
          <a:lstStyle/>
          <a:p>
            <a:endParaRPr lang="en-US"/>
          </a:p>
        </p:txBody>
      </p:sp>
      <p:sp>
        <p:nvSpPr>
          <p:cNvPr id="13" name="Text 11"/>
          <p:cNvSpPr/>
          <p:nvPr/>
        </p:nvSpPr>
        <p:spPr>
          <a:xfrm>
            <a:off x="2606040" y="4187952"/>
            <a:ext cx="1938528"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Siddhi Retharekar</a:t>
            </a:r>
            <a:endParaRPr lang="en-US" sz="1100" dirty="0"/>
          </a:p>
        </p:txBody>
      </p:sp>
      <p:sp>
        <p:nvSpPr>
          <p:cNvPr id="14" name="Shape 12"/>
          <p:cNvSpPr/>
          <p:nvPr/>
        </p:nvSpPr>
        <p:spPr>
          <a:xfrm>
            <a:off x="4709160" y="4187952"/>
            <a:ext cx="1938528" cy="347472"/>
          </a:xfrm>
          <a:prstGeom prst="rect">
            <a:avLst/>
          </a:prstGeom>
          <a:solidFill>
            <a:srgbClr val="6D1A36"/>
          </a:solidFill>
          <a:ln/>
        </p:spPr>
        <p:txBody>
          <a:bodyPr/>
          <a:lstStyle/>
          <a:p>
            <a:endParaRPr lang="en-US"/>
          </a:p>
        </p:txBody>
      </p:sp>
      <p:sp>
        <p:nvSpPr>
          <p:cNvPr id="15" name="Text 13"/>
          <p:cNvSpPr/>
          <p:nvPr/>
        </p:nvSpPr>
        <p:spPr>
          <a:xfrm>
            <a:off x="4709160" y="4187952"/>
            <a:ext cx="1938528"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Sanyami Naik</a:t>
            </a:r>
            <a:endParaRPr lang="en-US" sz="1100" dirty="0"/>
          </a:p>
        </p:txBody>
      </p:sp>
      <p:sp>
        <p:nvSpPr>
          <p:cNvPr id="16" name="Shape 14"/>
          <p:cNvSpPr/>
          <p:nvPr/>
        </p:nvSpPr>
        <p:spPr>
          <a:xfrm>
            <a:off x="6812280" y="4187952"/>
            <a:ext cx="1938528" cy="347472"/>
          </a:xfrm>
          <a:prstGeom prst="rect">
            <a:avLst/>
          </a:prstGeom>
          <a:solidFill>
            <a:srgbClr val="6D1A36"/>
          </a:solidFill>
          <a:ln/>
        </p:spPr>
        <p:txBody>
          <a:bodyPr/>
          <a:lstStyle/>
          <a:p>
            <a:endParaRPr lang="en-US"/>
          </a:p>
        </p:txBody>
      </p:sp>
      <p:sp>
        <p:nvSpPr>
          <p:cNvPr id="17" name="Text 15"/>
          <p:cNvSpPr/>
          <p:nvPr/>
        </p:nvSpPr>
        <p:spPr>
          <a:xfrm>
            <a:off x="6812280" y="4187952"/>
            <a:ext cx="1938528" cy="34747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Nirmal Attarde</a:t>
            </a:r>
            <a:endParaRPr lang="en-US" sz="1100" dirty="0"/>
          </a:p>
        </p:txBody>
      </p:sp>
      <p:sp>
        <p:nvSpPr>
          <p:cNvPr id="18" name="Shape 16"/>
          <p:cNvSpPr/>
          <p:nvPr/>
        </p:nvSpPr>
        <p:spPr>
          <a:xfrm>
            <a:off x="0" y="4663440"/>
            <a:ext cx="9144000" cy="480060"/>
          </a:xfrm>
          <a:prstGeom prst="rect">
            <a:avLst/>
          </a:prstGeom>
          <a:solidFill>
            <a:srgbClr val="6D1A36"/>
          </a:solidFill>
          <a:ln/>
        </p:spPr>
        <p:txBody>
          <a:bodyPr/>
          <a:lstStyle/>
          <a:p>
            <a:endParaRPr lang="en-US"/>
          </a:p>
        </p:txBody>
      </p:sp>
      <p:sp>
        <p:nvSpPr>
          <p:cNvPr id="19" name="Text 17"/>
          <p:cNvSpPr/>
          <p:nvPr/>
        </p:nvSpPr>
        <p:spPr>
          <a:xfrm>
            <a:off x="274320" y="4681728"/>
            <a:ext cx="8686800" cy="41148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Dataset: WineQT.csv (Kaggle)  |  Framework: Python &amp; Scikit-learn  |  IS 407 - Introduction to Data Science</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PROJECT RECAP &amp; PIPELINE</a:t>
            </a:r>
            <a:endParaRPr lang="en-US" sz="2200" dirty="0"/>
          </a:p>
        </p:txBody>
      </p:sp>
      <p:sp>
        <p:nvSpPr>
          <p:cNvPr id="4" name="Shape 2"/>
          <p:cNvSpPr/>
          <p:nvPr/>
        </p:nvSpPr>
        <p:spPr>
          <a:xfrm>
            <a:off x="274320" y="960120"/>
            <a:ext cx="8595360" cy="9144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5" name="Shape 3"/>
          <p:cNvSpPr/>
          <p:nvPr/>
        </p:nvSpPr>
        <p:spPr>
          <a:xfrm>
            <a:off x="274320" y="960120"/>
            <a:ext cx="109728" cy="914400"/>
          </a:xfrm>
          <a:prstGeom prst="rect">
            <a:avLst/>
          </a:prstGeom>
          <a:solidFill>
            <a:srgbClr val="C9A84C"/>
          </a:solidFill>
          <a:ln/>
        </p:spPr>
        <p:txBody>
          <a:bodyPr/>
          <a:lstStyle/>
          <a:p>
            <a:endParaRPr lang="en-US"/>
          </a:p>
        </p:txBody>
      </p:sp>
      <p:sp>
        <p:nvSpPr>
          <p:cNvPr id="6" name="Text 4"/>
          <p:cNvSpPr/>
          <p:nvPr/>
        </p:nvSpPr>
        <p:spPr>
          <a:xfrm>
            <a:off x="530352" y="1005840"/>
            <a:ext cx="1828800" cy="274320"/>
          </a:xfrm>
          <a:prstGeom prst="rect">
            <a:avLst/>
          </a:prstGeom>
          <a:noFill/>
          <a:ln/>
        </p:spPr>
        <p:txBody>
          <a:bodyPr wrap="square" rtlCol="0" anchor="ctr"/>
          <a:lstStyle/>
          <a:p>
            <a:pPr marL="0" indent="0">
              <a:buNone/>
            </a:pPr>
            <a:r>
              <a:rPr lang="en-US" sz="1200" b="1" dirty="0">
                <a:solidFill>
                  <a:srgbClr val="7A6070"/>
                </a:solidFill>
                <a:latin typeface="Calibri" pitchFamily="34" charset="0"/>
                <a:ea typeface="Calibri" pitchFamily="34" charset="-122"/>
                <a:cs typeface="Calibri" pitchFamily="34" charset="-120"/>
              </a:rPr>
              <a:t>Objective</a:t>
            </a:r>
            <a:endParaRPr lang="en-US" sz="1200" dirty="0"/>
          </a:p>
        </p:txBody>
      </p:sp>
      <p:sp>
        <p:nvSpPr>
          <p:cNvPr id="7" name="Text 5"/>
          <p:cNvSpPr/>
          <p:nvPr/>
        </p:nvSpPr>
        <p:spPr>
          <a:xfrm>
            <a:off x="530352" y="1280160"/>
            <a:ext cx="8229600" cy="502920"/>
          </a:xfrm>
          <a:prstGeom prst="rect">
            <a:avLst/>
          </a:prstGeom>
          <a:noFill/>
          <a:ln/>
        </p:spPr>
        <p:txBody>
          <a:bodyPr wrap="square" rtlCol="0" anchor="ctr"/>
          <a:lstStyle/>
          <a:p>
            <a:pPr marL="0" indent="0">
              <a:buNone/>
            </a:pPr>
            <a:r>
              <a:rPr lang="en-US" sz="1250" dirty="0">
                <a:solidFill>
                  <a:srgbClr val="2B2B2B"/>
                </a:solidFill>
                <a:latin typeface="Calibri" pitchFamily="34" charset="0"/>
                <a:ea typeface="Calibri" pitchFamily="34" charset="-122"/>
                <a:cs typeface="Calibri" pitchFamily="34" charset="-120"/>
              </a:rPr>
              <a:t>Predict red wine quality (High ≥ 6 / Low ≤ 5) using 11 physicochemical features from 1,143 samples — comparing 4 ML models across accuracy, feature importance, and the impact of feature scaling.</a:t>
            </a:r>
            <a:endParaRPr lang="en-US" sz="1250" dirty="0"/>
          </a:p>
        </p:txBody>
      </p:sp>
      <p:sp>
        <p:nvSpPr>
          <p:cNvPr id="8" name="Shape 6"/>
          <p:cNvSpPr/>
          <p:nvPr/>
        </p:nvSpPr>
        <p:spPr>
          <a:xfrm>
            <a:off x="274320" y="2011680"/>
            <a:ext cx="1600200" cy="457200"/>
          </a:xfrm>
          <a:prstGeom prst="rect">
            <a:avLst/>
          </a:prstGeom>
          <a:solidFill>
            <a:srgbClr val="6D1A36"/>
          </a:solidFill>
          <a:ln/>
        </p:spPr>
        <p:txBody>
          <a:bodyPr/>
          <a:lstStyle/>
          <a:p>
            <a:endParaRPr lang="en-US"/>
          </a:p>
        </p:txBody>
      </p:sp>
      <p:sp>
        <p:nvSpPr>
          <p:cNvPr id="9" name="Text 7"/>
          <p:cNvSpPr/>
          <p:nvPr/>
        </p:nvSpPr>
        <p:spPr>
          <a:xfrm>
            <a:off x="274320" y="2011680"/>
            <a:ext cx="1600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01  Data Loading &amp; EDA</a:t>
            </a:r>
            <a:endParaRPr lang="en-US" sz="1100" dirty="0"/>
          </a:p>
        </p:txBody>
      </p:sp>
      <p:sp>
        <p:nvSpPr>
          <p:cNvPr id="10" name="Shape 8"/>
          <p:cNvSpPr/>
          <p:nvPr/>
        </p:nvSpPr>
        <p:spPr>
          <a:xfrm>
            <a:off x="274320" y="2468880"/>
            <a:ext cx="1600200" cy="13716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1" name="Text 9"/>
          <p:cNvSpPr/>
          <p:nvPr/>
        </p:nvSpPr>
        <p:spPr>
          <a:xfrm>
            <a:off x="347472" y="2514600"/>
            <a:ext cx="1463040" cy="1280160"/>
          </a:xfrm>
          <a:prstGeom prst="rect">
            <a:avLst/>
          </a:prstGeom>
          <a:noFill/>
          <a:ln/>
        </p:spPr>
        <p:txBody>
          <a:bodyPr wrap="square" rtlCol="0" anchor="ctr"/>
          <a:lstStyle/>
          <a:p>
            <a:pPr marL="0" indent="0">
              <a:buNone/>
            </a:pPr>
            <a:r>
              <a:rPr lang="en-US" sz="1050" dirty="0">
                <a:solidFill>
                  <a:srgbClr val="2B2B2B"/>
                </a:solidFill>
                <a:latin typeface="Calibri" pitchFamily="34" charset="0"/>
                <a:ea typeface="Calibri" pitchFamily="34" charset="-122"/>
                <a:cs typeface="Calibri" pitchFamily="34" charset="-120"/>
              </a:rPr>
              <a:t>1,143 samples</a:t>
            </a:r>
            <a:endParaRPr lang="en-US" sz="1050" dirty="0"/>
          </a:p>
          <a:p>
            <a:pPr marL="0" indent="0">
              <a:buNone/>
            </a:pPr>
            <a:r>
              <a:rPr lang="en-US" sz="1050" dirty="0">
                <a:solidFill>
                  <a:srgbClr val="2B2B2B"/>
                </a:solidFill>
                <a:latin typeface="Calibri" pitchFamily="34" charset="0"/>
                <a:ea typeface="Calibri" pitchFamily="34" charset="-122"/>
                <a:cs typeface="Calibri" pitchFamily="34" charset="-120"/>
              </a:rPr>
              <a:t>0 nulls, 0 duplicates</a:t>
            </a:r>
            <a:endParaRPr lang="en-US" sz="1050" dirty="0"/>
          </a:p>
          <a:p>
            <a:pPr marL="0" indent="0">
              <a:buNone/>
            </a:pPr>
            <a:r>
              <a:rPr lang="en-US" sz="1050" dirty="0">
                <a:solidFill>
                  <a:srgbClr val="2B2B2B"/>
                </a:solidFill>
                <a:latin typeface="Calibri" pitchFamily="34" charset="0"/>
                <a:ea typeface="Calibri" pitchFamily="34" charset="-122"/>
                <a:cs typeface="Calibri" pitchFamily="34" charset="-120"/>
              </a:rPr>
              <a:t>Quality: 3–8 range</a:t>
            </a:r>
            <a:endParaRPr lang="en-US" sz="1050" dirty="0"/>
          </a:p>
        </p:txBody>
      </p:sp>
      <p:sp>
        <p:nvSpPr>
          <p:cNvPr id="12" name="Text 10"/>
          <p:cNvSpPr/>
          <p:nvPr/>
        </p:nvSpPr>
        <p:spPr>
          <a:xfrm>
            <a:off x="1883664" y="2130552"/>
            <a:ext cx="118872" cy="256032"/>
          </a:xfrm>
          <a:prstGeom prst="rect">
            <a:avLst/>
          </a:prstGeom>
          <a:noFill/>
          <a:ln/>
        </p:spPr>
        <p:txBody>
          <a:bodyPr wrap="square" lIns="0" tIns="0" rIns="0" bIns="0" rtlCol="0" anchor="ctr"/>
          <a:lstStyle/>
          <a:p>
            <a:pPr marL="0" indent="0">
              <a:buNone/>
            </a:pPr>
            <a:endParaRPr lang="en-US" sz="1800" dirty="0"/>
          </a:p>
        </p:txBody>
      </p:sp>
      <p:sp>
        <p:nvSpPr>
          <p:cNvPr id="13" name="Shape 11"/>
          <p:cNvSpPr/>
          <p:nvPr/>
        </p:nvSpPr>
        <p:spPr>
          <a:xfrm>
            <a:off x="2011680" y="2011680"/>
            <a:ext cx="1600200" cy="457200"/>
          </a:xfrm>
          <a:prstGeom prst="rect">
            <a:avLst/>
          </a:prstGeom>
          <a:solidFill>
            <a:srgbClr val="A83258"/>
          </a:solidFill>
          <a:ln/>
        </p:spPr>
        <p:txBody>
          <a:bodyPr/>
          <a:lstStyle/>
          <a:p>
            <a:endParaRPr lang="en-US"/>
          </a:p>
        </p:txBody>
      </p:sp>
      <p:sp>
        <p:nvSpPr>
          <p:cNvPr id="14" name="Text 12"/>
          <p:cNvSpPr/>
          <p:nvPr/>
        </p:nvSpPr>
        <p:spPr>
          <a:xfrm>
            <a:off x="2011680" y="2011680"/>
            <a:ext cx="1600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02  Preprocessing</a:t>
            </a:r>
            <a:endParaRPr lang="en-US" sz="1100" dirty="0"/>
          </a:p>
        </p:txBody>
      </p:sp>
      <p:sp>
        <p:nvSpPr>
          <p:cNvPr id="15" name="Shape 13"/>
          <p:cNvSpPr/>
          <p:nvPr/>
        </p:nvSpPr>
        <p:spPr>
          <a:xfrm>
            <a:off x="2011680" y="2468880"/>
            <a:ext cx="1600200" cy="13716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6" name="Text 14"/>
          <p:cNvSpPr/>
          <p:nvPr/>
        </p:nvSpPr>
        <p:spPr>
          <a:xfrm>
            <a:off x="2084832" y="2514600"/>
            <a:ext cx="1463040" cy="1280160"/>
          </a:xfrm>
          <a:prstGeom prst="rect">
            <a:avLst/>
          </a:prstGeom>
          <a:noFill/>
          <a:ln/>
        </p:spPr>
        <p:txBody>
          <a:bodyPr wrap="square" rtlCol="0" anchor="ctr"/>
          <a:lstStyle/>
          <a:p>
            <a:pPr marL="0" indent="0">
              <a:buNone/>
            </a:pPr>
            <a:r>
              <a:rPr lang="en-US" sz="1050" dirty="0">
                <a:solidFill>
                  <a:srgbClr val="2B2B2B"/>
                </a:solidFill>
                <a:latin typeface="Calibri" pitchFamily="34" charset="0"/>
                <a:ea typeface="Calibri" pitchFamily="34" charset="-122"/>
                <a:cs typeface="Calibri" pitchFamily="34" charset="-120"/>
              </a:rPr>
              <a:t>Drop Id column</a:t>
            </a:r>
            <a:endParaRPr lang="en-US" sz="1050" dirty="0"/>
          </a:p>
          <a:p>
            <a:pPr marL="0" indent="0">
              <a:buNone/>
            </a:pPr>
            <a:r>
              <a:rPr lang="en-US" sz="1050" dirty="0">
                <a:solidFill>
                  <a:srgbClr val="2B2B2B"/>
                </a:solidFill>
                <a:latin typeface="Calibri" pitchFamily="34" charset="0"/>
                <a:ea typeface="Calibri" pitchFamily="34" charset="-122"/>
                <a:cs typeface="Calibri" pitchFamily="34" charset="-120"/>
              </a:rPr>
              <a:t>Binarize quality target</a:t>
            </a:r>
            <a:endParaRPr lang="en-US" sz="1050" dirty="0"/>
          </a:p>
          <a:p>
            <a:pPr marL="0" indent="0">
              <a:buNone/>
            </a:pPr>
            <a:r>
              <a:rPr lang="en-US" sz="1050" dirty="0">
                <a:solidFill>
                  <a:srgbClr val="2B2B2B"/>
                </a:solidFill>
                <a:latin typeface="Calibri" pitchFamily="34" charset="0"/>
                <a:ea typeface="Calibri" pitchFamily="34" charset="-122"/>
                <a:cs typeface="Calibri" pitchFamily="34" charset="-120"/>
              </a:rPr>
              <a:t>80/20 train-test split</a:t>
            </a:r>
            <a:endParaRPr lang="en-US" sz="1050" dirty="0"/>
          </a:p>
        </p:txBody>
      </p:sp>
      <p:sp>
        <p:nvSpPr>
          <p:cNvPr id="17" name="Text 15"/>
          <p:cNvSpPr/>
          <p:nvPr/>
        </p:nvSpPr>
        <p:spPr>
          <a:xfrm>
            <a:off x="3621024" y="2130552"/>
            <a:ext cx="137160" cy="256032"/>
          </a:xfrm>
          <a:prstGeom prst="rect">
            <a:avLst/>
          </a:prstGeom>
          <a:noFill/>
          <a:ln/>
        </p:spPr>
        <p:txBody>
          <a:bodyPr wrap="square" lIns="0" tIns="0" rIns="0" bIns="0" rtlCol="0" anchor="ctr"/>
          <a:lstStyle/>
          <a:p>
            <a:pPr marL="0" indent="0">
              <a:buNone/>
            </a:pPr>
            <a:endParaRPr lang="en-US" sz="1800" dirty="0"/>
          </a:p>
        </p:txBody>
      </p:sp>
      <p:sp>
        <p:nvSpPr>
          <p:cNvPr id="18" name="Shape 16"/>
          <p:cNvSpPr/>
          <p:nvPr/>
        </p:nvSpPr>
        <p:spPr>
          <a:xfrm>
            <a:off x="3749040" y="2011680"/>
            <a:ext cx="1600200" cy="457200"/>
          </a:xfrm>
          <a:prstGeom prst="rect">
            <a:avLst/>
          </a:prstGeom>
          <a:solidFill>
            <a:srgbClr val="C9A84C"/>
          </a:solidFill>
          <a:ln/>
        </p:spPr>
        <p:txBody>
          <a:bodyPr/>
          <a:lstStyle/>
          <a:p>
            <a:endParaRPr lang="en-US"/>
          </a:p>
        </p:txBody>
      </p:sp>
      <p:sp>
        <p:nvSpPr>
          <p:cNvPr id="19" name="Text 17"/>
          <p:cNvSpPr/>
          <p:nvPr/>
        </p:nvSpPr>
        <p:spPr>
          <a:xfrm>
            <a:off x="3749040" y="2011680"/>
            <a:ext cx="1600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03  Feature Scaling</a:t>
            </a:r>
            <a:endParaRPr lang="en-US" sz="1100" dirty="0"/>
          </a:p>
        </p:txBody>
      </p:sp>
      <p:sp>
        <p:nvSpPr>
          <p:cNvPr id="20" name="Shape 18"/>
          <p:cNvSpPr/>
          <p:nvPr/>
        </p:nvSpPr>
        <p:spPr>
          <a:xfrm>
            <a:off x="3749040" y="2468880"/>
            <a:ext cx="1600200" cy="13716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21" name="Text 19"/>
          <p:cNvSpPr/>
          <p:nvPr/>
        </p:nvSpPr>
        <p:spPr>
          <a:xfrm>
            <a:off x="3822192" y="2514600"/>
            <a:ext cx="1463040" cy="1280160"/>
          </a:xfrm>
          <a:prstGeom prst="rect">
            <a:avLst/>
          </a:prstGeom>
          <a:noFill/>
          <a:ln/>
        </p:spPr>
        <p:txBody>
          <a:bodyPr wrap="square" rtlCol="0" anchor="ctr"/>
          <a:lstStyle/>
          <a:p>
            <a:pPr marL="0" indent="0">
              <a:buNone/>
            </a:pPr>
            <a:r>
              <a:rPr lang="en-US" sz="1050" dirty="0">
                <a:solidFill>
                  <a:srgbClr val="2B2B2B"/>
                </a:solidFill>
                <a:latin typeface="Calibri" pitchFamily="34" charset="0"/>
                <a:ea typeface="Calibri" pitchFamily="34" charset="-122"/>
                <a:cs typeface="Calibri" pitchFamily="34" charset="-120"/>
              </a:rPr>
              <a:t>StandardScaler fit</a:t>
            </a:r>
            <a:endParaRPr lang="en-US" sz="1050" dirty="0"/>
          </a:p>
          <a:p>
            <a:pPr marL="0" indent="0">
              <a:buNone/>
            </a:pPr>
            <a:r>
              <a:rPr lang="en-US" sz="1050" dirty="0">
                <a:solidFill>
                  <a:srgbClr val="2B2B2B"/>
                </a:solidFill>
                <a:latin typeface="Calibri" pitchFamily="34" charset="0"/>
                <a:ea typeface="Calibri" pitchFamily="34" charset="-122"/>
                <a:cs typeface="Calibri" pitchFamily="34" charset="-120"/>
              </a:rPr>
              <a:t>on train set only</a:t>
            </a:r>
            <a:endParaRPr lang="en-US" sz="1050" dirty="0"/>
          </a:p>
          <a:p>
            <a:pPr marL="0" indent="0">
              <a:buNone/>
            </a:pPr>
            <a:r>
              <a:rPr lang="en-US" sz="1050" dirty="0">
                <a:solidFill>
                  <a:srgbClr val="2B2B2B"/>
                </a:solidFill>
                <a:latin typeface="Calibri" pitchFamily="34" charset="0"/>
                <a:ea typeface="Calibri" pitchFamily="34" charset="-122"/>
                <a:cs typeface="Calibri" pitchFamily="34" charset="-120"/>
              </a:rPr>
              <a:t>(no data leakage)</a:t>
            </a:r>
            <a:endParaRPr lang="en-US" sz="1050" dirty="0"/>
          </a:p>
        </p:txBody>
      </p:sp>
      <p:sp>
        <p:nvSpPr>
          <p:cNvPr id="22" name="Text 20"/>
          <p:cNvSpPr/>
          <p:nvPr/>
        </p:nvSpPr>
        <p:spPr>
          <a:xfrm>
            <a:off x="5358384" y="2130552"/>
            <a:ext cx="137160" cy="256032"/>
          </a:xfrm>
          <a:prstGeom prst="rect">
            <a:avLst/>
          </a:prstGeom>
          <a:noFill/>
          <a:ln/>
        </p:spPr>
        <p:txBody>
          <a:bodyPr wrap="square" lIns="0" tIns="0" rIns="0" bIns="0" rtlCol="0" anchor="ctr"/>
          <a:lstStyle/>
          <a:p>
            <a:pPr marL="0" indent="0">
              <a:buNone/>
            </a:pPr>
            <a:endParaRPr lang="en-US" sz="1800" dirty="0"/>
          </a:p>
        </p:txBody>
      </p:sp>
      <p:sp>
        <p:nvSpPr>
          <p:cNvPr id="23" name="Shape 21"/>
          <p:cNvSpPr/>
          <p:nvPr/>
        </p:nvSpPr>
        <p:spPr>
          <a:xfrm>
            <a:off x="5486400" y="2010440"/>
            <a:ext cx="1600200" cy="457200"/>
          </a:xfrm>
          <a:prstGeom prst="rect">
            <a:avLst/>
          </a:prstGeom>
          <a:solidFill>
            <a:srgbClr val="028090"/>
          </a:solidFill>
          <a:ln/>
        </p:spPr>
        <p:txBody>
          <a:bodyPr/>
          <a:lstStyle/>
          <a:p>
            <a:endParaRPr lang="en-US"/>
          </a:p>
        </p:txBody>
      </p:sp>
      <p:sp>
        <p:nvSpPr>
          <p:cNvPr id="24" name="Text 22"/>
          <p:cNvSpPr/>
          <p:nvPr/>
        </p:nvSpPr>
        <p:spPr>
          <a:xfrm>
            <a:off x="5486400" y="2011680"/>
            <a:ext cx="1600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04  Model Training</a:t>
            </a:r>
            <a:endParaRPr lang="en-US" sz="1100" dirty="0"/>
          </a:p>
        </p:txBody>
      </p:sp>
      <p:sp>
        <p:nvSpPr>
          <p:cNvPr id="25" name="Shape 23"/>
          <p:cNvSpPr/>
          <p:nvPr/>
        </p:nvSpPr>
        <p:spPr>
          <a:xfrm>
            <a:off x="5486400" y="2468880"/>
            <a:ext cx="1600200" cy="13716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26" name="Text 24"/>
          <p:cNvSpPr/>
          <p:nvPr/>
        </p:nvSpPr>
        <p:spPr>
          <a:xfrm>
            <a:off x="5559552" y="2514600"/>
            <a:ext cx="1463040" cy="1280160"/>
          </a:xfrm>
          <a:prstGeom prst="rect">
            <a:avLst/>
          </a:prstGeom>
          <a:noFill/>
          <a:ln/>
        </p:spPr>
        <p:txBody>
          <a:bodyPr wrap="square" rtlCol="0" anchor="ctr"/>
          <a:lstStyle/>
          <a:p>
            <a:pPr marL="0" indent="0">
              <a:buNone/>
            </a:pPr>
            <a:r>
              <a:rPr lang="en-US" sz="1050" dirty="0">
                <a:solidFill>
                  <a:srgbClr val="2B2B2B"/>
                </a:solidFill>
                <a:latin typeface="Calibri" pitchFamily="34" charset="0"/>
                <a:ea typeface="Calibri" pitchFamily="34" charset="-122"/>
                <a:cs typeface="Calibri" pitchFamily="34" charset="-120"/>
              </a:rPr>
              <a:t>4 classifiers trained</a:t>
            </a:r>
            <a:endParaRPr lang="en-US" sz="1050" dirty="0"/>
          </a:p>
          <a:p>
            <a:pPr marL="0" indent="0">
              <a:buNone/>
            </a:pPr>
            <a:r>
              <a:rPr lang="en-US" sz="1050" dirty="0">
                <a:solidFill>
                  <a:srgbClr val="2B2B2B"/>
                </a:solidFill>
                <a:latin typeface="Calibri" pitchFamily="34" charset="0"/>
                <a:ea typeface="Calibri" pitchFamily="34" charset="-122"/>
                <a:cs typeface="Calibri" pitchFamily="34" charset="-120"/>
              </a:rPr>
              <a:t>on scaled data</a:t>
            </a:r>
            <a:endParaRPr lang="en-US" sz="1050" dirty="0"/>
          </a:p>
          <a:p>
            <a:pPr marL="0" indent="0">
              <a:buNone/>
            </a:pPr>
            <a:r>
              <a:rPr lang="en-US" sz="1050" dirty="0">
                <a:solidFill>
                  <a:srgbClr val="2B2B2B"/>
                </a:solidFill>
                <a:latin typeface="Calibri" pitchFamily="34" charset="0"/>
                <a:ea typeface="Calibri" pitchFamily="34" charset="-122"/>
                <a:cs typeface="Calibri" pitchFamily="34" charset="-120"/>
              </a:rPr>
              <a:t>(LR, DT, RF, KNN)</a:t>
            </a:r>
            <a:endParaRPr lang="en-US" sz="1050" dirty="0"/>
          </a:p>
        </p:txBody>
      </p:sp>
      <p:sp>
        <p:nvSpPr>
          <p:cNvPr id="27" name="Text 25"/>
          <p:cNvSpPr/>
          <p:nvPr/>
        </p:nvSpPr>
        <p:spPr>
          <a:xfrm>
            <a:off x="7095744" y="2130552"/>
            <a:ext cx="137160" cy="256032"/>
          </a:xfrm>
          <a:prstGeom prst="rect">
            <a:avLst/>
          </a:prstGeom>
          <a:noFill/>
          <a:ln/>
        </p:spPr>
        <p:txBody>
          <a:bodyPr wrap="square" lIns="0" tIns="0" rIns="0" bIns="0" rtlCol="0" anchor="ctr"/>
          <a:lstStyle/>
          <a:p>
            <a:pPr marL="0" indent="0">
              <a:buNone/>
            </a:pPr>
            <a:endParaRPr lang="en-US" sz="1800" dirty="0"/>
          </a:p>
        </p:txBody>
      </p:sp>
      <p:sp>
        <p:nvSpPr>
          <p:cNvPr id="28" name="Shape 26"/>
          <p:cNvSpPr/>
          <p:nvPr/>
        </p:nvSpPr>
        <p:spPr>
          <a:xfrm>
            <a:off x="7232904" y="2011680"/>
            <a:ext cx="1600200" cy="457200"/>
          </a:xfrm>
          <a:prstGeom prst="rect">
            <a:avLst/>
          </a:prstGeom>
          <a:solidFill>
            <a:srgbClr val="3D6B4F"/>
          </a:solidFill>
          <a:ln/>
        </p:spPr>
        <p:txBody>
          <a:bodyPr/>
          <a:lstStyle/>
          <a:p>
            <a:endParaRPr lang="en-US"/>
          </a:p>
        </p:txBody>
      </p:sp>
      <p:sp>
        <p:nvSpPr>
          <p:cNvPr id="29" name="Text 27"/>
          <p:cNvSpPr/>
          <p:nvPr/>
        </p:nvSpPr>
        <p:spPr>
          <a:xfrm>
            <a:off x="7223760" y="2011680"/>
            <a:ext cx="160020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05  Evaluation &amp; Analysis</a:t>
            </a:r>
            <a:endParaRPr lang="en-US" sz="1100" dirty="0"/>
          </a:p>
        </p:txBody>
      </p:sp>
      <p:sp>
        <p:nvSpPr>
          <p:cNvPr id="30" name="Shape 28"/>
          <p:cNvSpPr/>
          <p:nvPr/>
        </p:nvSpPr>
        <p:spPr>
          <a:xfrm>
            <a:off x="7223760" y="2468880"/>
            <a:ext cx="1600200" cy="13716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31" name="Text 29"/>
          <p:cNvSpPr/>
          <p:nvPr/>
        </p:nvSpPr>
        <p:spPr>
          <a:xfrm>
            <a:off x="7296912" y="2514600"/>
            <a:ext cx="1463040" cy="1280160"/>
          </a:xfrm>
          <a:prstGeom prst="rect">
            <a:avLst/>
          </a:prstGeom>
          <a:noFill/>
          <a:ln/>
        </p:spPr>
        <p:txBody>
          <a:bodyPr wrap="square" rtlCol="0" anchor="ctr"/>
          <a:lstStyle/>
          <a:p>
            <a:pPr marL="0" indent="0">
              <a:buNone/>
            </a:pPr>
            <a:r>
              <a:rPr lang="en-US" sz="1050" dirty="0">
                <a:solidFill>
                  <a:srgbClr val="2B2B2B"/>
                </a:solidFill>
                <a:latin typeface="Calibri" pitchFamily="34" charset="0"/>
                <a:ea typeface="Calibri" pitchFamily="34" charset="-122"/>
                <a:cs typeface="Calibri" pitchFamily="34" charset="-120"/>
              </a:rPr>
              <a:t>Accuracy, F1, confusion</a:t>
            </a:r>
            <a:endParaRPr lang="en-US" sz="1050" dirty="0"/>
          </a:p>
          <a:p>
            <a:pPr marL="0" indent="0">
              <a:buNone/>
            </a:pPr>
            <a:r>
              <a:rPr lang="en-US" sz="1050" dirty="0">
                <a:solidFill>
                  <a:srgbClr val="2B2B2B"/>
                </a:solidFill>
                <a:latin typeface="Calibri" pitchFamily="34" charset="0"/>
                <a:ea typeface="Calibri" pitchFamily="34" charset="-122"/>
                <a:cs typeface="Calibri" pitchFamily="34" charset="-120"/>
              </a:rPr>
              <a:t>matrix, feature importance</a:t>
            </a:r>
            <a:endParaRPr lang="en-US" sz="1050" dirty="0"/>
          </a:p>
          <a:p>
            <a:pPr marL="0" indent="0">
              <a:buNone/>
            </a:pPr>
            <a:r>
              <a:rPr lang="en-US" sz="1050" dirty="0">
                <a:solidFill>
                  <a:srgbClr val="2B2B2B"/>
                </a:solidFill>
                <a:latin typeface="Calibri" pitchFamily="34" charset="0"/>
                <a:ea typeface="Calibri" pitchFamily="34" charset="-122"/>
                <a:cs typeface="Calibri" pitchFamily="34" charset="-120"/>
              </a:rPr>
              <a:t>scaling experiment</a:t>
            </a:r>
            <a:endParaRPr lang="en-US" sz="1050" dirty="0"/>
          </a:p>
        </p:txBody>
      </p:sp>
      <p:sp>
        <p:nvSpPr>
          <p:cNvPr id="32" name="Shape 30"/>
          <p:cNvSpPr/>
          <p:nvPr/>
        </p:nvSpPr>
        <p:spPr>
          <a:xfrm>
            <a:off x="274320" y="3977640"/>
            <a:ext cx="1600200" cy="804672"/>
          </a:xfrm>
          <a:prstGeom prst="rect">
            <a:avLst/>
          </a:prstGeom>
          <a:solidFill>
            <a:srgbClr val="6D1A36"/>
          </a:solidFill>
          <a:ln/>
          <a:effectLst>
            <a:outerShdw blurRad="101600" dist="38100" dir="8100000" algn="bl" rotWithShape="0">
              <a:srgbClr val="000000">
                <a:alpha val="13000"/>
              </a:srgbClr>
            </a:outerShdw>
          </a:effectLst>
        </p:spPr>
        <p:txBody>
          <a:bodyPr/>
          <a:lstStyle/>
          <a:p>
            <a:endParaRPr lang="en-US"/>
          </a:p>
        </p:txBody>
      </p:sp>
      <p:sp>
        <p:nvSpPr>
          <p:cNvPr id="33" name="Text 31"/>
          <p:cNvSpPr/>
          <p:nvPr/>
        </p:nvSpPr>
        <p:spPr>
          <a:xfrm>
            <a:off x="274320" y="4023360"/>
            <a:ext cx="1600200" cy="384048"/>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1,143</a:t>
            </a:r>
            <a:endParaRPr lang="en-US" sz="1800" dirty="0"/>
          </a:p>
        </p:txBody>
      </p:sp>
      <p:sp>
        <p:nvSpPr>
          <p:cNvPr id="34" name="Text 32"/>
          <p:cNvSpPr/>
          <p:nvPr/>
        </p:nvSpPr>
        <p:spPr>
          <a:xfrm>
            <a:off x="274320" y="4407408"/>
            <a:ext cx="1600200" cy="27432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Total Samples</a:t>
            </a:r>
            <a:endParaRPr lang="en-US" sz="950" dirty="0"/>
          </a:p>
        </p:txBody>
      </p:sp>
      <p:sp>
        <p:nvSpPr>
          <p:cNvPr id="35" name="Shape 33"/>
          <p:cNvSpPr/>
          <p:nvPr/>
        </p:nvSpPr>
        <p:spPr>
          <a:xfrm>
            <a:off x="2011680" y="3977640"/>
            <a:ext cx="1600200" cy="804672"/>
          </a:xfrm>
          <a:prstGeom prst="rect">
            <a:avLst/>
          </a:prstGeom>
          <a:solidFill>
            <a:srgbClr val="A83258"/>
          </a:solidFill>
          <a:ln/>
          <a:effectLst>
            <a:outerShdw blurRad="101600" dist="38100" dir="8100000" algn="bl" rotWithShape="0">
              <a:srgbClr val="000000">
                <a:alpha val="13000"/>
              </a:srgbClr>
            </a:outerShdw>
          </a:effectLst>
        </p:spPr>
        <p:txBody>
          <a:bodyPr/>
          <a:lstStyle/>
          <a:p>
            <a:endParaRPr lang="en-US"/>
          </a:p>
        </p:txBody>
      </p:sp>
      <p:sp>
        <p:nvSpPr>
          <p:cNvPr id="36" name="Text 34"/>
          <p:cNvSpPr/>
          <p:nvPr/>
        </p:nvSpPr>
        <p:spPr>
          <a:xfrm>
            <a:off x="2011680" y="4023360"/>
            <a:ext cx="1600200" cy="384048"/>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11</a:t>
            </a:r>
            <a:endParaRPr lang="en-US" sz="1800" dirty="0"/>
          </a:p>
        </p:txBody>
      </p:sp>
      <p:sp>
        <p:nvSpPr>
          <p:cNvPr id="37" name="Text 35"/>
          <p:cNvSpPr/>
          <p:nvPr/>
        </p:nvSpPr>
        <p:spPr>
          <a:xfrm>
            <a:off x="2011680" y="4407408"/>
            <a:ext cx="1600200" cy="27432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Features</a:t>
            </a:r>
            <a:endParaRPr lang="en-US" sz="950" dirty="0"/>
          </a:p>
        </p:txBody>
      </p:sp>
      <p:sp>
        <p:nvSpPr>
          <p:cNvPr id="38" name="Shape 36"/>
          <p:cNvSpPr/>
          <p:nvPr/>
        </p:nvSpPr>
        <p:spPr>
          <a:xfrm>
            <a:off x="3749040" y="3977640"/>
            <a:ext cx="1600200" cy="804672"/>
          </a:xfrm>
          <a:prstGeom prst="rect">
            <a:avLst/>
          </a:prstGeom>
          <a:solidFill>
            <a:srgbClr val="6D1A36"/>
          </a:solidFill>
          <a:ln/>
          <a:effectLst>
            <a:outerShdw blurRad="101600" dist="38100" dir="8100000" algn="bl" rotWithShape="0">
              <a:srgbClr val="000000">
                <a:alpha val="13000"/>
              </a:srgbClr>
            </a:outerShdw>
          </a:effectLst>
        </p:spPr>
        <p:txBody>
          <a:bodyPr/>
          <a:lstStyle/>
          <a:p>
            <a:endParaRPr lang="en-US"/>
          </a:p>
        </p:txBody>
      </p:sp>
      <p:sp>
        <p:nvSpPr>
          <p:cNvPr id="39" name="Text 37"/>
          <p:cNvSpPr/>
          <p:nvPr/>
        </p:nvSpPr>
        <p:spPr>
          <a:xfrm>
            <a:off x="3749040" y="4023360"/>
            <a:ext cx="1600200" cy="384048"/>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522 / 621</a:t>
            </a:r>
            <a:endParaRPr lang="en-US" sz="1800" dirty="0"/>
          </a:p>
        </p:txBody>
      </p:sp>
      <p:sp>
        <p:nvSpPr>
          <p:cNvPr id="40" name="Text 38"/>
          <p:cNvSpPr/>
          <p:nvPr/>
        </p:nvSpPr>
        <p:spPr>
          <a:xfrm>
            <a:off x="3749040" y="4407408"/>
            <a:ext cx="1600200" cy="27432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Low / High Split</a:t>
            </a:r>
            <a:endParaRPr lang="en-US" sz="950" dirty="0"/>
          </a:p>
        </p:txBody>
      </p:sp>
      <p:sp>
        <p:nvSpPr>
          <p:cNvPr id="41" name="Shape 39"/>
          <p:cNvSpPr/>
          <p:nvPr/>
        </p:nvSpPr>
        <p:spPr>
          <a:xfrm>
            <a:off x="5486400" y="3977640"/>
            <a:ext cx="1600200" cy="804672"/>
          </a:xfrm>
          <a:prstGeom prst="rect">
            <a:avLst/>
          </a:prstGeom>
          <a:solidFill>
            <a:srgbClr val="A83258"/>
          </a:solidFill>
          <a:ln/>
          <a:effectLst>
            <a:outerShdw blurRad="101600" dist="38100" dir="8100000" algn="bl" rotWithShape="0">
              <a:srgbClr val="000000">
                <a:alpha val="13000"/>
              </a:srgbClr>
            </a:outerShdw>
          </a:effectLst>
        </p:spPr>
        <p:txBody>
          <a:bodyPr/>
          <a:lstStyle/>
          <a:p>
            <a:endParaRPr lang="en-US"/>
          </a:p>
        </p:txBody>
      </p:sp>
      <p:sp>
        <p:nvSpPr>
          <p:cNvPr id="42" name="Text 40"/>
          <p:cNvSpPr/>
          <p:nvPr/>
        </p:nvSpPr>
        <p:spPr>
          <a:xfrm>
            <a:off x="5486400" y="4023360"/>
            <a:ext cx="1600200" cy="384048"/>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80% / 20%</a:t>
            </a:r>
            <a:endParaRPr lang="en-US" sz="1800" dirty="0"/>
          </a:p>
        </p:txBody>
      </p:sp>
      <p:sp>
        <p:nvSpPr>
          <p:cNvPr id="43" name="Text 41"/>
          <p:cNvSpPr/>
          <p:nvPr/>
        </p:nvSpPr>
        <p:spPr>
          <a:xfrm>
            <a:off x="5486400" y="4407408"/>
            <a:ext cx="1600200" cy="27432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Train / Test</a:t>
            </a:r>
            <a:endParaRPr lang="en-US" sz="950" dirty="0"/>
          </a:p>
        </p:txBody>
      </p:sp>
      <p:sp>
        <p:nvSpPr>
          <p:cNvPr id="44" name="Shape 42"/>
          <p:cNvSpPr/>
          <p:nvPr/>
        </p:nvSpPr>
        <p:spPr>
          <a:xfrm>
            <a:off x="7223760" y="3977640"/>
            <a:ext cx="1600200" cy="804672"/>
          </a:xfrm>
          <a:prstGeom prst="rect">
            <a:avLst/>
          </a:prstGeom>
          <a:solidFill>
            <a:srgbClr val="6D1A36"/>
          </a:solidFill>
          <a:ln/>
          <a:effectLst>
            <a:outerShdw blurRad="101600" dist="38100" dir="8100000" algn="bl" rotWithShape="0">
              <a:srgbClr val="000000">
                <a:alpha val="13000"/>
              </a:srgbClr>
            </a:outerShdw>
          </a:effectLst>
        </p:spPr>
        <p:txBody>
          <a:bodyPr/>
          <a:lstStyle/>
          <a:p>
            <a:endParaRPr lang="en-US"/>
          </a:p>
        </p:txBody>
      </p:sp>
      <p:sp>
        <p:nvSpPr>
          <p:cNvPr id="45" name="Text 43"/>
          <p:cNvSpPr/>
          <p:nvPr/>
        </p:nvSpPr>
        <p:spPr>
          <a:xfrm>
            <a:off x="7223760" y="4023360"/>
            <a:ext cx="1600200" cy="384048"/>
          </a:xfrm>
          <a:prstGeom prst="rect">
            <a:avLst/>
          </a:prstGeom>
          <a:noFill/>
          <a:ln/>
        </p:spPr>
        <p:txBody>
          <a:bodyPr wrap="square"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42</a:t>
            </a:r>
            <a:endParaRPr lang="en-US" sz="1800" dirty="0"/>
          </a:p>
        </p:txBody>
      </p:sp>
      <p:sp>
        <p:nvSpPr>
          <p:cNvPr id="46" name="Text 44"/>
          <p:cNvSpPr/>
          <p:nvPr/>
        </p:nvSpPr>
        <p:spPr>
          <a:xfrm>
            <a:off x="7223760" y="4407408"/>
            <a:ext cx="1600200" cy="274320"/>
          </a:xfrm>
          <a:prstGeom prst="rect">
            <a:avLst/>
          </a:prstGeom>
          <a:noFill/>
          <a:ln/>
        </p:spPr>
        <p:txBody>
          <a:bodyPr wrap="square" rtlCol="0" anchor="ctr"/>
          <a:lstStyle/>
          <a:p>
            <a:pPr marL="0" indent="0" algn="ctr">
              <a:buNone/>
            </a:pPr>
            <a:r>
              <a:rPr lang="en-US" sz="950" dirty="0">
                <a:solidFill>
                  <a:srgbClr val="FFFFFF"/>
                </a:solidFill>
                <a:latin typeface="Calibri" pitchFamily="34" charset="0"/>
                <a:ea typeface="Calibri" pitchFamily="34" charset="-122"/>
                <a:cs typeface="Calibri" pitchFamily="34" charset="-120"/>
              </a:rPr>
              <a:t>Random Seed</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EDA: QUALITY DISTRIBUTION &amp; CLASS BALANCE</a:t>
            </a:r>
            <a:endParaRPr lang="en-US" sz="2000" dirty="0"/>
          </a:p>
        </p:txBody>
      </p:sp>
      <p:pic>
        <p:nvPicPr>
          <p:cNvPr id="4" name="Image 0" descr="preencoded.png"/>
          <p:cNvPicPr>
            <a:picLocks noChangeAspect="1"/>
          </p:cNvPicPr>
          <p:nvPr/>
        </p:nvPicPr>
        <p:blipFill>
          <a:blip r:embed="rId3"/>
          <a:stretch>
            <a:fillRect/>
          </a:stretch>
        </p:blipFill>
        <p:spPr>
          <a:xfrm>
            <a:off x="274320" y="914400"/>
            <a:ext cx="5303520" cy="3337560"/>
          </a:xfrm>
          <a:prstGeom prst="rect">
            <a:avLst/>
          </a:prstGeom>
        </p:spPr>
      </p:pic>
      <p:sp>
        <p:nvSpPr>
          <p:cNvPr id="5" name="Shape 2"/>
          <p:cNvSpPr/>
          <p:nvPr/>
        </p:nvSpPr>
        <p:spPr>
          <a:xfrm>
            <a:off x="5760720" y="914400"/>
            <a:ext cx="3154680" cy="333756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6" name="Shape 3"/>
          <p:cNvSpPr/>
          <p:nvPr/>
        </p:nvSpPr>
        <p:spPr>
          <a:xfrm>
            <a:off x="5760720" y="914400"/>
            <a:ext cx="109728" cy="3337560"/>
          </a:xfrm>
          <a:prstGeom prst="rect">
            <a:avLst/>
          </a:prstGeom>
          <a:solidFill>
            <a:srgbClr val="C9A84C"/>
          </a:solidFill>
          <a:ln/>
        </p:spPr>
        <p:txBody>
          <a:bodyPr/>
          <a:lstStyle/>
          <a:p>
            <a:endParaRPr lang="en-US"/>
          </a:p>
        </p:txBody>
      </p:sp>
      <p:sp>
        <p:nvSpPr>
          <p:cNvPr id="7" name="Text 4"/>
          <p:cNvSpPr/>
          <p:nvPr/>
        </p:nvSpPr>
        <p:spPr>
          <a:xfrm>
            <a:off x="6016752" y="1005840"/>
            <a:ext cx="2743200" cy="347472"/>
          </a:xfrm>
          <a:prstGeom prst="rect">
            <a:avLst/>
          </a:prstGeom>
          <a:noFill/>
          <a:ln/>
        </p:spPr>
        <p:txBody>
          <a:bodyPr wrap="square" rtlCol="0" anchor="ctr"/>
          <a:lstStyle/>
          <a:p>
            <a:pPr marL="0" indent="0">
              <a:buNone/>
            </a:pPr>
            <a:r>
              <a:rPr lang="en-US" sz="1400" b="1" dirty="0">
                <a:solidFill>
                  <a:srgbClr val="6D1A36"/>
                </a:solidFill>
                <a:latin typeface="Georgia" pitchFamily="34" charset="0"/>
                <a:ea typeface="Georgia" pitchFamily="34" charset="-122"/>
                <a:cs typeface="Georgia" pitchFamily="34" charset="-120"/>
              </a:rPr>
              <a:t>Key Findings</a:t>
            </a:r>
            <a:endParaRPr lang="en-US" sz="1400" dirty="0"/>
          </a:p>
        </p:txBody>
      </p:sp>
      <p:sp>
        <p:nvSpPr>
          <p:cNvPr id="8" name="Text 5"/>
          <p:cNvSpPr/>
          <p:nvPr/>
        </p:nvSpPr>
        <p:spPr>
          <a:xfrm>
            <a:off x="6016752" y="1444752"/>
            <a:ext cx="1188720" cy="320040"/>
          </a:xfrm>
          <a:prstGeom prst="rect">
            <a:avLst/>
          </a:prstGeom>
          <a:noFill/>
          <a:ln/>
        </p:spPr>
        <p:txBody>
          <a:bodyPr wrap="square" rtlCol="0" anchor="ctr"/>
          <a:lstStyle/>
          <a:p>
            <a:pPr marL="0" indent="0">
              <a:buNone/>
            </a:pPr>
            <a:r>
              <a:rPr lang="en-US" sz="1100" b="1" dirty="0">
                <a:solidFill>
                  <a:srgbClr val="6D1A36"/>
                </a:solidFill>
                <a:latin typeface="Calibri" pitchFamily="34" charset="0"/>
                <a:ea typeface="Calibri" pitchFamily="34" charset="-122"/>
                <a:cs typeface="Calibri" pitchFamily="34" charset="-120"/>
              </a:rPr>
              <a:t>Quality Range:</a:t>
            </a:r>
            <a:endParaRPr lang="en-US" sz="1100" dirty="0"/>
          </a:p>
        </p:txBody>
      </p:sp>
      <p:sp>
        <p:nvSpPr>
          <p:cNvPr id="9" name="Text 6"/>
          <p:cNvSpPr/>
          <p:nvPr/>
        </p:nvSpPr>
        <p:spPr>
          <a:xfrm>
            <a:off x="7223760" y="1444752"/>
            <a:ext cx="1554480" cy="320040"/>
          </a:xfrm>
          <a:prstGeom prst="rect">
            <a:avLst/>
          </a:prstGeom>
          <a:noFill/>
          <a:ln/>
        </p:spPr>
        <p:txBody>
          <a:bodyPr wrap="square" rtlCol="0" anchor="ctr"/>
          <a:lstStyle/>
          <a:p>
            <a:pPr marL="0" indent="0">
              <a:buNone/>
            </a:pPr>
            <a:r>
              <a:rPr lang="en-US" sz="1100" dirty="0">
                <a:solidFill>
                  <a:srgbClr val="2B2B2B"/>
                </a:solidFill>
                <a:latin typeface="Calibri" pitchFamily="34" charset="0"/>
                <a:ea typeface="Calibri" pitchFamily="34" charset="-122"/>
                <a:cs typeface="Calibri" pitchFamily="34" charset="-120"/>
              </a:rPr>
              <a:t>Scores span 3–8</a:t>
            </a:r>
            <a:endParaRPr lang="en-US" sz="1100" dirty="0"/>
          </a:p>
        </p:txBody>
      </p:sp>
      <p:sp>
        <p:nvSpPr>
          <p:cNvPr id="10" name="Text 7"/>
          <p:cNvSpPr/>
          <p:nvPr/>
        </p:nvSpPr>
        <p:spPr>
          <a:xfrm>
            <a:off x="6016752" y="1883664"/>
            <a:ext cx="1188720" cy="320040"/>
          </a:xfrm>
          <a:prstGeom prst="rect">
            <a:avLst/>
          </a:prstGeom>
          <a:noFill/>
          <a:ln/>
        </p:spPr>
        <p:txBody>
          <a:bodyPr wrap="square" rtlCol="0" anchor="ctr"/>
          <a:lstStyle/>
          <a:p>
            <a:pPr marL="0" indent="0">
              <a:buNone/>
            </a:pPr>
            <a:r>
              <a:rPr lang="en-US" sz="1100" b="1" dirty="0">
                <a:solidFill>
                  <a:srgbClr val="6D1A36"/>
                </a:solidFill>
                <a:latin typeface="Calibri" pitchFamily="34" charset="0"/>
                <a:ea typeface="Calibri" pitchFamily="34" charset="-122"/>
                <a:cs typeface="Calibri" pitchFamily="34" charset="-120"/>
              </a:rPr>
              <a:t>Most Common:</a:t>
            </a:r>
            <a:endParaRPr lang="en-US" sz="1100" dirty="0"/>
          </a:p>
        </p:txBody>
      </p:sp>
      <p:sp>
        <p:nvSpPr>
          <p:cNvPr id="11" name="Text 8"/>
          <p:cNvSpPr/>
          <p:nvPr/>
        </p:nvSpPr>
        <p:spPr>
          <a:xfrm>
            <a:off x="7223760" y="1883664"/>
            <a:ext cx="1554480" cy="320040"/>
          </a:xfrm>
          <a:prstGeom prst="rect">
            <a:avLst/>
          </a:prstGeom>
          <a:noFill/>
          <a:ln/>
        </p:spPr>
        <p:txBody>
          <a:bodyPr wrap="square" rtlCol="0" anchor="ctr"/>
          <a:lstStyle/>
          <a:p>
            <a:pPr marL="0" indent="0">
              <a:buNone/>
            </a:pPr>
            <a:r>
              <a:rPr lang="en-US" sz="1100" dirty="0">
                <a:solidFill>
                  <a:srgbClr val="2B2B2B"/>
                </a:solidFill>
                <a:latin typeface="Calibri" pitchFamily="34" charset="0"/>
                <a:ea typeface="Calibri" pitchFamily="34" charset="-122"/>
                <a:cs typeface="Calibri" pitchFamily="34" charset="-120"/>
              </a:rPr>
              <a:t>Score 5 (483) &amp; 6 (462)</a:t>
            </a:r>
            <a:endParaRPr lang="en-US" sz="1100" dirty="0"/>
          </a:p>
        </p:txBody>
      </p:sp>
      <p:sp>
        <p:nvSpPr>
          <p:cNvPr id="12" name="Text 9"/>
          <p:cNvSpPr/>
          <p:nvPr/>
        </p:nvSpPr>
        <p:spPr>
          <a:xfrm>
            <a:off x="6016752" y="2322576"/>
            <a:ext cx="1188720" cy="320040"/>
          </a:xfrm>
          <a:prstGeom prst="rect">
            <a:avLst/>
          </a:prstGeom>
          <a:noFill/>
          <a:ln/>
        </p:spPr>
        <p:txBody>
          <a:bodyPr wrap="square" rtlCol="0" anchor="ctr"/>
          <a:lstStyle/>
          <a:p>
            <a:pPr marL="0" indent="0">
              <a:buNone/>
            </a:pPr>
            <a:r>
              <a:rPr lang="en-US" sz="1100" b="1" dirty="0">
                <a:solidFill>
                  <a:srgbClr val="6D1A36"/>
                </a:solidFill>
                <a:latin typeface="Calibri" pitchFamily="34" charset="0"/>
                <a:ea typeface="Calibri" pitchFamily="34" charset="-122"/>
                <a:cs typeface="Calibri" pitchFamily="34" charset="-120"/>
              </a:rPr>
              <a:t>Top 2 = 82.7%:</a:t>
            </a:r>
            <a:endParaRPr lang="en-US" sz="1100" dirty="0"/>
          </a:p>
        </p:txBody>
      </p:sp>
      <p:sp>
        <p:nvSpPr>
          <p:cNvPr id="13" name="Text 10"/>
          <p:cNvSpPr/>
          <p:nvPr/>
        </p:nvSpPr>
        <p:spPr>
          <a:xfrm>
            <a:off x="7223760" y="2322576"/>
            <a:ext cx="1554480" cy="320040"/>
          </a:xfrm>
          <a:prstGeom prst="rect">
            <a:avLst/>
          </a:prstGeom>
          <a:noFill/>
          <a:ln/>
        </p:spPr>
        <p:txBody>
          <a:bodyPr wrap="square" rtlCol="0" anchor="ctr"/>
          <a:lstStyle/>
          <a:p>
            <a:pPr marL="0" indent="0">
              <a:buNone/>
            </a:pPr>
            <a:r>
              <a:rPr lang="en-US" sz="1100" dirty="0">
                <a:solidFill>
                  <a:srgbClr val="2B2B2B"/>
                </a:solidFill>
                <a:latin typeface="Calibri" pitchFamily="34" charset="0"/>
                <a:ea typeface="Calibri" pitchFamily="34" charset="-122"/>
                <a:cs typeface="Calibri" pitchFamily="34" charset="-120"/>
              </a:rPr>
              <a:t>Of all 1,143 samples</a:t>
            </a:r>
            <a:endParaRPr lang="en-US" sz="1100" dirty="0"/>
          </a:p>
        </p:txBody>
      </p:sp>
      <p:sp>
        <p:nvSpPr>
          <p:cNvPr id="14" name="Text 11"/>
          <p:cNvSpPr/>
          <p:nvPr/>
        </p:nvSpPr>
        <p:spPr>
          <a:xfrm>
            <a:off x="6016752" y="2761488"/>
            <a:ext cx="1188720" cy="320040"/>
          </a:xfrm>
          <a:prstGeom prst="rect">
            <a:avLst/>
          </a:prstGeom>
          <a:noFill/>
          <a:ln/>
        </p:spPr>
        <p:txBody>
          <a:bodyPr wrap="square" rtlCol="0" anchor="ctr"/>
          <a:lstStyle/>
          <a:p>
            <a:pPr marL="0" indent="0">
              <a:buNone/>
            </a:pPr>
            <a:r>
              <a:rPr lang="en-US" sz="1100" b="1" dirty="0">
                <a:solidFill>
                  <a:srgbClr val="6D1A36"/>
                </a:solidFill>
                <a:latin typeface="Calibri" pitchFamily="34" charset="0"/>
                <a:ea typeface="Calibri" pitchFamily="34" charset="-122"/>
                <a:cs typeface="Calibri" pitchFamily="34" charset="-120"/>
              </a:rPr>
              <a:t>After Binarizing:</a:t>
            </a:r>
            <a:endParaRPr lang="en-US" sz="1100" dirty="0"/>
          </a:p>
        </p:txBody>
      </p:sp>
      <p:sp>
        <p:nvSpPr>
          <p:cNvPr id="15" name="Text 12"/>
          <p:cNvSpPr/>
          <p:nvPr/>
        </p:nvSpPr>
        <p:spPr>
          <a:xfrm>
            <a:off x="7223760" y="2761488"/>
            <a:ext cx="1554480" cy="320040"/>
          </a:xfrm>
          <a:prstGeom prst="rect">
            <a:avLst/>
          </a:prstGeom>
          <a:noFill/>
          <a:ln/>
        </p:spPr>
        <p:txBody>
          <a:bodyPr wrap="square" rtlCol="0" anchor="ctr"/>
          <a:lstStyle/>
          <a:p>
            <a:pPr marL="0" indent="0">
              <a:buNone/>
            </a:pPr>
            <a:r>
              <a:rPr lang="en-US" sz="1100" dirty="0">
                <a:solidFill>
                  <a:srgbClr val="2B2B2B"/>
                </a:solidFill>
                <a:latin typeface="Calibri" pitchFamily="34" charset="0"/>
                <a:ea typeface="Calibri" pitchFamily="34" charset="-122"/>
                <a:cs typeface="Calibri" pitchFamily="34" charset="-120"/>
              </a:rPr>
              <a:t>Low (0): 522 → 45.7%</a:t>
            </a:r>
            <a:endParaRPr lang="en-US" sz="1100" dirty="0"/>
          </a:p>
        </p:txBody>
      </p:sp>
      <p:sp>
        <p:nvSpPr>
          <p:cNvPr id="16" name="Text 13"/>
          <p:cNvSpPr/>
          <p:nvPr/>
        </p:nvSpPr>
        <p:spPr>
          <a:xfrm>
            <a:off x="6016752" y="3200400"/>
            <a:ext cx="2788920" cy="320040"/>
          </a:xfrm>
          <a:prstGeom prst="rect">
            <a:avLst/>
          </a:prstGeom>
          <a:noFill/>
          <a:ln/>
        </p:spPr>
        <p:txBody>
          <a:bodyPr wrap="square" rtlCol="0" anchor="ctr"/>
          <a:lstStyle/>
          <a:p>
            <a:pPr marL="0" indent="0">
              <a:buNone/>
            </a:pPr>
            <a:r>
              <a:rPr lang="en-US" sz="1100" dirty="0">
                <a:solidFill>
                  <a:srgbClr val="2B2B2B"/>
                </a:solidFill>
                <a:latin typeface="Calibri" pitchFamily="34" charset="0"/>
                <a:ea typeface="Calibri" pitchFamily="34" charset="-122"/>
                <a:cs typeface="Calibri" pitchFamily="34" charset="-120"/>
              </a:rPr>
              <a:t>High (1): 621 → 54.3%</a:t>
            </a:r>
            <a:endParaRPr lang="en-US" sz="1100" dirty="0"/>
          </a:p>
        </p:txBody>
      </p:sp>
      <p:sp>
        <p:nvSpPr>
          <p:cNvPr id="17" name="Text 14"/>
          <p:cNvSpPr/>
          <p:nvPr/>
        </p:nvSpPr>
        <p:spPr>
          <a:xfrm>
            <a:off x="6016752" y="3639312"/>
            <a:ext cx="1188720" cy="320040"/>
          </a:xfrm>
          <a:prstGeom prst="rect">
            <a:avLst/>
          </a:prstGeom>
          <a:noFill/>
          <a:ln/>
        </p:spPr>
        <p:txBody>
          <a:bodyPr wrap="square" rtlCol="0" anchor="ctr"/>
          <a:lstStyle/>
          <a:p>
            <a:pPr marL="0" indent="0">
              <a:buNone/>
            </a:pPr>
            <a:r>
              <a:rPr lang="en-US" sz="1100" b="1" dirty="0">
                <a:solidFill>
                  <a:srgbClr val="6D1A36"/>
                </a:solidFill>
                <a:latin typeface="Calibri" pitchFamily="34" charset="0"/>
                <a:ea typeface="Calibri" pitchFamily="34" charset="-122"/>
                <a:cs typeface="Calibri" pitchFamily="34" charset="-120"/>
              </a:rPr>
              <a:t>Balance:</a:t>
            </a:r>
            <a:endParaRPr lang="en-US" sz="1100" dirty="0"/>
          </a:p>
        </p:txBody>
      </p:sp>
      <p:sp>
        <p:nvSpPr>
          <p:cNvPr id="18" name="Text 15"/>
          <p:cNvSpPr/>
          <p:nvPr/>
        </p:nvSpPr>
        <p:spPr>
          <a:xfrm>
            <a:off x="7223760" y="3639312"/>
            <a:ext cx="1554480" cy="320040"/>
          </a:xfrm>
          <a:prstGeom prst="rect">
            <a:avLst/>
          </a:prstGeom>
          <a:noFill/>
          <a:ln/>
        </p:spPr>
        <p:txBody>
          <a:bodyPr wrap="square" rtlCol="0" anchor="ctr"/>
          <a:lstStyle/>
          <a:p>
            <a:pPr marL="0" indent="0">
              <a:buNone/>
            </a:pPr>
            <a:r>
              <a:rPr lang="en-US" sz="1100" dirty="0">
                <a:solidFill>
                  <a:srgbClr val="2B2B2B"/>
                </a:solidFill>
                <a:latin typeface="Calibri" pitchFamily="34" charset="0"/>
                <a:ea typeface="Calibri" pitchFamily="34" charset="-122"/>
                <a:cs typeface="Calibri" pitchFamily="34" charset="-120"/>
              </a:rPr>
              <a:t>Near-balanced — no major class imbalance issue</a:t>
            </a:r>
            <a:endParaRPr lang="en-US" sz="1100" dirty="0"/>
          </a:p>
        </p:txBody>
      </p:sp>
      <p:sp>
        <p:nvSpPr>
          <p:cNvPr id="19" name="Shape 16"/>
          <p:cNvSpPr/>
          <p:nvPr/>
        </p:nvSpPr>
        <p:spPr>
          <a:xfrm>
            <a:off x="274320" y="4389120"/>
            <a:ext cx="8595360" cy="384048"/>
          </a:xfrm>
          <a:prstGeom prst="rect">
            <a:avLst/>
          </a:prstGeom>
          <a:solidFill>
            <a:srgbClr val="EDD5DE"/>
          </a:solidFill>
          <a:ln/>
        </p:spPr>
        <p:txBody>
          <a:bodyPr/>
          <a:lstStyle/>
          <a:p>
            <a:endParaRPr lang="en-US"/>
          </a:p>
        </p:txBody>
      </p:sp>
      <p:sp>
        <p:nvSpPr>
          <p:cNvPr id="20" name="Text 17"/>
          <p:cNvSpPr/>
          <p:nvPr/>
        </p:nvSpPr>
        <p:spPr>
          <a:xfrm>
            <a:off x="411480" y="4407408"/>
            <a:ext cx="8321040" cy="347472"/>
          </a:xfrm>
          <a:prstGeom prst="rect">
            <a:avLst/>
          </a:prstGeom>
          <a:noFill/>
          <a:ln/>
        </p:spPr>
        <p:txBody>
          <a:bodyPr wrap="square" rtlCol="0" anchor="ctr"/>
          <a:lstStyle/>
          <a:p>
            <a:pPr marL="0" indent="0">
              <a:buNone/>
            </a:pPr>
            <a:r>
              <a:rPr lang="en-US" sz="1100" b="1" dirty="0">
                <a:solidFill>
                  <a:srgbClr val="6D1A36"/>
                </a:solidFill>
                <a:latin typeface="Calibri" pitchFamily="34" charset="0"/>
                <a:ea typeface="Calibri" pitchFamily="34" charset="-122"/>
                <a:cs typeface="Calibri" pitchFamily="34" charset="-120"/>
              </a:rPr>
              <a:t>Scores 5 &amp; 6 dominate — the binarization threshold (quality ≥ 6 = High) sits in the densest region, making classification more challenging.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EDA: FEATURE CORRELATIONS &amp; KEY TRENDS</a:t>
            </a:r>
            <a:endParaRPr lang="en-US" sz="2000" dirty="0"/>
          </a:p>
        </p:txBody>
      </p:sp>
      <p:pic>
        <p:nvPicPr>
          <p:cNvPr id="4" name="Image 0" descr="preencoded.png"/>
          <p:cNvPicPr>
            <a:picLocks noChangeAspect="1"/>
          </p:cNvPicPr>
          <p:nvPr/>
        </p:nvPicPr>
        <p:blipFill>
          <a:blip r:embed="rId3"/>
          <a:stretch>
            <a:fillRect/>
          </a:stretch>
        </p:blipFill>
        <p:spPr>
          <a:xfrm>
            <a:off x="274320" y="914400"/>
            <a:ext cx="4206240" cy="3474720"/>
          </a:xfrm>
          <a:prstGeom prst="rect">
            <a:avLst/>
          </a:prstGeom>
        </p:spPr>
      </p:pic>
      <p:pic>
        <p:nvPicPr>
          <p:cNvPr id="5" name="Image 1" descr="preencoded.png"/>
          <p:cNvPicPr>
            <a:picLocks noChangeAspect="1"/>
          </p:cNvPicPr>
          <p:nvPr/>
        </p:nvPicPr>
        <p:blipFill>
          <a:blip r:embed="rId4"/>
          <a:stretch>
            <a:fillRect/>
          </a:stretch>
        </p:blipFill>
        <p:spPr>
          <a:xfrm>
            <a:off x="4663440" y="914400"/>
            <a:ext cx="4297680" cy="3474720"/>
          </a:xfrm>
          <a:prstGeom prst="rect">
            <a:avLst/>
          </a:prstGeom>
        </p:spPr>
      </p:pic>
      <p:sp>
        <p:nvSpPr>
          <p:cNvPr id="6" name="Shape 2"/>
          <p:cNvSpPr/>
          <p:nvPr/>
        </p:nvSpPr>
        <p:spPr>
          <a:xfrm>
            <a:off x="274320" y="4480560"/>
            <a:ext cx="4206240" cy="50292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7" name="Text 3"/>
          <p:cNvSpPr/>
          <p:nvPr/>
        </p:nvSpPr>
        <p:spPr>
          <a:xfrm>
            <a:off x="384048" y="4507992"/>
            <a:ext cx="3977640" cy="438912"/>
          </a:xfrm>
          <a:prstGeom prst="rect">
            <a:avLst/>
          </a:prstGeom>
          <a:noFill/>
          <a:ln/>
        </p:spPr>
        <p:txBody>
          <a:bodyPr wrap="square" rtlCol="0" anchor="ctr"/>
          <a:lstStyle/>
          <a:p>
            <a:pPr marL="0" indent="0">
              <a:buNone/>
            </a:pPr>
            <a:r>
              <a:rPr lang="en-US" sz="1000" dirty="0">
                <a:solidFill>
                  <a:srgbClr val="2B2B2B"/>
                </a:solidFill>
                <a:latin typeface="Calibri" pitchFamily="34" charset="0"/>
                <a:ea typeface="Calibri" pitchFamily="34" charset="-122"/>
                <a:cs typeface="Calibri" pitchFamily="34" charset="-120"/>
              </a:rPr>
              <a:t>🔍  Strongest correlations: Fixed Acidity ↔ Density (+0.68), Free SO₂ ↔ Total SO₂ (+0.66), Fixed Acidity ↔ pH (−0.69)</a:t>
            </a:r>
            <a:endParaRPr lang="en-US" sz="1000" dirty="0"/>
          </a:p>
        </p:txBody>
      </p:sp>
      <p:sp>
        <p:nvSpPr>
          <p:cNvPr id="8" name="Shape 4"/>
          <p:cNvSpPr/>
          <p:nvPr/>
        </p:nvSpPr>
        <p:spPr>
          <a:xfrm>
            <a:off x="4663440" y="4480560"/>
            <a:ext cx="4297680" cy="50292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9" name="Text 5"/>
          <p:cNvSpPr/>
          <p:nvPr/>
        </p:nvSpPr>
        <p:spPr>
          <a:xfrm>
            <a:off x="4773168" y="4507992"/>
            <a:ext cx="4069080" cy="438912"/>
          </a:xfrm>
          <a:prstGeom prst="rect">
            <a:avLst/>
          </a:prstGeom>
          <a:noFill/>
          <a:ln/>
        </p:spPr>
        <p:txBody>
          <a:bodyPr wrap="square" rtlCol="0" anchor="ctr"/>
          <a:lstStyle/>
          <a:p>
            <a:pPr marL="0" indent="0">
              <a:buNone/>
            </a:pPr>
            <a:r>
              <a:rPr lang="en-US" sz="1000" dirty="0">
                <a:solidFill>
                  <a:srgbClr val="2B2B2B"/>
                </a:solidFill>
                <a:latin typeface="Calibri" pitchFamily="34" charset="0"/>
                <a:ea typeface="Calibri" pitchFamily="34" charset="-122"/>
                <a:cs typeface="Calibri" pitchFamily="34" charset="-120"/>
              </a:rPr>
              <a:t>👁  Alcohol rises monotonically with quality; Volatile Acidity falls — both confirm our RQ2 hypothesis direction.</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RQ2: WHICH FEATURES MOST INFLUENCE WINE QUALITY?</a:t>
            </a:r>
            <a:endParaRPr lang="en-US" sz="1900" dirty="0"/>
          </a:p>
        </p:txBody>
      </p:sp>
      <p:pic>
        <p:nvPicPr>
          <p:cNvPr id="4" name="Image 0" descr="preencoded.png"/>
          <p:cNvPicPr>
            <a:picLocks noChangeAspect="1"/>
          </p:cNvPicPr>
          <p:nvPr/>
        </p:nvPicPr>
        <p:blipFill>
          <a:blip r:embed="rId3"/>
          <a:stretch>
            <a:fillRect/>
          </a:stretch>
        </p:blipFill>
        <p:spPr>
          <a:xfrm>
            <a:off x="274320" y="914400"/>
            <a:ext cx="4389120" cy="3200400"/>
          </a:xfrm>
          <a:prstGeom prst="rect">
            <a:avLst/>
          </a:prstGeom>
        </p:spPr>
      </p:pic>
      <p:pic>
        <p:nvPicPr>
          <p:cNvPr id="5" name="Image 1" descr="preencoded.png"/>
          <p:cNvPicPr>
            <a:picLocks noChangeAspect="1"/>
          </p:cNvPicPr>
          <p:nvPr/>
        </p:nvPicPr>
        <p:blipFill>
          <a:blip r:embed="rId4"/>
          <a:stretch>
            <a:fillRect/>
          </a:stretch>
        </p:blipFill>
        <p:spPr>
          <a:xfrm>
            <a:off x="4754880" y="914400"/>
            <a:ext cx="4206240" cy="3200400"/>
          </a:xfrm>
          <a:prstGeom prst="rect">
            <a:avLst/>
          </a:prstGeom>
        </p:spPr>
      </p:pic>
      <p:sp>
        <p:nvSpPr>
          <p:cNvPr id="6" name="Shape 2"/>
          <p:cNvSpPr/>
          <p:nvPr/>
        </p:nvSpPr>
        <p:spPr>
          <a:xfrm>
            <a:off x="274320" y="4206240"/>
            <a:ext cx="8595360" cy="713232"/>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7" name="Shape 3"/>
          <p:cNvSpPr/>
          <p:nvPr/>
        </p:nvSpPr>
        <p:spPr>
          <a:xfrm>
            <a:off x="274320" y="4206240"/>
            <a:ext cx="109728" cy="713232"/>
          </a:xfrm>
          <a:prstGeom prst="rect">
            <a:avLst/>
          </a:prstGeom>
          <a:solidFill>
            <a:srgbClr val="A83258"/>
          </a:solidFill>
          <a:ln/>
        </p:spPr>
        <p:txBody>
          <a:bodyPr/>
          <a:lstStyle/>
          <a:p>
            <a:endParaRPr lang="en-US"/>
          </a:p>
        </p:txBody>
      </p:sp>
      <p:sp>
        <p:nvSpPr>
          <p:cNvPr id="8" name="Text 4"/>
          <p:cNvSpPr/>
          <p:nvPr/>
        </p:nvSpPr>
        <p:spPr>
          <a:xfrm>
            <a:off x="502920" y="4251960"/>
            <a:ext cx="2286000" cy="274320"/>
          </a:xfrm>
          <a:prstGeom prst="rect">
            <a:avLst/>
          </a:prstGeom>
          <a:noFill/>
          <a:ln/>
        </p:spPr>
        <p:txBody>
          <a:bodyPr wrap="square" rtlCol="0" anchor="ctr"/>
          <a:lstStyle/>
          <a:p>
            <a:pPr marL="0" indent="0">
              <a:buNone/>
            </a:pPr>
            <a:r>
              <a:rPr lang="en-US" sz="1200" b="1" dirty="0">
                <a:solidFill>
                  <a:srgbClr val="6D1A36"/>
                </a:solidFill>
                <a:latin typeface="Calibri" pitchFamily="34" charset="0"/>
                <a:ea typeface="Calibri" pitchFamily="34" charset="-122"/>
                <a:cs typeface="Calibri" pitchFamily="34" charset="-120"/>
              </a:rPr>
              <a:t>Both models agree on Top-3:</a:t>
            </a:r>
            <a:endParaRPr lang="en-US" sz="1200" dirty="0"/>
          </a:p>
        </p:txBody>
      </p:sp>
      <p:sp>
        <p:nvSpPr>
          <p:cNvPr id="9" name="Shape 5"/>
          <p:cNvSpPr/>
          <p:nvPr/>
        </p:nvSpPr>
        <p:spPr>
          <a:xfrm>
            <a:off x="2651760" y="4233672"/>
            <a:ext cx="2011680" cy="640080"/>
          </a:xfrm>
          <a:prstGeom prst="rect">
            <a:avLst/>
          </a:prstGeom>
          <a:solidFill>
            <a:srgbClr val="6D1A36"/>
          </a:solidFill>
          <a:ln/>
        </p:spPr>
        <p:txBody>
          <a:bodyPr/>
          <a:lstStyle/>
          <a:p>
            <a:endParaRPr lang="en-US"/>
          </a:p>
        </p:txBody>
      </p:sp>
      <p:sp>
        <p:nvSpPr>
          <p:cNvPr id="10" name="Text 6"/>
          <p:cNvSpPr/>
          <p:nvPr/>
        </p:nvSpPr>
        <p:spPr>
          <a:xfrm>
            <a:off x="2651760" y="4261104"/>
            <a:ext cx="20116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  Alcohol</a:t>
            </a:r>
            <a:endParaRPr lang="en-US" sz="1100" dirty="0"/>
          </a:p>
        </p:txBody>
      </p:sp>
      <p:sp>
        <p:nvSpPr>
          <p:cNvPr id="11" name="Text 7"/>
          <p:cNvSpPr/>
          <p:nvPr/>
        </p:nvSpPr>
        <p:spPr>
          <a:xfrm>
            <a:off x="2651760" y="4526280"/>
            <a:ext cx="2011680" cy="2286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RF: 0.1910  |  LR: 0.9511 (+)</a:t>
            </a:r>
            <a:endParaRPr lang="en-US" sz="900" dirty="0"/>
          </a:p>
        </p:txBody>
      </p:sp>
      <p:sp>
        <p:nvSpPr>
          <p:cNvPr id="12" name="Shape 8"/>
          <p:cNvSpPr/>
          <p:nvPr/>
        </p:nvSpPr>
        <p:spPr>
          <a:xfrm>
            <a:off x="4800600" y="4233672"/>
            <a:ext cx="2011680" cy="640080"/>
          </a:xfrm>
          <a:prstGeom prst="rect">
            <a:avLst/>
          </a:prstGeom>
          <a:solidFill>
            <a:srgbClr val="A83258"/>
          </a:solidFill>
          <a:ln/>
        </p:spPr>
        <p:txBody>
          <a:bodyPr/>
          <a:lstStyle/>
          <a:p>
            <a:endParaRPr lang="en-US"/>
          </a:p>
        </p:txBody>
      </p:sp>
      <p:sp>
        <p:nvSpPr>
          <p:cNvPr id="13" name="Text 9"/>
          <p:cNvSpPr/>
          <p:nvPr/>
        </p:nvSpPr>
        <p:spPr>
          <a:xfrm>
            <a:off x="4800600" y="4261104"/>
            <a:ext cx="20116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  Volatile Acidity</a:t>
            </a:r>
            <a:endParaRPr lang="en-US" sz="1100" dirty="0"/>
          </a:p>
        </p:txBody>
      </p:sp>
      <p:sp>
        <p:nvSpPr>
          <p:cNvPr id="14" name="Text 10"/>
          <p:cNvSpPr/>
          <p:nvPr/>
        </p:nvSpPr>
        <p:spPr>
          <a:xfrm>
            <a:off x="4800600" y="4526280"/>
            <a:ext cx="2011680" cy="2286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RF: 0.1185  |  LR: 0.7397 (−)</a:t>
            </a:r>
            <a:endParaRPr lang="en-US" sz="900" dirty="0"/>
          </a:p>
        </p:txBody>
      </p:sp>
      <p:sp>
        <p:nvSpPr>
          <p:cNvPr id="15" name="Shape 11"/>
          <p:cNvSpPr/>
          <p:nvPr/>
        </p:nvSpPr>
        <p:spPr>
          <a:xfrm>
            <a:off x="6949440" y="4233672"/>
            <a:ext cx="2011680" cy="640080"/>
          </a:xfrm>
          <a:prstGeom prst="rect">
            <a:avLst/>
          </a:prstGeom>
          <a:solidFill>
            <a:srgbClr val="C9A84C"/>
          </a:solidFill>
          <a:ln/>
        </p:spPr>
        <p:txBody>
          <a:bodyPr/>
          <a:lstStyle/>
          <a:p>
            <a:endParaRPr lang="en-US"/>
          </a:p>
        </p:txBody>
      </p:sp>
      <p:sp>
        <p:nvSpPr>
          <p:cNvPr id="16" name="Text 12"/>
          <p:cNvSpPr/>
          <p:nvPr/>
        </p:nvSpPr>
        <p:spPr>
          <a:xfrm>
            <a:off x="6949440" y="4261104"/>
            <a:ext cx="2011680" cy="27432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  Sulphates</a:t>
            </a:r>
            <a:endParaRPr lang="en-US" sz="1100" dirty="0"/>
          </a:p>
        </p:txBody>
      </p:sp>
      <p:sp>
        <p:nvSpPr>
          <p:cNvPr id="17" name="Text 13"/>
          <p:cNvSpPr/>
          <p:nvPr/>
        </p:nvSpPr>
        <p:spPr>
          <a:xfrm>
            <a:off x="6949440" y="4526280"/>
            <a:ext cx="2011680" cy="228600"/>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RF: 0.1350  |  LR: 0.5067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RQ3: WHICH MODEL PERFORMS BEST?</a:t>
            </a:r>
            <a:endParaRPr lang="en-US" sz="2200" dirty="0"/>
          </a:p>
        </p:txBody>
      </p:sp>
      <p:pic>
        <p:nvPicPr>
          <p:cNvPr id="4" name="Image 0" descr="preencoded.png"/>
          <p:cNvPicPr>
            <a:picLocks noChangeAspect="1"/>
          </p:cNvPicPr>
          <p:nvPr/>
        </p:nvPicPr>
        <p:blipFill>
          <a:blip r:embed="rId3"/>
          <a:stretch>
            <a:fillRect/>
          </a:stretch>
        </p:blipFill>
        <p:spPr>
          <a:xfrm>
            <a:off x="274320" y="914400"/>
            <a:ext cx="5120640" cy="3200400"/>
          </a:xfrm>
          <a:prstGeom prst="rect">
            <a:avLst/>
          </a:prstGeom>
        </p:spPr>
      </p:pic>
      <p:sp>
        <p:nvSpPr>
          <p:cNvPr id="5" name="Shape 2"/>
          <p:cNvSpPr/>
          <p:nvPr/>
        </p:nvSpPr>
        <p:spPr>
          <a:xfrm>
            <a:off x="5577840" y="914400"/>
            <a:ext cx="3337560" cy="32004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6" name="Shape 3"/>
          <p:cNvSpPr/>
          <p:nvPr/>
        </p:nvSpPr>
        <p:spPr>
          <a:xfrm>
            <a:off x="5577840" y="914400"/>
            <a:ext cx="3337560" cy="402336"/>
          </a:xfrm>
          <a:prstGeom prst="rect">
            <a:avLst/>
          </a:prstGeom>
          <a:solidFill>
            <a:srgbClr val="6D1A36"/>
          </a:solidFill>
          <a:ln/>
        </p:spPr>
        <p:txBody>
          <a:bodyPr/>
          <a:lstStyle/>
          <a:p>
            <a:endParaRPr lang="en-US"/>
          </a:p>
        </p:txBody>
      </p:sp>
      <p:sp>
        <p:nvSpPr>
          <p:cNvPr id="7" name="Text 4"/>
          <p:cNvSpPr/>
          <p:nvPr/>
        </p:nvSpPr>
        <p:spPr>
          <a:xfrm>
            <a:off x="5577840" y="914400"/>
            <a:ext cx="3337560" cy="402336"/>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Model Leaderboard</a:t>
            </a:r>
            <a:endParaRPr lang="en-US" sz="1300" dirty="0"/>
          </a:p>
        </p:txBody>
      </p:sp>
      <p:sp>
        <p:nvSpPr>
          <p:cNvPr id="8" name="Shape 5"/>
          <p:cNvSpPr/>
          <p:nvPr/>
        </p:nvSpPr>
        <p:spPr>
          <a:xfrm>
            <a:off x="5577840" y="1389888"/>
            <a:ext cx="3337560" cy="621792"/>
          </a:xfrm>
          <a:prstGeom prst="rect">
            <a:avLst/>
          </a:prstGeom>
          <a:solidFill>
            <a:srgbClr val="EDD5DE"/>
          </a:solidFill>
          <a:ln/>
          <a:effectLst>
            <a:outerShdw blurRad="101600" dist="38100" dir="8100000" algn="bl" rotWithShape="0">
              <a:srgbClr val="000000">
                <a:alpha val="13000"/>
              </a:srgbClr>
            </a:outerShdw>
          </a:effectLst>
        </p:spPr>
        <p:txBody>
          <a:bodyPr/>
          <a:lstStyle/>
          <a:p>
            <a:endParaRPr lang="en-US"/>
          </a:p>
        </p:txBody>
      </p:sp>
      <p:sp>
        <p:nvSpPr>
          <p:cNvPr id="9" name="Shape 6"/>
          <p:cNvSpPr/>
          <p:nvPr/>
        </p:nvSpPr>
        <p:spPr>
          <a:xfrm>
            <a:off x="5605272" y="1481328"/>
            <a:ext cx="475488" cy="420624"/>
          </a:xfrm>
          <a:prstGeom prst="rect">
            <a:avLst/>
          </a:prstGeom>
          <a:solidFill>
            <a:srgbClr val="C9A84C"/>
          </a:solidFill>
          <a:ln/>
        </p:spPr>
        <p:txBody>
          <a:bodyPr/>
          <a:lstStyle/>
          <a:p>
            <a:endParaRPr lang="en-US"/>
          </a:p>
        </p:txBody>
      </p:sp>
      <p:sp>
        <p:nvSpPr>
          <p:cNvPr id="10" name="Text 7"/>
          <p:cNvSpPr/>
          <p:nvPr/>
        </p:nvSpPr>
        <p:spPr>
          <a:xfrm>
            <a:off x="5605272" y="1481328"/>
            <a:ext cx="47548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1" name="Text 8"/>
          <p:cNvSpPr/>
          <p:nvPr/>
        </p:nvSpPr>
        <p:spPr>
          <a:xfrm>
            <a:off x="6172200" y="1444752"/>
            <a:ext cx="2651760" cy="274320"/>
          </a:xfrm>
          <a:prstGeom prst="rect">
            <a:avLst/>
          </a:prstGeom>
          <a:noFill/>
          <a:ln/>
        </p:spPr>
        <p:txBody>
          <a:bodyPr wrap="square"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Random Forest</a:t>
            </a:r>
            <a:endParaRPr lang="en-US" sz="1300" dirty="0"/>
          </a:p>
        </p:txBody>
      </p:sp>
      <p:sp>
        <p:nvSpPr>
          <p:cNvPr id="12" name="Text 9"/>
          <p:cNvSpPr/>
          <p:nvPr/>
        </p:nvSpPr>
        <p:spPr>
          <a:xfrm>
            <a:off x="6172200" y="1737360"/>
            <a:ext cx="2651760" cy="228600"/>
          </a:xfrm>
          <a:prstGeom prst="rect">
            <a:avLst/>
          </a:prstGeom>
          <a:noFill/>
          <a:ln/>
        </p:spPr>
        <p:txBody>
          <a:bodyPr wrap="square" rtlCol="0" anchor="ctr"/>
          <a:lstStyle/>
          <a:p>
            <a:pPr marL="0" indent="0">
              <a:buNone/>
            </a:pPr>
            <a:r>
              <a:rPr lang="en-US" sz="1050" dirty="0">
                <a:solidFill>
                  <a:srgbClr val="7A6070"/>
                </a:solidFill>
                <a:latin typeface="Calibri" pitchFamily="34" charset="0"/>
                <a:ea typeface="Calibri" pitchFamily="34" charset="-122"/>
                <a:cs typeface="Calibri" pitchFamily="34" charset="-120"/>
              </a:rPr>
              <a:t>Acc: 77.29%  |  F1: 0.771</a:t>
            </a:r>
            <a:endParaRPr lang="en-US" sz="1050" dirty="0"/>
          </a:p>
        </p:txBody>
      </p:sp>
      <p:sp>
        <p:nvSpPr>
          <p:cNvPr id="13" name="Shape 10"/>
          <p:cNvSpPr/>
          <p:nvPr/>
        </p:nvSpPr>
        <p:spPr>
          <a:xfrm>
            <a:off x="5577840" y="2048256"/>
            <a:ext cx="3337560" cy="621792"/>
          </a:xfrm>
          <a:prstGeom prst="rect">
            <a:avLst/>
          </a:prstGeom>
          <a:solidFill>
            <a:srgbClr val="F9F9F9"/>
          </a:solidFill>
          <a:ln/>
          <a:effectLst>
            <a:outerShdw blurRad="101600" dist="38100" dir="8100000" algn="bl" rotWithShape="0">
              <a:srgbClr val="000000">
                <a:alpha val="13000"/>
              </a:srgbClr>
            </a:outerShdw>
          </a:effectLst>
        </p:spPr>
        <p:txBody>
          <a:bodyPr/>
          <a:lstStyle/>
          <a:p>
            <a:endParaRPr lang="en-US"/>
          </a:p>
        </p:txBody>
      </p:sp>
      <p:sp>
        <p:nvSpPr>
          <p:cNvPr id="14" name="Shape 11"/>
          <p:cNvSpPr/>
          <p:nvPr/>
        </p:nvSpPr>
        <p:spPr>
          <a:xfrm>
            <a:off x="5605272" y="2139696"/>
            <a:ext cx="475488" cy="420624"/>
          </a:xfrm>
          <a:prstGeom prst="rect">
            <a:avLst/>
          </a:prstGeom>
          <a:solidFill>
            <a:srgbClr val="9E9E9E"/>
          </a:solidFill>
          <a:ln/>
        </p:spPr>
        <p:txBody>
          <a:bodyPr/>
          <a:lstStyle/>
          <a:p>
            <a:endParaRPr lang="en-US"/>
          </a:p>
        </p:txBody>
      </p:sp>
      <p:sp>
        <p:nvSpPr>
          <p:cNvPr id="15" name="Text 12"/>
          <p:cNvSpPr/>
          <p:nvPr/>
        </p:nvSpPr>
        <p:spPr>
          <a:xfrm>
            <a:off x="5605272" y="2139696"/>
            <a:ext cx="47548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p:nvPr/>
        </p:nvSpPr>
        <p:spPr>
          <a:xfrm>
            <a:off x="6172200" y="2103120"/>
            <a:ext cx="2651760" cy="274320"/>
          </a:xfrm>
          <a:prstGeom prst="rect">
            <a:avLst/>
          </a:prstGeom>
          <a:noFill/>
          <a:ln/>
        </p:spPr>
        <p:txBody>
          <a:bodyPr wrap="square"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Logistic Reg.</a:t>
            </a:r>
            <a:endParaRPr lang="en-US" sz="1300" dirty="0"/>
          </a:p>
        </p:txBody>
      </p:sp>
      <p:sp>
        <p:nvSpPr>
          <p:cNvPr id="17" name="Text 14"/>
          <p:cNvSpPr/>
          <p:nvPr/>
        </p:nvSpPr>
        <p:spPr>
          <a:xfrm>
            <a:off x="6172200" y="2395728"/>
            <a:ext cx="2651760" cy="228600"/>
          </a:xfrm>
          <a:prstGeom prst="rect">
            <a:avLst/>
          </a:prstGeom>
          <a:noFill/>
          <a:ln/>
        </p:spPr>
        <p:txBody>
          <a:bodyPr wrap="square" rtlCol="0" anchor="ctr"/>
          <a:lstStyle/>
          <a:p>
            <a:pPr marL="0" indent="0">
              <a:buNone/>
            </a:pPr>
            <a:r>
              <a:rPr lang="en-US" sz="1050" dirty="0">
                <a:solidFill>
                  <a:srgbClr val="7A6070"/>
                </a:solidFill>
                <a:latin typeface="Calibri" pitchFamily="34" charset="0"/>
                <a:ea typeface="Calibri" pitchFamily="34" charset="-122"/>
                <a:cs typeface="Calibri" pitchFamily="34" charset="-120"/>
              </a:rPr>
              <a:t>Acc: 76.86%  |  F1: 0.766</a:t>
            </a:r>
            <a:endParaRPr lang="en-US" sz="1050" dirty="0"/>
          </a:p>
        </p:txBody>
      </p:sp>
      <p:sp>
        <p:nvSpPr>
          <p:cNvPr id="18" name="Shape 15"/>
          <p:cNvSpPr/>
          <p:nvPr/>
        </p:nvSpPr>
        <p:spPr>
          <a:xfrm>
            <a:off x="5577840" y="2706624"/>
            <a:ext cx="3337560" cy="621792"/>
          </a:xfrm>
          <a:prstGeom prst="rect">
            <a:avLst/>
          </a:prstGeom>
          <a:solidFill>
            <a:srgbClr val="F9F9F9"/>
          </a:solidFill>
          <a:ln/>
          <a:effectLst>
            <a:outerShdw blurRad="101600" dist="38100" dir="8100000" algn="bl" rotWithShape="0">
              <a:srgbClr val="000000">
                <a:alpha val="13000"/>
              </a:srgbClr>
            </a:outerShdw>
          </a:effectLst>
        </p:spPr>
        <p:txBody>
          <a:bodyPr/>
          <a:lstStyle/>
          <a:p>
            <a:endParaRPr lang="en-US"/>
          </a:p>
        </p:txBody>
      </p:sp>
      <p:sp>
        <p:nvSpPr>
          <p:cNvPr id="19" name="Shape 16"/>
          <p:cNvSpPr/>
          <p:nvPr/>
        </p:nvSpPr>
        <p:spPr>
          <a:xfrm>
            <a:off x="5605272" y="2798064"/>
            <a:ext cx="475488" cy="420624"/>
          </a:xfrm>
          <a:prstGeom prst="rect">
            <a:avLst/>
          </a:prstGeom>
          <a:solidFill>
            <a:srgbClr val="A0522D"/>
          </a:solidFill>
          <a:ln/>
        </p:spPr>
        <p:txBody>
          <a:bodyPr/>
          <a:lstStyle/>
          <a:p>
            <a:endParaRPr lang="en-US"/>
          </a:p>
        </p:txBody>
      </p:sp>
      <p:sp>
        <p:nvSpPr>
          <p:cNvPr id="20" name="Text 17"/>
          <p:cNvSpPr/>
          <p:nvPr/>
        </p:nvSpPr>
        <p:spPr>
          <a:xfrm>
            <a:off x="5605272" y="2798064"/>
            <a:ext cx="47548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p:nvPr/>
        </p:nvSpPr>
        <p:spPr>
          <a:xfrm>
            <a:off x="6172200" y="2761488"/>
            <a:ext cx="2651760" cy="274320"/>
          </a:xfrm>
          <a:prstGeom prst="rect">
            <a:avLst/>
          </a:prstGeom>
          <a:noFill/>
          <a:ln/>
        </p:spPr>
        <p:txBody>
          <a:bodyPr wrap="square"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KNN</a:t>
            </a:r>
            <a:endParaRPr lang="en-US" sz="1300" dirty="0"/>
          </a:p>
        </p:txBody>
      </p:sp>
      <p:sp>
        <p:nvSpPr>
          <p:cNvPr id="22" name="Text 19"/>
          <p:cNvSpPr/>
          <p:nvPr/>
        </p:nvSpPr>
        <p:spPr>
          <a:xfrm>
            <a:off x="6172200" y="3054096"/>
            <a:ext cx="2651760" cy="228600"/>
          </a:xfrm>
          <a:prstGeom prst="rect">
            <a:avLst/>
          </a:prstGeom>
          <a:noFill/>
          <a:ln/>
        </p:spPr>
        <p:txBody>
          <a:bodyPr wrap="square" rtlCol="0" anchor="ctr"/>
          <a:lstStyle/>
          <a:p>
            <a:pPr marL="0" indent="0">
              <a:buNone/>
            </a:pPr>
            <a:r>
              <a:rPr lang="en-US" sz="1050" dirty="0">
                <a:solidFill>
                  <a:srgbClr val="7A6070"/>
                </a:solidFill>
                <a:latin typeface="Calibri" pitchFamily="34" charset="0"/>
                <a:ea typeface="Calibri" pitchFamily="34" charset="-122"/>
                <a:cs typeface="Calibri" pitchFamily="34" charset="-120"/>
              </a:rPr>
              <a:t>Acc: 72.49%  |  F1: 0.720</a:t>
            </a:r>
            <a:endParaRPr lang="en-US" sz="1050" dirty="0"/>
          </a:p>
        </p:txBody>
      </p:sp>
      <p:sp>
        <p:nvSpPr>
          <p:cNvPr id="23" name="Shape 20"/>
          <p:cNvSpPr/>
          <p:nvPr/>
        </p:nvSpPr>
        <p:spPr>
          <a:xfrm>
            <a:off x="5577840" y="3364992"/>
            <a:ext cx="3337560" cy="621792"/>
          </a:xfrm>
          <a:prstGeom prst="rect">
            <a:avLst/>
          </a:prstGeom>
          <a:solidFill>
            <a:srgbClr val="F9F9F9"/>
          </a:solidFill>
          <a:ln/>
          <a:effectLst>
            <a:outerShdw blurRad="101600" dist="38100" dir="8100000" algn="bl" rotWithShape="0">
              <a:srgbClr val="000000">
                <a:alpha val="13000"/>
              </a:srgbClr>
            </a:outerShdw>
          </a:effectLst>
        </p:spPr>
        <p:txBody>
          <a:bodyPr/>
          <a:lstStyle/>
          <a:p>
            <a:endParaRPr lang="en-US"/>
          </a:p>
        </p:txBody>
      </p:sp>
      <p:sp>
        <p:nvSpPr>
          <p:cNvPr id="24" name="Shape 21"/>
          <p:cNvSpPr/>
          <p:nvPr/>
        </p:nvSpPr>
        <p:spPr>
          <a:xfrm>
            <a:off x="5605272" y="3456432"/>
            <a:ext cx="475488" cy="420624"/>
          </a:xfrm>
          <a:prstGeom prst="rect">
            <a:avLst/>
          </a:prstGeom>
          <a:solidFill>
            <a:srgbClr val="6B7280"/>
          </a:solidFill>
          <a:ln/>
        </p:spPr>
        <p:txBody>
          <a:bodyPr/>
          <a:lstStyle/>
          <a:p>
            <a:endParaRPr lang="en-US"/>
          </a:p>
        </p:txBody>
      </p:sp>
      <p:sp>
        <p:nvSpPr>
          <p:cNvPr id="25" name="Text 22"/>
          <p:cNvSpPr/>
          <p:nvPr/>
        </p:nvSpPr>
        <p:spPr>
          <a:xfrm>
            <a:off x="5605272" y="3456432"/>
            <a:ext cx="475488" cy="420624"/>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6" name="Text 23"/>
          <p:cNvSpPr/>
          <p:nvPr/>
        </p:nvSpPr>
        <p:spPr>
          <a:xfrm>
            <a:off x="6172200" y="3419856"/>
            <a:ext cx="2651760" cy="274320"/>
          </a:xfrm>
          <a:prstGeom prst="rect">
            <a:avLst/>
          </a:prstGeom>
          <a:noFill/>
          <a:ln/>
        </p:spPr>
        <p:txBody>
          <a:bodyPr wrap="square" rtlCol="0" anchor="ctr"/>
          <a:lstStyle/>
          <a:p>
            <a:pPr marL="0" indent="0">
              <a:buNone/>
            </a:pPr>
            <a:r>
              <a:rPr lang="en-US" sz="1300" b="1" dirty="0">
                <a:solidFill>
                  <a:srgbClr val="2B2B2B"/>
                </a:solidFill>
                <a:latin typeface="Calibri" pitchFamily="34" charset="0"/>
                <a:ea typeface="Calibri" pitchFamily="34" charset="-122"/>
                <a:cs typeface="Calibri" pitchFamily="34" charset="-120"/>
              </a:rPr>
              <a:t>Decision Tree</a:t>
            </a:r>
            <a:endParaRPr lang="en-US" sz="1300" dirty="0"/>
          </a:p>
        </p:txBody>
      </p:sp>
      <p:sp>
        <p:nvSpPr>
          <p:cNvPr id="27" name="Text 24"/>
          <p:cNvSpPr/>
          <p:nvPr/>
        </p:nvSpPr>
        <p:spPr>
          <a:xfrm>
            <a:off x="6172200" y="3712464"/>
            <a:ext cx="2651760" cy="228600"/>
          </a:xfrm>
          <a:prstGeom prst="rect">
            <a:avLst/>
          </a:prstGeom>
          <a:noFill/>
          <a:ln/>
        </p:spPr>
        <p:txBody>
          <a:bodyPr wrap="square" rtlCol="0" anchor="ctr"/>
          <a:lstStyle/>
          <a:p>
            <a:pPr marL="0" indent="0">
              <a:buNone/>
            </a:pPr>
            <a:r>
              <a:rPr lang="en-US" sz="1050" dirty="0">
                <a:solidFill>
                  <a:srgbClr val="7A6070"/>
                </a:solidFill>
                <a:latin typeface="Calibri" pitchFamily="34" charset="0"/>
                <a:ea typeface="Calibri" pitchFamily="34" charset="-122"/>
                <a:cs typeface="Calibri" pitchFamily="34" charset="-120"/>
              </a:rPr>
              <a:t>Acc: 68.12%  |  F1: 0.678</a:t>
            </a:r>
            <a:endParaRPr lang="en-US" sz="1050" dirty="0"/>
          </a:p>
        </p:txBody>
      </p:sp>
      <p:sp>
        <p:nvSpPr>
          <p:cNvPr id="28" name="Shape 25"/>
          <p:cNvSpPr/>
          <p:nvPr/>
        </p:nvSpPr>
        <p:spPr>
          <a:xfrm>
            <a:off x="274320" y="4224528"/>
            <a:ext cx="8595360" cy="658368"/>
          </a:xfrm>
          <a:prstGeom prst="rect">
            <a:avLst/>
          </a:prstGeom>
          <a:solidFill>
            <a:srgbClr val="EDD5DE"/>
          </a:solidFill>
          <a:ln/>
        </p:spPr>
        <p:txBody>
          <a:bodyPr/>
          <a:lstStyle/>
          <a:p>
            <a:endParaRPr lang="en-US"/>
          </a:p>
        </p:txBody>
      </p:sp>
      <p:sp>
        <p:nvSpPr>
          <p:cNvPr id="29" name="Shape 26"/>
          <p:cNvSpPr/>
          <p:nvPr/>
        </p:nvSpPr>
        <p:spPr>
          <a:xfrm>
            <a:off x="274320" y="4224528"/>
            <a:ext cx="109728" cy="658368"/>
          </a:xfrm>
          <a:prstGeom prst="rect">
            <a:avLst/>
          </a:prstGeom>
          <a:solidFill>
            <a:srgbClr val="6D1A36"/>
          </a:solidFill>
          <a:ln/>
        </p:spPr>
        <p:txBody>
          <a:bodyPr/>
          <a:lstStyle/>
          <a:p>
            <a:endParaRPr lang="en-US"/>
          </a:p>
        </p:txBody>
      </p:sp>
      <p:sp>
        <p:nvSpPr>
          <p:cNvPr id="30" name="Text 27"/>
          <p:cNvSpPr/>
          <p:nvPr/>
        </p:nvSpPr>
        <p:spPr>
          <a:xfrm>
            <a:off x="502920" y="4270248"/>
            <a:ext cx="8321040" cy="566928"/>
          </a:xfrm>
          <a:prstGeom prst="rect">
            <a:avLst/>
          </a:prstGeom>
          <a:noFill/>
          <a:ln/>
        </p:spPr>
        <p:txBody>
          <a:bodyPr wrap="square" rtlCol="0" anchor="ctr"/>
          <a:lstStyle/>
          <a:p>
            <a:pPr marL="0" indent="0">
              <a:buNone/>
            </a:pPr>
            <a:r>
              <a:rPr lang="en-US" sz="1200" b="1" dirty="0">
                <a:solidFill>
                  <a:srgbClr val="6D1A36"/>
                </a:solidFill>
                <a:latin typeface="Calibri" pitchFamily="34" charset="0"/>
                <a:ea typeface="Calibri" pitchFamily="34" charset="-122"/>
                <a:cs typeface="Calibri" pitchFamily="34" charset="-120"/>
              </a:rPr>
              <a:t>RQ3 Answer: </a:t>
            </a:r>
            <a:r>
              <a:rPr lang="en-US" sz="1200" dirty="0">
                <a:solidFill>
                  <a:srgbClr val="2B2B2B"/>
                </a:solidFill>
                <a:latin typeface="Calibri" pitchFamily="34" charset="0"/>
                <a:ea typeface="Calibri" pitchFamily="34" charset="-122"/>
                <a:cs typeface="Calibri" pitchFamily="34" charset="-120"/>
              </a:rPr>
              <a:t>Random Forest wins with 77.29% accuracy — confirming H3. It outperforms the 50% random baseline by +27.29%, with all 4 models beating the baseline by at least +18%.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000" b="1" dirty="0">
                <a:solidFill>
                  <a:srgbClr val="FFFFFF"/>
                </a:solidFill>
                <a:latin typeface="Georgia" pitchFamily="34" charset="0"/>
                <a:ea typeface="Georgia" pitchFamily="34" charset="-122"/>
                <a:cs typeface="Georgia" pitchFamily="34" charset="-120"/>
              </a:rPr>
              <a:t>RQ3 CONTINUED: F1-SCORE COMPARISON BY CLASS</a:t>
            </a:r>
            <a:endParaRPr lang="en-US" sz="2000" dirty="0"/>
          </a:p>
        </p:txBody>
      </p:sp>
      <p:pic>
        <p:nvPicPr>
          <p:cNvPr id="4" name="Image 0" descr="preencoded.png"/>
          <p:cNvPicPr>
            <a:picLocks noChangeAspect="1"/>
          </p:cNvPicPr>
          <p:nvPr/>
        </p:nvPicPr>
        <p:blipFill>
          <a:blip r:embed="rId3"/>
          <a:stretch>
            <a:fillRect/>
          </a:stretch>
        </p:blipFill>
        <p:spPr>
          <a:xfrm>
            <a:off x="274320" y="914400"/>
            <a:ext cx="5669280" cy="3383280"/>
          </a:xfrm>
          <a:prstGeom prst="rect">
            <a:avLst/>
          </a:prstGeom>
        </p:spPr>
      </p:pic>
      <p:sp>
        <p:nvSpPr>
          <p:cNvPr id="5" name="Shape 2"/>
          <p:cNvSpPr/>
          <p:nvPr/>
        </p:nvSpPr>
        <p:spPr>
          <a:xfrm>
            <a:off x="6080760" y="914400"/>
            <a:ext cx="2834640" cy="338328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6" name="Shape 3"/>
          <p:cNvSpPr/>
          <p:nvPr/>
        </p:nvSpPr>
        <p:spPr>
          <a:xfrm>
            <a:off x="6080760" y="914400"/>
            <a:ext cx="2834640" cy="402336"/>
          </a:xfrm>
          <a:prstGeom prst="rect">
            <a:avLst/>
          </a:prstGeom>
          <a:solidFill>
            <a:srgbClr val="A83258"/>
          </a:solidFill>
          <a:ln/>
        </p:spPr>
        <p:txBody>
          <a:bodyPr/>
          <a:lstStyle/>
          <a:p>
            <a:endParaRPr lang="en-US"/>
          </a:p>
        </p:txBody>
      </p:sp>
      <p:sp>
        <p:nvSpPr>
          <p:cNvPr id="7" name="Text 4"/>
          <p:cNvSpPr/>
          <p:nvPr/>
        </p:nvSpPr>
        <p:spPr>
          <a:xfrm>
            <a:off x="6080760" y="914400"/>
            <a:ext cx="2834640" cy="402336"/>
          </a:xfrm>
          <a:prstGeom prst="rect">
            <a:avLst/>
          </a:prstGeom>
          <a:noFill/>
          <a:ln/>
        </p:spPr>
        <p:txBody>
          <a:bodyPr wrap="square"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F1 Insights</a:t>
            </a:r>
            <a:endParaRPr lang="en-US" sz="1300" dirty="0"/>
          </a:p>
        </p:txBody>
      </p:sp>
      <p:sp>
        <p:nvSpPr>
          <p:cNvPr id="8" name="Shape 5"/>
          <p:cNvSpPr/>
          <p:nvPr/>
        </p:nvSpPr>
        <p:spPr>
          <a:xfrm>
            <a:off x="6080760" y="1417320"/>
            <a:ext cx="2834640" cy="457200"/>
          </a:xfrm>
          <a:prstGeom prst="rect">
            <a:avLst/>
          </a:prstGeom>
          <a:solidFill>
            <a:srgbClr val="F5F5F5"/>
          </a:solidFill>
          <a:ln/>
        </p:spPr>
        <p:txBody>
          <a:bodyPr/>
          <a:lstStyle/>
          <a:p>
            <a:endParaRPr lang="en-US"/>
          </a:p>
        </p:txBody>
      </p:sp>
      <p:sp>
        <p:nvSpPr>
          <p:cNvPr id="9" name="Text 6"/>
          <p:cNvSpPr/>
          <p:nvPr/>
        </p:nvSpPr>
        <p:spPr>
          <a:xfrm>
            <a:off x="6172200" y="1453896"/>
            <a:ext cx="1005840" cy="384048"/>
          </a:xfrm>
          <a:prstGeom prst="rect">
            <a:avLst/>
          </a:prstGeom>
          <a:noFill/>
          <a:ln/>
        </p:spPr>
        <p:txBody>
          <a:bodyPr wrap="square" rtlCol="0" anchor="ctr"/>
          <a:lstStyle/>
          <a:p>
            <a:pPr marL="0" indent="0">
              <a:buNone/>
            </a:pPr>
            <a:r>
              <a:rPr lang="en-US" sz="1050" b="1" dirty="0">
                <a:solidFill>
                  <a:srgbClr val="6D1A36"/>
                </a:solidFill>
                <a:latin typeface="Calibri" pitchFamily="34" charset="0"/>
                <a:ea typeface="Calibri" pitchFamily="34" charset="-122"/>
                <a:cs typeface="Calibri" pitchFamily="34" charset="-120"/>
              </a:rPr>
              <a:t>All models:</a:t>
            </a:r>
            <a:endParaRPr lang="en-US" sz="1050" dirty="0"/>
          </a:p>
        </p:txBody>
      </p:sp>
      <p:sp>
        <p:nvSpPr>
          <p:cNvPr id="10" name="Text 7"/>
          <p:cNvSpPr/>
          <p:nvPr/>
        </p:nvSpPr>
        <p:spPr>
          <a:xfrm>
            <a:off x="7150608" y="1453896"/>
            <a:ext cx="1691640" cy="384048"/>
          </a:xfrm>
          <a:prstGeom prst="rect">
            <a:avLst/>
          </a:prstGeom>
          <a:noFill/>
          <a:ln/>
        </p:spPr>
        <p:txBody>
          <a:bodyPr wrap="square" rtlCol="0" anchor="ctr"/>
          <a:lstStyle/>
          <a:p>
            <a:pPr marL="0" indent="0">
              <a:buNone/>
            </a:pPr>
            <a:r>
              <a:rPr lang="en-US" sz="1000" dirty="0">
                <a:solidFill>
                  <a:srgbClr val="2B2B2B"/>
                </a:solidFill>
                <a:latin typeface="Calibri" pitchFamily="34" charset="0"/>
                <a:ea typeface="Calibri" pitchFamily="34" charset="-122"/>
                <a:cs typeface="Calibri" pitchFamily="34" charset="-120"/>
              </a:rPr>
              <a:t>predict High quality (1) better than Low (0)</a:t>
            </a:r>
            <a:endParaRPr lang="en-US" sz="1000" dirty="0"/>
          </a:p>
        </p:txBody>
      </p:sp>
      <p:sp>
        <p:nvSpPr>
          <p:cNvPr id="11" name="Shape 8"/>
          <p:cNvSpPr/>
          <p:nvPr/>
        </p:nvSpPr>
        <p:spPr>
          <a:xfrm>
            <a:off x="6080760" y="1920240"/>
            <a:ext cx="2834640" cy="457200"/>
          </a:xfrm>
          <a:prstGeom prst="rect">
            <a:avLst/>
          </a:prstGeom>
          <a:solidFill>
            <a:srgbClr val="FFFFFF"/>
          </a:solidFill>
          <a:ln/>
        </p:spPr>
        <p:txBody>
          <a:bodyPr/>
          <a:lstStyle/>
          <a:p>
            <a:endParaRPr lang="en-US"/>
          </a:p>
        </p:txBody>
      </p:sp>
      <p:sp>
        <p:nvSpPr>
          <p:cNvPr id="12" name="Text 9"/>
          <p:cNvSpPr/>
          <p:nvPr/>
        </p:nvSpPr>
        <p:spPr>
          <a:xfrm>
            <a:off x="6172200" y="1956816"/>
            <a:ext cx="1005840" cy="384048"/>
          </a:xfrm>
          <a:prstGeom prst="rect">
            <a:avLst/>
          </a:prstGeom>
          <a:noFill/>
          <a:ln/>
        </p:spPr>
        <p:txBody>
          <a:bodyPr wrap="square" rtlCol="0" anchor="ctr"/>
          <a:lstStyle/>
          <a:p>
            <a:pPr marL="0" indent="0">
              <a:buNone/>
            </a:pPr>
            <a:r>
              <a:rPr lang="en-US" sz="1050" b="1" dirty="0">
                <a:solidFill>
                  <a:srgbClr val="6D1A36"/>
                </a:solidFill>
                <a:latin typeface="Calibri" pitchFamily="34" charset="0"/>
                <a:ea typeface="Calibri" pitchFamily="34" charset="-122"/>
                <a:cs typeface="Calibri" pitchFamily="34" charset="-120"/>
              </a:rPr>
              <a:t>Rand. Forest:</a:t>
            </a:r>
            <a:endParaRPr lang="en-US" sz="1050" dirty="0"/>
          </a:p>
        </p:txBody>
      </p:sp>
      <p:sp>
        <p:nvSpPr>
          <p:cNvPr id="13" name="Text 10"/>
          <p:cNvSpPr/>
          <p:nvPr/>
        </p:nvSpPr>
        <p:spPr>
          <a:xfrm>
            <a:off x="7150608" y="1956816"/>
            <a:ext cx="1691640" cy="384048"/>
          </a:xfrm>
          <a:prstGeom prst="rect">
            <a:avLst/>
          </a:prstGeom>
          <a:noFill/>
          <a:ln/>
        </p:spPr>
        <p:txBody>
          <a:bodyPr wrap="square" rtlCol="0" anchor="ctr"/>
          <a:lstStyle/>
          <a:p>
            <a:pPr marL="0" indent="0">
              <a:buNone/>
            </a:pPr>
            <a:r>
              <a:rPr lang="en-US" sz="1000" dirty="0">
                <a:solidFill>
                  <a:srgbClr val="2B2B2B"/>
                </a:solidFill>
                <a:latin typeface="Calibri" pitchFamily="34" charset="0"/>
                <a:ea typeface="Calibri" pitchFamily="34" charset="-122"/>
                <a:cs typeface="Calibri" pitchFamily="34" charset="-120"/>
              </a:rPr>
              <a:t>F1-High: 0.792 | F1-Low: 0.750</a:t>
            </a:r>
            <a:endParaRPr lang="en-US" sz="1000" dirty="0"/>
          </a:p>
        </p:txBody>
      </p:sp>
      <p:sp>
        <p:nvSpPr>
          <p:cNvPr id="14" name="Shape 11"/>
          <p:cNvSpPr/>
          <p:nvPr/>
        </p:nvSpPr>
        <p:spPr>
          <a:xfrm>
            <a:off x="6080760" y="2423160"/>
            <a:ext cx="2834640" cy="457200"/>
          </a:xfrm>
          <a:prstGeom prst="rect">
            <a:avLst/>
          </a:prstGeom>
          <a:solidFill>
            <a:srgbClr val="F5F5F5"/>
          </a:solidFill>
          <a:ln/>
        </p:spPr>
        <p:txBody>
          <a:bodyPr/>
          <a:lstStyle/>
          <a:p>
            <a:endParaRPr lang="en-US"/>
          </a:p>
        </p:txBody>
      </p:sp>
      <p:sp>
        <p:nvSpPr>
          <p:cNvPr id="15" name="Text 12"/>
          <p:cNvSpPr/>
          <p:nvPr/>
        </p:nvSpPr>
        <p:spPr>
          <a:xfrm>
            <a:off x="6172200" y="2459736"/>
            <a:ext cx="1005840" cy="384048"/>
          </a:xfrm>
          <a:prstGeom prst="rect">
            <a:avLst/>
          </a:prstGeom>
          <a:noFill/>
          <a:ln/>
        </p:spPr>
        <p:txBody>
          <a:bodyPr wrap="square" rtlCol="0" anchor="ctr"/>
          <a:lstStyle/>
          <a:p>
            <a:pPr marL="0" indent="0">
              <a:buNone/>
            </a:pPr>
            <a:r>
              <a:rPr lang="en-US" sz="1050" b="1" dirty="0">
                <a:solidFill>
                  <a:srgbClr val="6D1A36"/>
                </a:solidFill>
                <a:latin typeface="Calibri" pitchFamily="34" charset="0"/>
                <a:ea typeface="Calibri" pitchFamily="34" charset="-122"/>
                <a:cs typeface="Calibri" pitchFamily="34" charset="-120"/>
              </a:rPr>
              <a:t>Log. Reg.:</a:t>
            </a:r>
            <a:endParaRPr lang="en-US" sz="1050" dirty="0"/>
          </a:p>
        </p:txBody>
      </p:sp>
      <p:sp>
        <p:nvSpPr>
          <p:cNvPr id="16" name="Text 13"/>
          <p:cNvSpPr/>
          <p:nvPr/>
        </p:nvSpPr>
        <p:spPr>
          <a:xfrm>
            <a:off x="7150608" y="2459736"/>
            <a:ext cx="1691640" cy="384048"/>
          </a:xfrm>
          <a:prstGeom prst="rect">
            <a:avLst/>
          </a:prstGeom>
          <a:noFill/>
          <a:ln/>
        </p:spPr>
        <p:txBody>
          <a:bodyPr wrap="square" rtlCol="0" anchor="ctr"/>
          <a:lstStyle/>
          <a:p>
            <a:pPr marL="0" indent="0">
              <a:buNone/>
            </a:pPr>
            <a:r>
              <a:rPr lang="en-US" sz="1000" dirty="0">
                <a:solidFill>
                  <a:srgbClr val="2B2B2B"/>
                </a:solidFill>
                <a:latin typeface="Calibri" pitchFamily="34" charset="0"/>
                <a:ea typeface="Calibri" pitchFamily="34" charset="-122"/>
                <a:cs typeface="Calibri" pitchFamily="34" charset="-120"/>
              </a:rPr>
              <a:t>F1-High: 0.791 | F1-Low: 0.741</a:t>
            </a:r>
            <a:endParaRPr lang="en-US" sz="1000" dirty="0"/>
          </a:p>
        </p:txBody>
      </p:sp>
      <p:sp>
        <p:nvSpPr>
          <p:cNvPr id="17" name="Shape 14"/>
          <p:cNvSpPr/>
          <p:nvPr/>
        </p:nvSpPr>
        <p:spPr>
          <a:xfrm>
            <a:off x="6080760" y="2926080"/>
            <a:ext cx="2834640" cy="457200"/>
          </a:xfrm>
          <a:prstGeom prst="rect">
            <a:avLst/>
          </a:prstGeom>
          <a:solidFill>
            <a:srgbClr val="FFFFFF"/>
          </a:solidFill>
          <a:ln/>
        </p:spPr>
        <p:txBody>
          <a:bodyPr/>
          <a:lstStyle/>
          <a:p>
            <a:endParaRPr lang="en-US"/>
          </a:p>
        </p:txBody>
      </p:sp>
      <p:sp>
        <p:nvSpPr>
          <p:cNvPr id="18" name="Text 15"/>
          <p:cNvSpPr/>
          <p:nvPr/>
        </p:nvSpPr>
        <p:spPr>
          <a:xfrm>
            <a:off x="6172200" y="2962656"/>
            <a:ext cx="1005840" cy="384048"/>
          </a:xfrm>
          <a:prstGeom prst="rect">
            <a:avLst/>
          </a:prstGeom>
          <a:noFill/>
          <a:ln/>
        </p:spPr>
        <p:txBody>
          <a:bodyPr wrap="square" rtlCol="0" anchor="ctr"/>
          <a:lstStyle/>
          <a:p>
            <a:pPr marL="0" indent="0">
              <a:buNone/>
            </a:pPr>
            <a:r>
              <a:rPr lang="en-US" sz="1050" b="1" dirty="0">
                <a:solidFill>
                  <a:srgbClr val="6D1A36"/>
                </a:solidFill>
                <a:latin typeface="Calibri" pitchFamily="34" charset="0"/>
                <a:ea typeface="Calibri" pitchFamily="34" charset="-122"/>
                <a:cs typeface="Calibri" pitchFamily="34" charset="-120"/>
              </a:rPr>
              <a:t>KNN:</a:t>
            </a:r>
            <a:endParaRPr lang="en-US" sz="1050" dirty="0"/>
          </a:p>
        </p:txBody>
      </p:sp>
      <p:sp>
        <p:nvSpPr>
          <p:cNvPr id="19" name="Text 16"/>
          <p:cNvSpPr/>
          <p:nvPr/>
        </p:nvSpPr>
        <p:spPr>
          <a:xfrm>
            <a:off x="7150608" y="2962656"/>
            <a:ext cx="1691640" cy="384048"/>
          </a:xfrm>
          <a:prstGeom prst="rect">
            <a:avLst/>
          </a:prstGeom>
          <a:noFill/>
          <a:ln/>
        </p:spPr>
        <p:txBody>
          <a:bodyPr wrap="square" rtlCol="0" anchor="ctr"/>
          <a:lstStyle/>
          <a:p>
            <a:pPr marL="0" indent="0">
              <a:buNone/>
            </a:pPr>
            <a:r>
              <a:rPr lang="en-US" sz="1000" dirty="0">
                <a:solidFill>
                  <a:srgbClr val="2B2B2B"/>
                </a:solidFill>
                <a:latin typeface="Calibri" pitchFamily="34" charset="0"/>
                <a:ea typeface="Calibri" pitchFamily="34" charset="-122"/>
                <a:cs typeface="Calibri" pitchFamily="34" charset="-120"/>
              </a:rPr>
              <a:t>F1-High: 0.757 | F1-Low: 0.683</a:t>
            </a:r>
            <a:endParaRPr lang="en-US" sz="1000" dirty="0"/>
          </a:p>
        </p:txBody>
      </p:sp>
      <p:sp>
        <p:nvSpPr>
          <p:cNvPr id="20" name="Shape 17"/>
          <p:cNvSpPr/>
          <p:nvPr/>
        </p:nvSpPr>
        <p:spPr>
          <a:xfrm>
            <a:off x="6080760" y="3429000"/>
            <a:ext cx="2834640" cy="457200"/>
          </a:xfrm>
          <a:prstGeom prst="rect">
            <a:avLst/>
          </a:prstGeom>
          <a:solidFill>
            <a:srgbClr val="F5F5F5"/>
          </a:solidFill>
          <a:ln/>
        </p:spPr>
        <p:txBody>
          <a:bodyPr/>
          <a:lstStyle/>
          <a:p>
            <a:endParaRPr lang="en-US"/>
          </a:p>
        </p:txBody>
      </p:sp>
      <p:sp>
        <p:nvSpPr>
          <p:cNvPr id="21" name="Text 18"/>
          <p:cNvSpPr/>
          <p:nvPr/>
        </p:nvSpPr>
        <p:spPr>
          <a:xfrm>
            <a:off x="6172200" y="3465576"/>
            <a:ext cx="1005840" cy="384048"/>
          </a:xfrm>
          <a:prstGeom prst="rect">
            <a:avLst/>
          </a:prstGeom>
          <a:noFill/>
          <a:ln/>
        </p:spPr>
        <p:txBody>
          <a:bodyPr wrap="square" rtlCol="0" anchor="ctr"/>
          <a:lstStyle/>
          <a:p>
            <a:pPr marL="0" indent="0">
              <a:buNone/>
            </a:pPr>
            <a:r>
              <a:rPr lang="en-US" sz="1050" b="1" dirty="0">
                <a:solidFill>
                  <a:srgbClr val="6D1A36"/>
                </a:solidFill>
                <a:latin typeface="Calibri" pitchFamily="34" charset="0"/>
                <a:ea typeface="Calibri" pitchFamily="34" charset="-122"/>
                <a:cs typeface="Calibri" pitchFamily="34" charset="-120"/>
              </a:rPr>
              <a:t>Dec. Tree:</a:t>
            </a:r>
            <a:endParaRPr lang="en-US" sz="1050" dirty="0"/>
          </a:p>
        </p:txBody>
      </p:sp>
      <p:sp>
        <p:nvSpPr>
          <p:cNvPr id="22" name="Text 19"/>
          <p:cNvSpPr/>
          <p:nvPr/>
        </p:nvSpPr>
        <p:spPr>
          <a:xfrm>
            <a:off x="7150608" y="3465576"/>
            <a:ext cx="1691640" cy="384048"/>
          </a:xfrm>
          <a:prstGeom prst="rect">
            <a:avLst/>
          </a:prstGeom>
          <a:noFill/>
          <a:ln/>
        </p:spPr>
        <p:txBody>
          <a:bodyPr wrap="square" rtlCol="0" anchor="ctr"/>
          <a:lstStyle/>
          <a:p>
            <a:pPr marL="0" indent="0">
              <a:buNone/>
            </a:pPr>
            <a:r>
              <a:rPr lang="en-US" sz="1000" dirty="0">
                <a:solidFill>
                  <a:srgbClr val="2B2B2B"/>
                </a:solidFill>
                <a:latin typeface="Calibri" pitchFamily="34" charset="0"/>
                <a:ea typeface="Calibri" pitchFamily="34" charset="-122"/>
                <a:cs typeface="Calibri" pitchFamily="34" charset="-120"/>
              </a:rPr>
              <a:t>Lowest overall</a:t>
            </a:r>
            <a:endParaRPr lang="en-US" sz="1000" dirty="0"/>
          </a:p>
          <a:p>
            <a:pPr marL="0" indent="0">
              <a:buNone/>
            </a:pPr>
            <a:r>
              <a:rPr lang="en-US" sz="1000" dirty="0">
                <a:solidFill>
                  <a:srgbClr val="2B2B2B"/>
                </a:solidFill>
                <a:latin typeface="Calibri" pitchFamily="34" charset="0"/>
                <a:ea typeface="Calibri" pitchFamily="34" charset="-122"/>
                <a:cs typeface="Calibri" pitchFamily="34" charset="-120"/>
              </a:rPr>
              <a:t>F1-Macro: 0.678</a:t>
            </a:r>
            <a:endParaRPr lang="en-US" sz="1000" dirty="0"/>
          </a:p>
        </p:txBody>
      </p:sp>
      <p:sp>
        <p:nvSpPr>
          <p:cNvPr id="23" name="Shape 20"/>
          <p:cNvSpPr/>
          <p:nvPr/>
        </p:nvSpPr>
        <p:spPr>
          <a:xfrm>
            <a:off x="6080760" y="3931920"/>
            <a:ext cx="2834640" cy="457200"/>
          </a:xfrm>
          <a:prstGeom prst="rect">
            <a:avLst/>
          </a:prstGeom>
          <a:solidFill>
            <a:srgbClr val="FFFFFF"/>
          </a:solidFill>
          <a:ln/>
        </p:spPr>
        <p:txBody>
          <a:bodyPr/>
          <a:lstStyle/>
          <a:p>
            <a:endParaRPr lang="en-US"/>
          </a:p>
        </p:txBody>
      </p:sp>
      <p:sp>
        <p:nvSpPr>
          <p:cNvPr id="24" name="Text 21"/>
          <p:cNvSpPr/>
          <p:nvPr/>
        </p:nvSpPr>
        <p:spPr>
          <a:xfrm>
            <a:off x="6172200" y="3968496"/>
            <a:ext cx="1005840" cy="384048"/>
          </a:xfrm>
          <a:prstGeom prst="rect">
            <a:avLst/>
          </a:prstGeom>
          <a:noFill/>
          <a:ln/>
        </p:spPr>
        <p:txBody>
          <a:bodyPr wrap="square" rtlCol="0" anchor="ctr"/>
          <a:lstStyle/>
          <a:p>
            <a:pPr marL="0" indent="0">
              <a:buNone/>
            </a:pPr>
            <a:r>
              <a:rPr lang="en-US" sz="1050" b="1" dirty="0">
                <a:solidFill>
                  <a:srgbClr val="6D1A36"/>
                </a:solidFill>
                <a:latin typeface="Calibri" pitchFamily="34" charset="0"/>
                <a:ea typeface="Calibri" pitchFamily="34" charset="-122"/>
                <a:cs typeface="Calibri" pitchFamily="34" charset="-120"/>
              </a:rPr>
              <a:t>RF vs LR:</a:t>
            </a:r>
            <a:endParaRPr lang="en-US" sz="1050" dirty="0"/>
          </a:p>
        </p:txBody>
      </p:sp>
      <p:sp>
        <p:nvSpPr>
          <p:cNvPr id="25" name="Text 22"/>
          <p:cNvSpPr/>
          <p:nvPr/>
        </p:nvSpPr>
        <p:spPr>
          <a:xfrm>
            <a:off x="7150608" y="3968496"/>
            <a:ext cx="1691640" cy="384048"/>
          </a:xfrm>
          <a:prstGeom prst="rect">
            <a:avLst/>
          </a:prstGeom>
          <a:noFill/>
          <a:ln/>
        </p:spPr>
        <p:txBody>
          <a:bodyPr wrap="square" rtlCol="0" anchor="ctr"/>
          <a:lstStyle/>
          <a:p>
            <a:pPr marL="0" indent="0">
              <a:buNone/>
            </a:pPr>
            <a:r>
              <a:rPr lang="en-US" sz="1000" dirty="0">
                <a:solidFill>
                  <a:srgbClr val="2B2B2B"/>
                </a:solidFill>
                <a:latin typeface="Calibri" pitchFamily="34" charset="0"/>
                <a:ea typeface="Calibri" pitchFamily="34" charset="-122"/>
                <a:cs typeface="Calibri" pitchFamily="34" charset="-120"/>
              </a:rPr>
              <a:t>Only 0.001 F1 difference — LR highly competitive</a:t>
            </a:r>
            <a:endParaRPr lang="en-US" sz="1000" dirty="0"/>
          </a:p>
        </p:txBody>
      </p:sp>
      <p:sp>
        <p:nvSpPr>
          <p:cNvPr id="26" name="Shape 23"/>
          <p:cNvSpPr/>
          <p:nvPr/>
        </p:nvSpPr>
        <p:spPr>
          <a:xfrm>
            <a:off x="274320" y="4370832"/>
            <a:ext cx="8595360" cy="502920"/>
          </a:xfrm>
          <a:prstGeom prst="rect">
            <a:avLst/>
          </a:prstGeom>
          <a:solidFill>
            <a:srgbClr val="EDD5DE"/>
          </a:solidFill>
          <a:ln/>
        </p:spPr>
        <p:txBody>
          <a:bodyPr/>
          <a:lstStyle/>
          <a:p>
            <a:endParaRPr lang="en-US"/>
          </a:p>
        </p:txBody>
      </p:sp>
      <p:sp>
        <p:nvSpPr>
          <p:cNvPr id="27" name="Text 24"/>
          <p:cNvSpPr/>
          <p:nvPr/>
        </p:nvSpPr>
        <p:spPr>
          <a:xfrm>
            <a:off x="411480" y="4407408"/>
            <a:ext cx="8321040" cy="438912"/>
          </a:xfrm>
          <a:prstGeom prst="rect">
            <a:avLst/>
          </a:prstGeom>
          <a:noFill/>
          <a:ln/>
        </p:spPr>
        <p:txBody>
          <a:bodyPr wrap="square" rtlCol="0" anchor="ctr"/>
          <a:lstStyle/>
          <a:p>
            <a:pPr marL="0" indent="0">
              <a:buNone/>
            </a:pPr>
            <a:r>
              <a:rPr lang="en-US" sz="1150" b="1" dirty="0">
                <a:solidFill>
                  <a:srgbClr val="6D1A36"/>
                </a:solidFill>
                <a:latin typeface="Calibri" pitchFamily="34" charset="0"/>
                <a:ea typeface="Calibri" pitchFamily="34" charset="-122"/>
                <a:cs typeface="Calibri" pitchFamily="34" charset="-120"/>
              </a:rPr>
              <a:t>Class imbalance in prediction: High quality wines are consistently predicted better than Low quality wines across all 4 models.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RQ4: HOW DOES FEATURE SCALING IMPACT PERFORMANCE?</a:t>
            </a:r>
            <a:endParaRPr lang="en-US" sz="1800" dirty="0"/>
          </a:p>
        </p:txBody>
      </p:sp>
      <p:sp>
        <p:nvSpPr>
          <p:cNvPr id="4" name="Shape 2"/>
          <p:cNvSpPr/>
          <p:nvPr/>
        </p:nvSpPr>
        <p:spPr>
          <a:xfrm>
            <a:off x="274320" y="960120"/>
            <a:ext cx="8595360" cy="438912"/>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5" name="Text 3"/>
          <p:cNvSpPr/>
          <p:nvPr/>
        </p:nvSpPr>
        <p:spPr>
          <a:xfrm>
            <a:off x="411480" y="1005840"/>
            <a:ext cx="8321040" cy="347472"/>
          </a:xfrm>
          <a:prstGeom prst="rect">
            <a:avLst/>
          </a:prstGeom>
          <a:noFill/>
          <a:ln/>
        </p:spPr>
        <p:txBody>
          <a:bodyPr wrap="square" rtlCol="0" anchor="ctr"/>
          <a:lstStyle/>
          <a:p>
            <a:pPr marL="0" indent="0">
              <a:buNone/>
            </a:pPr>
            <a:r>
              <a:rPr lang="en-US" sz="1200" i="1" dirty="0">
                <a:solidFill>
                  <a:srgbClr val="2B2B2B"/>
                </a:solidFill>
                <a:latin typeface="Calibri" pitchFamily="34" charset="0"/>
                <a:ea typeface="Calibri" pitchFamily="34" charset="-122"/>
                <a:cs typeface="Calibri" pitchFamily="34" charset="-120"/>
              </a:rPr>
              <a:t>Each model was trained TWICE — once on raw (unscaled) data and once on StandardScaler-normalized data. Accuracy scores were then compared.</a:t>
            </a:r>
            <a:endParaRPr lang="en-US" sz="1200" dirty="0"/>
          </a:p>
        </p:txBody>
      </p:sp>
      <p:sp>
        <p:nvSpPr>
          <p:cNvPr id="6" name="Shape 4"/>
          <p:cNvSpPr/>
          <p:nvPr/>
        </p:nvSpPr>
        <p:spPr>
          <a:xfrm>
            <a:off x="274320" y="1508760"/>
            <a:ext cx="8595360" cy="384048"/>
          </a:xfrm>
          <a:prstGeom prst="rect">
            <a:avLst/>
          </a:prstGeom>
          <a:solidFill>
            <a:srgbClr val="6D1A36"/>
          </a:solidFill>
          <a:ln/>
        </p:spPr>
        <p:txBody>
          <a:bodyPr/>
          <a:lstStyle/>
          <a:p>
            <a:endParaRPr lang="en-US"/>
          </a:p>
        </p:txBody>
      </p:sp>
      <p:sp>
        <p:nvSpPr>
          <p:cNvPr id="7" name="Text 5"/>
          <p:cNvSpPr/>
          <p:nvPr/>
        </p:nvSpPr>
        <p:spPr>
          <a:xfrm>
            <a:off x="274320" y="1508760"/>
            <a:ext cx="201168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Model</a:t>
            </a:r>
            <a:endParaRPr lang="en-US" sz="1200" dirty="0"/>
          </a:p>
        </p:txBody>
      </p:sp>
      <p:sp>
        <p:nvSpPr>
          <p:cNvPr id="8" name="Text 6"/>
          <p:cNvSpPr/>
          <p:nvPr/>
        </p:nvSpPr>
        <p:spPr>
          <a:xfrm>
            <a:off x="2286000" y="1508760"/>
            <a:ext cx="17373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Without Scaling</a:t>
            </a:r>
            <a:endParaRPr lang="en-US" sz="1200" dirty="0"/>
          </a:p>
        </p:txBody>
      </p:sp>
      <p:sp>
        <p:nvSpPr>
          <p:cNvPr id="9" name="Text 7"/>
          <p:cNvSpPr/>
          <p:nvPr/>
        </p:nvSpPr>
        <p:spPr>
          <a:xfrm>
            <a:off x="4023360" y="1508760"/>
            <a:ext cx="173736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With Scaling</a:t>
            </a:r>
            <a:endParaRPr lang="en-US" sz="1200" dirty="0"/>
          </a:p>
        </p:txBody>
      </p:sp>
      <p:sp>
        <p:nvSpPr>
          <p:cNvPr id="10" name="Text 8"/>
          <p:cNvSpPr/>
          <p:nvPr/>
        </p:nvSpPr>
        <p:spPr>
          <a:xfrm>
            <a:off x="5760720" y="1508760"/>
            <a:ext cx="146304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Difference</a:t>
            </a:r>
            <a:endParaRPr lang="en-US" sz="1200" dirty="0"/>
          </a:p>
        </p:txBody>
      </p:sp>
      <p:sp>
        <p:nvSpPr>
          <p:cNvPr id="11" name="Text 9"/>
          <p:cNvSpPr/>
          <p:nvPr/>
        </p:nvSpPr>
        <p:spPr>
          <a:xfrm>
            <a:off x="7223760" y="1508760"/>
            <a:ext cx="1645920" cy="38404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Impact</a:t>
            </a:r>
            <a:endParaRPr lang="en-US" sz="1200" dirty="0"/>
          </a:p>
        </p:txBody>
      </p:sp>
      <p:sp>
        <p:nvSpPr>
          <p:cNvPr id="12" name="Shape 10"/>
          <p:cNvSpPr/>
          <p:nvPr/>
        </p:nvSpPr>
        <p:spPr>
          <a:xfrm>
            <a:off x="274320" y="1920240"/>
            <a:ext cx="8595360" cy="621792"/>
          </a:xfrm>
          <a:prstGeom prst="rect">
            <a:avLst/>
          </a:prstGeom>
          <a:solidFill>
            <a:srgbClr val="F9F9F9"/>
          </a:solidFill>
          <a:ln/>
        </p:spPr>
        <p:txBody>
          <a:bodyPr/>
          <a:lstStyle/>
          <a:p>
            <a:endParaRPr lang="en-US"/>
          </a:p>
        </p:txBody>
      </p:sp>
      <p:sp>
        <p:nvSpPr>
          <p:cNvPr id="13" name="Text 11"/>
          <p:cNvSpPr/>
          <p:nvPr/>
        </p:nvSpPr>
        <p:spPr>
          <a:xfrm>
            <a:off x="274320" y="1956816"/>
            <a:ext cx="2011680" cy="548640"/>
          </a:xfrm>
          <a:prstGeom prst="rect">
            <a:avLst/>
          </a:prstGeom>
          <a:noFill/>
          <a:ln/>
        </p:spPr>
        <p:txBody>
          <a:bodyPr wrap="square" rtlCol="0" anchor="ctr"/>
          <a:lstStyle/>
          <a:p>
            <a:pPr marL="0" indent="0" algn="ctr">
              <a:buNone/>
            </a:pPr>
            <a:r>
              <a:rPr lang="en-US" sz="1200" b="1" dirty="0">
                <a:solidFill>
                  <a:srgbClr val="2B2B2B"/>
                </a:solidFill>
                <a:latin typeface="Calibri" pitchFamily="34" charset="0"/>
                <a:ea typeface="Calibri" pitchFamily="34" charset="-122"/>
                <a:cs typeface="Calibri" pitchFamily="34" charset="-120"/>
              </a:rPr>
              <a:t>Logistic Regression</a:t>
            </a:r>
            <a:endParaRPr lang="en-US" sz="1200" dirty="0"/>
          </a:p>
        </p:txBody>
      </p:sp>
      <p:sp>
        <p:nvSpPr>
          <p:cNvPr id="14" name="Text 12"/>
          <p:cNvSpPr/>
          <p:nvPr/>
        </p:nvSpPr>
        <p:spPr>
          <a:xfrm>
            <a:off x="2286000" y="1956816"/>
            <a:ext cx="173736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76.86%</a:t>
            </a:r>
            <a:endParaRPr lang="en-US" sz="1200" dirty="0"/>
          </a:p>
        </p:txBody>
      </p:sp>
      <p:sp>
        <p:nvSpPr>
          <p:cNvPr id="15" name="Text 13"/>
          <p:cNvSpPr/>
          <p:nvPr/>
        </p:nvSpPr>
        <p:spPr>
          <a:xfrm>
            <a:off x="4023360" y="1956816"/>
            <a:ext cx="173736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76.86%</a:t>
            </a:r>
            <a:endParaRPr lang="en-US" sz="1200" dirty="0"/>
          </a:p>
        </p:txBody>
      </p:sp>
      <p:sp>
        <p:nvSpPr>
          <p:cNvPr id="16" name="Text 14"/>
          <p:cNvSpPr/>
          <p:nvPr/>
        </p:nvSpPr>
        <p:spPr>
          <a:xfrm>
            <a:off x="5760720" y="1956816"/>
            <a:ext cx="146304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+0.00%</a:t>
            </a:r>
            <a:endParaRPr lang="en-US" sz="1200" dirty="0"/>
          </a:p>
        </p:txBody>
      </p:sp>
      <p:sp>
        <p:nvSpPr>
          <p:cNvPr id="17" name="Text 15"/>
          <p:cNvSpPr/>
          <p:nvPr/>
        </p:nvSpPr>
        <p:spPr>
          <a:xfrm>
            <a:off x="7223760" y="1956816"/>
            <a:ext cx="1645920" cy="548640"/>
          </a:xfrm>
          <a:prstGeom prst="rect">
            <a:avLst/>
          </a:prstGeom>
          <a:noFill/>
          <a:ln/>
        </p:spPr>
        <p:txBody>
          <a:bodyPr wrap="square" rtlCol="0" anchor="ctr"/>
          <a:lstStyle/>
          <a:p>
            <a:pPr marL="0" indent="0" algn="ctr">
              <a:buNone/>
            </a:pPr>
            <a:r>
              <a:rPr lang="en-US" sz="1200" b="1" dirty="0">
                <a:solidFill>
                  <a:srgbClr val="7A6070"/>
                </a:solidFill>
                <a:latin typeface="Calibri" pitchFamily="34" charset="0"/>
                <a:ea typeface="Calibri" pitchFamily="34" charset="-122"/>
                <a:cs typeface="Calibri" pitchFamily="34" charset="-120"/>
              </a:rPr>
              <a:t>No change</a:t>
            </a:r>
            <a:endParaRPr lang="en-US" sz="1200" dirty="0"/>
          </a:p>
        </p:txBody>
      </p:sp>
      <p:sp>
        <p:nvSpPr>
          <p:cNvPr id="18" name="Shape 16"/>
          <p:cNvSpPr/>
          <p:nvPr/>
        </p:nvSpPr>
        <p:spPr>
          <a:xfrm>
            <a:off x="274320" y="2578608"/>
            <a:ext cx="8595360" cy="621792"/>
          </a:xfrm>
          <a:prstGeom prst="rect">
            <a:avLst/>
          </a:prstGeom>
          <a:solidFill>
            <a:srgbClr val="FFFFFF"/>
          </a:solidFill>
          <a:ln/>
        </p:spPr>
        <p:txBody>
          <a:bodyPr/>
          <a:lstStyle/>
          <a:p>
            <a:endParaRPr lang="en-US"/>
          </a:p>
        </p:txBody>
      </p:sp>
      <p:sp>
        <p:nvSpPr>
          <p:cNvPr id="19" name="Text 17"/>
          <p:cNvSpPr/>
          <p:nvPr/>
        </p:nvSpPr>
        <p:spPr>
          <a:xfrm>
            <a:off x="274320" y="2615184"/>
            <a:ext cx="2011680" cy="548640"/>
          </a:xfrm>
          <a:prstGeom prst="rect">
            <a:avLst/>
          </a:prstGeom>
          <a:noFill/>
          <a:ln/>
        </p:spPr>
        <p:txBody>
          <a:bodyPr wrap="square" rtlCol="0" anchor="ctr"/>
          <a:lstStyle/>
          <a:p>
            <a:pPr marL="0" indent="0" algn="ctr">
              <a:buNone/>
            </a:pPr>
            <a:r>
              <a:rPr lang="en-US" sz="1200" b="1" dirty="0">
                <a:solidFill>
                  <a:srgbClr val="2B2B2B"/>
                </a:solidFill>
                <a:latin typeface="Calibri" pitchFamily="34" charset="0"/>
                <a:ea typeface="Calibri" pitchFamily="34" charset="-122"/>
                <a:cs typeface="Calibri" pitchFamily="34" charset="-120"/>
              </a:rPr>
              <a:t>Decision Tree</a:t>
            </a:r>
            <a:endParaRPr lang="en-US" sz="1200" dirty="0"/>
          </a:p>
        </p:txBody>
      </p:sp>
      <p:sp>
        <p:nvSpPr>
          <p:cNvPr id="20" name="Text 18"/>
          <p:cNvSpPr/>
          <p:nvPr/>
        </p:nvSpPr>
        <p:spPr>
          <a:xfrm>
            <a:off x="2286000" y="2615184"/>
            <a:ext cx="173736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68.12%</a:t>
            </a:r>
            <a:endParaRPr lang="en-US" sz="1200" dirty="0"/>
          </a:p>
        </p:txBody>
      </p:sp>
      <p:sp>
        <p:nvSpPr>
          <p:cNvPr id="21" name="Text 19"/>
          <p:cNvSpPr/>
          <p:nvPr/>
        </p:nvSpPr>
        <p:spPr>
          <a:xfrm>
            <a:off x="4023360" y="2615184"/>
            <a:ext cx="173736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68.12%</a:t>
            </a:r>
            <a:endParaRPr lang="en-US" sz="1200" dirty="0"/>
          </a:p>
        </p:txBody>
      </p:sp>
      <p:sp>
        <p:nvSpPr>
          <p:cNvPr id="22" name="Text 20"/>
          <p:cNvSpPr/>
          <p:nvPr/>
        </p:nvSpPr>
        <p:spPr>
          <a:xfrm>
            <a:off x="5760720" y="2615184"/>
            <a:ext cx="146304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+0.00%</a:t>
            </a:r>
            <a:endParaRPr lang="en-US" sz="1200" dirty="0"/>
          </a:p>
        </p:txBody>
      </p:sp>
      <p:sp>
        <p:nvSpPr>
          <p:cNvPr id="23" name="Text 21"/>
          <p:cNvSpPr/>
          <p:nvPr/>
        </p:nvSpPr>
        <p:spPr>
          <a:xfrm>
            <a:off x="7223760" y="2615184"/>
            <a:ext cx="1645920" cy="548640"/>
          </a:xfrm>
          <a:prstGeom prst="rect">
            <a:avLst/>
          </a:prstGeom>
          <a:noFill/>
          <a:ln/>
        </p:spPr>
        <p:txBody>
          <a:bodyPr wrap="square" rtlCol="0" anchor="ctr"/>
          <a:lstStyle/>
          <a:p>
            <a:pPr marL="0" indent="0" algn="ctr">
              <a:buNone/>
            </a:pPr>
            <a:r>
              <a:rPr lang="en-US" sz="1200" b="1" dirty="0">
                <a:solidFill>
                  <a:srgbClr val="7A6070"/>
                </a:solidFill>
                <a:latin typeface="Calibri" pitchFamily="34" charset="0"/>
                <a:ea typeface="Calibri" pitchFamily="34" charset="-122"/>
                <a:cs typeface="Calibri" pitchFamily="34" charset="-120"/>
              </a:rPr>
              <a:t>No change</a:t>
            </a:r>
            <a:endParaRPr lang="en-US" sz="1200" dirty="0"/>
          </a:p>
        </p:txBody>
      </p:sp>
      <p:sp>
        <p:nvSpPr>
          <p:cNvPr id="24" name="Shape 22"/>
          <p:cNvSpPr/>
          <p:nvPr/>
        </p:nvSpPr>
        <p:spPr>
          <a:xfrm>
            <a:off x="274320" y="3236976"/>
            <a:ext cx="8595360" cy="621792"/>
          </a:xfrm>
          <a:prstGeom prst="rect">
            <a:avLst/>
          </a:prstGeom>
          <a:solidFill>
            <a:srgbClr val="F9F9F9"/>
          </a:solidFill>
          <a:ln/>
        </p:spPr>
        <p:txBody>
          <a:bodyPr/>
          <a:lstStyle/>
          <a:p>
            <a:endParaRPr lang="en-US"/>
          </a:p>
        </p:txBody>
      </p:sp>
      <p:sp>
        <p:nvSpPr>
          <p:cNvPr id="25" name="Text 23"/>
          <p:cNvSpPr/>
          <p:nvPr/>
        </p:nvSpPr>
        <p:spPr>
          <a:xfrm>
            <a:off x="274320" y="3273552"/>
            <a:ext cx="2011680" cy="548640"/>
          </a:xfrm>
          <a:prstGeom prst="rect">
            <a:avLst/>
          </a:prstGeom>
          <a:noFill/>
          <a:ln/>
        </p:spPr>
        <p:txBody>
          <a:bodyPr wrap="square" rtlCol="0" anchor="ctr"/>
          <a:lstStyle/>
          <a:p>
            <a:pPr marL="0" indent="0" algn="ctr">
              <a:buNone/>
            </a:pPr>
            <a:r>
              <a:rPr lang="en-US" sz="1200" b="1" dirty="0">
                <a:solidFill>
                  <a:srgbClr val="2B2B2B"/>
                </a:solidFill>
                <a:latin typeface="Calibri" pitchFamily="34" charset="0"/>
                <a:ea typeface="Calibri" pitchFamily="34" charset="-122"/>
                <a:cs typeface="Calibri" pitchFamily="34" charset="-120"/>
              </a:rPr>
              <a:t>Random Forest</a:t>
            </a:r>
            <a:endParaRPr lang="en-US" sz="1200" dirty="0"/>
          </a:p>
        </p:txBody>
      </p:sp>
      <p:sp>
        <p:nvSpPr>
          <p:cNvPr id="26" name="Text 24"/>
          <p:cNvSpPr/>
          <p:nvPr/>
        </p:nvSpPr>
        <p:spPr>
          <a:xfrm>
            <a:off x="2286000" y="3273552"/>
            <a:ext cx="173736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77.29%</a:t>
            </a:r>
            <a:endParaRPr lang="en-US" sz="1200" dirty="0"/>
          </a:p>
        </p:txBody>
      </p:sp>
      <p:sp>
        <p:nvSpPr>
          <p:cNvPr id="27" name="Text 25"/>
          <p:cNvSpPr/>
          <p:nvPr/>
        </p:nvSpPr>
        <p:spPr>
          <a:xfrm>
            <a:off x="4023360" y="3273552"/>
            <a:ext cx="173736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77.29%</a:t>
            </a:r>
            <a:endParaRPr lang="en-US" sz="1200" dirty="0"/>
          </a:p>
        </p:txBody>
      </p:sp>
      <p:sp>
        <p:nvSpPr>
          <p:cNvPr id="28" name="Text 26"/>
          <p:cNvSpPr/>
          <p:nvPr/>
        </p:nvSpPr>
        <p:spPr>
          <a:xfrm>
            <a:off x="5760720" y="3273552"/>
            <a:ext cx="146304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+0.00%</a:t>
            </a:r>
            <a:endParaRPr lang="en-US" sz="1200" dirty="0"/>
          </a:p>
        </p:txBody>
      </p:sp>
      <p:sp>
        <p:nvSpPr>
          <p:cNvPr id="29" name="Text 27"/>
          <p:cNvSpPr/>
          <p:nvPr/>
        </p:nvSpPr>
        <p:spPr>
          <a:xfrm>
            <a:off x="7223760" y="3273552"/>
            <a:ext cx="1645920" cy="548640"/>
          </a:xfrm>
          <a:prstGeom prst="rect">
            <a:avLst/>
          </a:prstGeom>
          <a:noFill/>
          <a:ln/>
        </p:spPr>
        <p:txBody>
          <a:bodyPr wrap="square" rtlCol="0" anchor="ctr"/>
          <a:lstStyle/>
          <a:p>
            <a:pPr marL="0" indent="0" algn="ctr">
              <a:buNone/>
            </a:pPr>
            <a:r>
              <a:rPr lang="en-US" sz="1200" b="1" dirty="0">
                <a:solidFill>
                  <a:srgbClr val="7A6070"/>
                </a:solidFill>
                <a:latin typeface="Calibri" pitchFamily="34" charset="0"/>
                <a:ea typeface="Calibri" pitchFamily="34" charset="-122"/>
                <a:cs typeface="Calibri" pitchFamily="34" charset="-120"/>
              </a:rPr>
              <a:t>No change</a:t>
            </a:r>
            <a:endParaRPr lang="en-US" sz="1200" dirty="0"/>
          </a:p>
        </p:txBody>
      </p:sp>
      <p:sp>
        <p:nvSpPr>
          <p:cNvPr id="30" name="Shape 28"/>
          <p:cNvSpPr/>
          <p:nvPr/>
        </p:nvSpPr>
        <p:spPr>
          <a:xfrm>
            <a:off x="274320" y="3895344"/>
            <a:ext cx="8595360" cy="621792"/>
          </a:xfrm>
          <a:prstGeom prst="rect">
            <a:avLst/>
          </a:prstGeom>
          <a:solidFill>
            <a:srgbClr val="FFFFFF"/>
          </a:solidFill>
          <a:ln/>
        </p:spPr>
        <p:txBody>
          <a:bodyPr/>
          <a:lstStyle/>
          <a:p>
            <a:endParaRPr lang="en-US"/>
          </a:p>
        </p:txBody>
      </p:sp>
      <p:sp>
        <p:nvSpPr>
          <p:cNvPr id="31" name="Text 29"/>
          <p:cNvSpPr/>
          <p:nvPr/>
        </p:nvSpPr>
        <p:spPr>
          <a:xfrm>
            <a:off x="274320" y="3931920"/>
            <a:ext cx="2011680" cy="548640"/>
          </a:xfrm>
          <a:prstGeom prst="rect">
            <a:avLst/>
          </a:prstGeom>
          <a:noFill/>
          <a:ln/>
        </p:spPr>
        <p:txBody>
          <a:bodyPr wrap="square" rtlCol="0" anchor="ctr"/>
          <a:lstStyle/>
          <a:p>
            <a:pPr marL="0" indent="0" algn="ctr">
              <a:buNone/>
            </a:pPr>
            <a:r>
              <a:rPr lang="en-US" sz="1200" b="1" dirty="0">
                <a:solidFill>
                  <a:srgbClr val="2B2B2B"/>
                </a:solidFill>
                <a:latin typeface="Calibri" pitchFamily="34" charset="0"/>
                <a:ea typeface="Calibri" pitchFamily="34" charset="-122"/>
                <a:cs typeface="Calibri" pitchFamily="34" charset="-120"/>
              </a:rPr>
              <a:t>KNN</a:t>
            </a:r>
            <a:endParaRPr lang="en-US" sz="1200" dirty="0"/>
          </a:p>
        </p:txBody>
      </p:sp>
      <p:sp>
        <p:nvSpPr>
          <p:cNvPr id="32" name="Text 30"/>
          <p:cNvSpPr/>
          <p:nvPr/>
        </p:nvSpPr>
        <p:spPr>
          <a:xfrm>
            <a:off x="2286000" y="3931920"/>
            <a:ext cx="173736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67.25%</a:t>
            </a:r>
            <a:endParaRPr lang="en-US" sz="1200" dirty="0"/>
          </a:p>
        </p:txBody>
      </p:sp>
      <p:sp>
        <p:nvSpPr>
          <p:cNvPr id="33" name="Text 31"/>
          <p:cNvSpPr/>
          <p:nvPr/>
        </p:nvSpPr>
        <p:spPr>
          <a:xfrm>
            <a:off x="4023360" y="3931920"/>
            <a:ext cx="173736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72.49%</a:t>
            </a:r>
            <a:endParaRPr lang="en-US" sz="1200" dirty="0"/>
          </a:p>
        </p:txBody>
      </p:sp>
      <p:sp>
        <p:nvSpPr>
          <p:cNvPr id="34" name="Text 32"/>
          <p:cNvSpPr/>
          <p:nvPr/>
        </p:nvSpPr>
        <p:spPr>
          <a:xfrm>
            <a:off x="5760720" y="3931920"/>
            <a:ext cx="1463040" cy="548640"/>
          </a:xfrm>
          <a:prstGeom prst="rect">
            <a:avLst/>
          </a:prstGeom>
          <a:noFill/>
          <a:ln/>
        </p:spPr>
        <p:txBody>
          <a:bodyPr wrap="square" rtlCol="0" anchor="ctr"/>
          <a:lstStyle/>
          <a:p>
            <a:pPr marL="0" indent="0" algn="ctr">
              <a:buNone/>
            </a:pPr>
            <a:r>
              <a:rPr lang="en-US" sz="1200" dirty="0">
                <a:solidFill>
                  <a:srgbClr val="2B2B2B"/>
                </a:solidFill>
                <a:latin typeface="Calibri" pitchFamily="34" charset="0"/>
                <a:ea typeface="Calibri" pitchFamily="34" charset="-122"/>
                <a:cs typeface="Calibri" pitchFamily="34" charset="-120"/>
              </a:rPr>
              <a:t>+5.24%</a:t>
            </a:r>
            <a:endParaRPr lang="en-US" sz="1200" dirty="0"/>
          </a:p>
        </p:txBody>
      </p:sp>
      <p:sp>
        <p:nvSpPr>
          <p:cNvPr id="35" name="Text 33"/>
          <p:cNvSpPr/>
          <p:nvPr/>
        </p:nvSpPr>
        <p:spPr>
          <a:xfrm>
            <a:off x="7223760" y="3931920"/>
            <a:ext cx="1645920" cy="548640"/>
          </a:xfrm>
          <a:prstGeom prst="rect">
            <a:avLst/>
          </a:prstGeom>
          <a:noFill/>
          <a:ln/>
        </p:spPr>
        <p:txBody>
          <a:bodyPr wrap="square" rtlCol="0" anchor="ctr"/>
          <a:lstStyle/>
          <a:p>
            <a:pPr marL="0" indent="0" algn="ctr">
              <a:buNone/>
            </a:pPr>
            <a:r>
              <a:rPr lang="en-US" sz="1200" b="1" dirty="0">
                <a:solidFill>
                  <a:srgbClr val="1A6B3C"/>
                </a:solidFill>
                <a:latin typeface="Calibri" pitchFamily="34" charset="0"/>
                <a:ea typeface="Calibri" pitchFamily="34" charset="-122"/>
                <a:cs typeface="Calibri" pitchFamily="34" charset="-120"/>
              </a:rPr>
              <a:t>↑ Improved!</a:t>
            </a:r>
            <a:endParaRPr lang="en-US" sz="1200" dirty="0"/>
          </a:p>
        </p:txBody>
      </p:sp>
      <p:sp>
        <p:nvSpPr>
          <p:cNvPr id="36" name="Shape 34"/>
          <p:cNvSpPr/>
          <p:nvPr/>
        </p:nvSpPr>
        <p:spPr>
          <a:xfrm>
            <a:off x="274320" y="4572000"/>
            <a:ext cx="8595360" cy="384048"/>
          </a:xfrm>
          <a:prstGeom prst="rect">
            <a:avLst/>
          </a:prstGeom>
          <a:solidFill>
            <a:srgbClr val="EDD5DE"/>
          </a:solidFill>
          <a:ln/>
        </p:spPr>
        <p:txBody>
          <a:bodyPr/>
          <a:lstStyle/>
          <a:p>
            <a:endParaRPr lang="en-US"/>
          </a:p>
        </p:txBody>
      </p:sp>
      <p:sp>
        <p:nvSpPr>
          <p:cNvPr id="37" name="Text 35"/>
          <p:cNvSpPr/>
          <p:nvPr/>
        </p:nvSpPr>
        <p:spPr>
          <a:xfrm>
            <a:off x="411480" y="4590288"/>
            <a:ext cx="8321040" cy="347472"/>
          </a:xfrm>
          <a:prstGeom prst="rect">
            <a:avLst/>
          </a:prstGeom>
          <a:noFill/>
          <a:ln/>
        </p:spPr>
        <p:txBody>
          <a:bodyPr wrap="square" rtlCol="0" anchor="ctr"/>
          <a:lstStyle/>
          <a:p>
            <a:pPr marL="0" indent="0">
              <a:buNone/>
            </a:pPr>
            <a:r>
              <a:rPr lang="en-US" sz="1150" b="1" dirty="0">
                <a:solidFill>
                  <a:srgbClr val="6D1A36"/>
                </a:solidFill>
                <a:latin typeface="Calibri" pitchFamily="34" charset="0"/>
                <a:ea typeface="Calibri" pitchFamily="34" charset="-122"/>
                <a:cs typeface="Calibri" pitchFamily="34" charset="-120"/>
              </a:rPr>
              <a:t>RQ4 Answer: </a:t>
            </a:r>
            <a:r>
              <a:rPr lang="en-US" sz="1150" dirty="0">
                <a:solidFill>
                  <a:srgbClr val="2B2B2B"/>
                </a:solidFill>
                <a:latin typeface="Calibri" pitchFamily="34" charset="0"/>
                <a:ea typeface="Calibri" pitchFamily="34" charset="-122"/>
                <a:cs typeface="Calibri" pitchFamily="34" charset="-120"/>
              </a:rPr>
              <a:t>Scaling significantly helped only KNN (+5.24%). Tree-based models are scale-invariant by design. Logistic Regression was already strong enough with default convergence settings.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1900" b="1" dirty="0">
                <a:solidFill>
                  <a:srgbClr val="FFFFFF"/>
                </a:solidFill>
                <a:latin typeface="Georgia" pitchFamily="34" charset="0"/>
                <a:ea typeface="Georgia" pitchFamily="34" charset="-122"/>
                <a:cs typeface="Georgia" pitchFamily="34" charset="-120"/>
              </a:rPr>
              <a:t>RQ1: CAN CHEMISTRY ALONE PREDICT WINE QUALITY?</a:t>
            </a:r>
            <a:endParaRPr lang="en-US" sz="1900" dirty="0"/>
          </a:p>
        </p:txBody>
      </p:sp>
      <p:sp>
        <p:nvSpPr>
          <p:cNvPr id="4" name="Shape 2"/>
          <p:cNvSpPr/>
          <p:nvPr/>
        </p:nvSpPr>
        <p:spPr>
          <a:xfrm>
            <a:off x="274320" y="960120"/>
            <a:ext cx="8595360" cy="658368"/>
          </a:xfrm>
          <a:prstGeom prst="rect">
            <a:avLst/>
          </a:prstGeom>
          <a:solidFill>
            <a:srgbClr val="6D1A36"/>
          </a:solidFill>
          <a:ln/>
        </p:spPr>
        <p:txBody>
          <a:bodyPr/>
          <a:lstStyle/>
          <a:p>
            <a:endParaRPr lang="en-US"/>
          </a:p>
        </p:txBody>
      </p:sp>
      <p:sp>
        <p:nvSpPr>
          <p:cNvPr id="5" name="Text 3"/>
          <p:cNvSpPr/>
          <p:nvPr/>
        </p:nvSpPr>
        <p:spPr>
          <a:xfrm>
            <a:off x="457200" y="987552"/>
            <a:ext cx="8229600" cy="603504"/>
          </a:xfrm>
          <a:prstGeom prst="rect">
            <a:avLst/>
          </a:prstGeom>
          <a:noFill/>
          <a:ln/>
        </p:spPr>
        <p:txBody>
          <a:bodyPr wrap="square" rtlCol="0" anchor="ctr"/>
          <a:lstStyle/>
          <a:p>
            <a:pPr marL="0" indent="0">
              <a:buNone/>
            </a:pPr>
            <a:r>
              <a:rPr lang="en-US" sz="2600" b="1" dirty="0">
                <a:solidFill>
                  <a:srgbClr val="C9A84C"/>
                </a:solidFill>
                <a:latin typeface="Georgia" pitchFamily="34" charset="0"/>
                <a:ea typeface="Georgia" pitchFamily="34" charset="-122"/>
                <a:cs typeface="Georgia" pitchFamily="34" charset="-120"/>
              </a:rPr>
              <a:t>YES — </a:t>
            </a:r>
            <a:r>
              <a:rPr lang="en-US" sz="1500" dirty="0">
                <a:solidFill>
                  <a:srgbClr val="FFFFFF"/>
                </a:solidFill>
                <a:latin typeface="Georgia" pitchFamily="34" charset="0"/>
                <a:ea typeface="Georgia" pitchFamily="34" charset="-122"/>
                <a:cs typeface="Georgia" pitchFamily="34" charset="-120"/>
              </a:rPr>
              <a:t>All 4 models significantly beat the 50% random baseline, confirming chemistry IS a strong predictor.</a:t>
            </a:r>
            <a:endParaRPr lang="en-US" sz="2600" dirty="0"/>
          </a:p>
        </p:txBody>
      </p:sp>
      <p:sp>
        <p:nvSpPr>
          <p:cNvPr id="6" name="Shape 4"/>
          <p:cNvSpPr/>
          <p:nvPr/>
        </p:nvSpPr>
        <p:spPr>
          <a:xfrm>
            <a:off x="274320" y="1755648"/>
            <a:ext cx="2011680" cy="146304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7" name="Shape 5"/>
          <p:cNvSpPr/>
          <p:nvPr/>
        </p:nvSpPr>
        <p:spPr>
          <a:xfrm>
            <a:off x="274320" y="1755648"/>
            <a:ext cx="2011680" cy="54864"/>
          </a:xfrm>
          <a:prstGeom prst="rect">
            <a:avLst/>
          </a:prstGeom>
          <a:solidFill>
            <a:srgbClr val="C9A84C"/>
          </a:solidFill>
          <a:ln/>
        </p:spPr>
        <p:txBody>
          <a:bodyPr/>
          <a:lstStyle/>
          <a:p>
            <a:endParaRPr lang="en-US"/>
          </a:p>
        </p:txBody>
      </p:sp>
      <p:sp>
        <p:nvSpPr>
          <p:cNvPr id="8" name="Text 6"/>
          <p:cNvSpPr/>
          <p:nvPr/>
        </p:nvSpPr>
        <p:spPr>
          <a:xfrm>
            <a:off x="274320" y="1847088"/>
            <a:ext cx="2011680" cy="292608"/>
          </a:xfrm>
          <a:prstGeom prst="rect">
            <a:avLst/>
          </a:prstGeom>
          <a:noFill/>
          <a:ln/>
        </p:spPr>
        <p:txBody>
          <a:bodyPr wrap="square" rtlCol="0" anchor="ctr"/>
          <a:lstStyle/>
          <a:p>
            <a:pPr marL="0" indent="0" algn="ctr">
              <a:buNone/>
            </a:pPr>
            <a:r>
              <a:rPr lang="en-US" sz="1200" b="1" dirty="0">
                <a:solidFill>
                  <a:srgbClr val="C9A84C"/>
                </a:solidFill>
                <a:latin typeface="Calibri" pitchFamily="34" charset="0"/>
                <a:ea typeface="Calibri" pitchFamily="34" charset="-122"/>
                <a:cs typeface="Calibri" pitchFamily="34" charset="-120"/>
              </a:rPr>
              <a:t>Random Forest</a:t>
            </a:r>
            <a:endParaRPr lang="en-US" sz="1200" dirty="0"/>
          </a:p>
        </p:txBody>
      </p:sp>
      <p:sp>
        <p:nvSpPr>
          <p:cNvPr id="9" name="Text 7"/>
          <p:cNvSpPr/>
          <p:nvPr/>
        </p:nvSpPr>
        <p:spPr>
          <a:xfrm>
            <a:off x="274320" y="2139696"/>
            <a:ext cx="2011680" cy="548640"/>
          </a:xfrm>
          <a:prstGeom prst="rect">
            <a:avLst/>
          </a:prstGeom>
          <a:noFill/>
          <a:ln/>
        </p:spPr>
        <p:txBody>
          <a:bodyPr wrap="square" rtlCol="0" anchor="ctr"/>
          <a:lstStyle/>
          <a:p>
            <a:pPr marL="0" indent="0" algn="ctr">
              <a:buNone/>
            </a:pPr>
            <a:r>
              <a:rPr lang="en-US" sz="2800" b="1" dirty="0">
                <a:solidFill>
                  <a:srgbClr val="2B2B2B"/>
                </a:solidFill>
                <a:latin typeface="Georgia" pitchFamily="34" charset="0"/>
                <a:ea typeface="Georgia" pitchFamily="34" charset="-122"/>
                <a:cs typeface="Georgia" pitchFamily="34" charset="-120"/>
              </a:rPr>
              <a:t>77.29%</a:t>
            </a:r>
            <a:endParaRPr lang="en-US" sz="2800" dirty="0"/>
          </a:p>
        </p:txBody>
      </p:sp>
      <p:sp>
        <p:nvSpPr>
          <p:cNvPr id="10" name="Text 8"/>
          <p:cNvSpPr/>
          <p:nvPr/>
        </p:nvSpPr>
        <p:spPr>
          <a:xfrm>
            <a:off x="274320" y="2670048"/>
            <a:ext cx="2011680" cy="201168"/>
          </a:xfrm>
          <a:prstGeom prst="rect">
            <a:avLst/>
          </a:prstGeom>
          <a:noFill/>
          <a:ln/>
        </p:spPr>
        <p:txBody>
          <a:bodyPr wrap="square" rtlCol="0" anchor="ctr"/>
          <a:lstStyle/>
          <a:p>
            <a:pPr marL="0" indent="0" algn="ctr">
              <a:buNone/>
            </a:pPr>
            <a:r>
              <a:rPr lang="en-US" sz="950" dirty="0">
                <a:solidFill>
                  <a:srgbClr val="7A6070"/>
                </a:solidFill>
                <a:latin typeface="Calibri" pitchFamily="34" charset="0"/>
                <a:ea typeface="Calibri" pitchFamily="34" charset="-122"/>
                <a:cs typeface="Calibri" pitchFamily="34" charset="-120"/>
              </a:rPr>
              <a:t>above baseline</a:t>
            </a:r>
            <a:endParaRPr lang="en-US" sz="950" dirty="0"/>
          </a:p>
        </p:txBody>
      </p:sp>
      <p:sp>
        <p:nvSpPr>
          <p:cNvPr id="11" name="Shape 9"/>
          <p:cNvSpPr/>
          <p:nvPr/>
        </p:nvSpPr>
        <p:spPr>
          <a:xfrm>
            <a:off x="457200" y="2871216"/>
            <a:ext cx="1645920" cy="274320"/>
          </a:xfrm>
          <a:prstGeom prst="rect">
            <a:avLst/>
          </a:prstGeom>
          <a:solidFill>
            <a:srgbClr val="C9A84C"/>
          </a:solidFill>
          <a:ln/>
        </p:spPr>
        <p:txBody>
          <a:bodyPr/>
          <a:lstStyle/>
          <a:p>
            <a:endParaRPr lang="en-US"/>
          </a:p>
        </p:txBody>
      </p:sp>
      <p:sp>
        <p:nvSpPr>
          <p:cNvPr id="12" name="Text 10"/>
          <p:cNvSpPr/>
          <p:nvPr/>
        </p:nvSpPr>
        <p:spPr>
          <a:xfrm>
            <a:off x="457200" y="2871216"/>
            <a:ext cx="164592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+27.29%</a:t>
            </a:r>
            <a:endParaRPr lang="en-US" sz="1300" dirty="0"/>
          </a:p>
        </p:txBody>
      </p:sp>
      <p:sp>
        <p:nvSpPr>
          <p:cNvPr id="13" name="Shape 11"/>
          <p:cNvSpPr/>
          <p:nvPr/>
        </p:nvSpPr>
        <p:spPr>
          <a:xfrm>
            <a:off x="2450592" y="1755648"/>
            <a:ext cx="2011680" cy="146304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4" name="Shape 12"/>
          <p:cNvSpPr/>
          <p:nvPr/>
        </p:nvSpPr>
        <p:spPr>
          <a:xfrm>
            <a:off x="2450592" y="1755648"/>
            <a:ext cx="2011680" cy="54864"/>
          </a:xfrm>
          <a:prstGeom prst="rect">
            <a:avLst/>
          </a:prstGeom>
          <a:solidFill>
            <a:srgbClr val="6D1A36"/>
          </a:solidFill>
          <a:ln/>
        </p:spPr>
        <p:txBody>
          <a:bodyPr/>
          <a:lstStyle/>
          <a:p>
            <a:endParaRPr lang="en-US"/>
          </a:p>
        </p:txBody>
      </p:sp>
      <p:sp>
        <p:nvSpPr>
          <p:cNvPr id="15" name="Text 13"/>
          <p:cNvSpPr/>
          <p:nvPr/>
        </p:nvSpPr>
        <p:spPr>
          <a:xfrm>
            <a:off x="2450592" y="1847088"/>
            <a:ext cx="2011680" cy="292608"/>
          </a:xfrm>
          <a:prstGeom prst="rect">
            <a:avLst/>
          </a:prstGeom>
          <a:noFill/>
          <a:ln/>
        </p:spPr>
        <p:txBody>
          <a:bodyPr wrap="square" rtlCol="0" anchor="ctr"/>
          <a:lstStyle/>
          <a:p>
            <a:pPr marL="0" indent="0" algn="ctr">
              <a:buNone/>
            </a:pPr>
            <a:r>
              <a:rPr lang="en-US" sz="1200" b="1" dirty="0">
                <a:solidFill>
                  <a:srgbClr val="6D1A36"/>
                </a:solidFill>
                <a:latin typeface="Calibri" pitchFamily="34" charset="0"/>
                <a:ea typeface="Calibri" pitchFamily="34" charset="-122"/>
                <a:cs typeface="Calibri" pitchFamily="34" charset="-120"/>
              </a:rPr>
              <a:t>Log. Regression</a:t>
            </a:r>
            <a:endParaRPr lang="en-US" sz="1200" dirty="0"/>
          </a:p>
        </p:txBody>
      </p:sp>
      <p:sp>
        <p:nvSpPr>
          <p:cNvPr id="16" name="Text 14"/>
          <p:cNvSpPr/>
          <p:nvPr/>
        </p:nvSpPr>
        <p:spPr>
          <a:xfrm>
            <a:off x="2450592" y="2139696"/>
            <a:ext cx="2011680" cy="548640"/>
          </a:xfrm>
          <a:prstGeom prst="rect">
            <a:avLst/>
          </a:prstGeom>
          <a:noFill/>
          <a:ln/>
        </p:spPr>
        <p:txBody>
          <a:bodyPr wrap="square" rtlCol="0" anchor="ctr"/>
          <a:lstStyle/>
          <a:p>
            <a:pPr marL="0" indent="0" algn="ctr">
              <a:buNone/>
            </a:pPr>
            <a:r>
              <a:rPr lang="en-US" sz="2800" b="1" dirty="0">
                <a:solidFill>
                  <a:srgbClr val="2B2B2B"/>
                </a:solidFill>
                <a:latin typeface="Georgia" pitchFamily="34" charset="0"/>
                <a:ea typeface="Georgia" pitchFamily="34" charset="-122"/>
                <a:cs typeface="Georgia" pitchFamily="34" charset="-120"/>
              </a:rPr>
              <a:t>76.86%</a:t>
            </a:r>
            <a:endParaRPr lang="en-US" sz="2800" dirty="0"/>
          </a:p>
        </p:txBody>
      </p:sp>
      <p:sp>
        <p:nvSpPr>
          <p:cNvPr id="17" name="Text 15"/>
          <p:cNvSpPr/>
          <p:nvPr/>
        </p:nvSpPr>
        <p:spPr>
          <a:xfrm>
            <a:off x="2450592" y="2670048"/>
            <a:ext cx="2011680" cy="201168"/>
          </a:xfrm>
          <a:prstGeom prst="rect">
            <a:avLst/>
          </a:prstGeom>
          <a:noFill/>
          <a:ln/>
        </p:spPr>
        <p:txBody>
          <a:bodyPr wrap="square" rtlCol="0" anchor="ctr"/>
          <a:lstStyle/>
          <a:p>
            <a:pPr marL="0" indent="0" algn="ctr">
              <a:buNone/>
            </a:pPr>
            <a:r>
              <a:rPr lang="en-US" sz="950" dirty="0">
                <a:solidFill>
                  <a:srgbClr val="7A6070"/>
                </a:solidFill>
                <a:latin typeface="Calibri" pitchFamily="34" charset="0"/>
                <a:ea typeface="Calibri" pitchFamily="34" charset="-122"/>
                <a:cs typeface="Calibri" pitchFamily="34" charset="-120"/>
              </a:rPr>
              <a:t>above baseline</a:t>
            </a:r>
            <a:endParaRPr lang="en-US" sz="950" dirty="0"/>
          </a:p>
        </p:txBody>
      </p:sp>
      <p:sp>
        <p:nvSpPr>
          <p:cNvPr id="18" name="Shape 16"/>
          <p:cNvSpPr/>
          <p:nvPr/>
        </p:nvSpPr>
        <p:spPr>
          <a:xfrm>
            <a:off x="2633472" y="2871216"/>
            <a:ext cx="1645920" cy="274320"/>
          </a:xfrm>
          <a:prstGeom prst="rect">
            <a:avLst/>
          </a:prstGeom>
          <a:solidFill>
            <a:srgbClr val="6D1A36"/>
          </a:solidFill>
          <a:ln/>
        </p:spPr>
        <p:txBody>
          <a:bodyPr/>
          <a:lstStyle/>
          <a:p>
            <a:endParaRPr lang="en-US"/>
          </a:p>
        </p:txBody>
      </p:sp>
      <p:sp>
        <p:nvSpPr>
          <p:cNvPr id="19" name="Text 17"/>
          <p:cNvSpPr/>
          <p:nvPr/>
        </p:nvSpPr>
        <p:spPr>
          <a:xfrm>
            <a:off x="2633472" y="2871216"/>
            <a:ext cx="164592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+26.86%</a:t>
            </a:r>
            <a:endParaRPr lang="en-US" sz="1300" dirty="0"/>
          </a:p>
        </p:txBody>
      </p:sp>
      <p:sp>
        <p:nvSpPr>
          <p:cNvPr id="20" name="Shape 18"/>
          <p:cNvSpPr/>
          <p:nvPr/>
        </p:nvSpPr>
        <p:spPr>
          <a:xfrm>
            <a:off x="4626864" y="1755648"/>
            <a:ext cx="2011680" cy="146304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21" name="Shape 19"/>
          <p:cNvSpPr/>
          <p:nvPr/>
        </p:nvSpPr>
        <p:spPr>
          <a:xfrm>
            <a:off x="4626864" y="1755648"/>
            <a:ext cx="2011680" cy="54864"/>
          </a:xfrm>
          <a:prstGeom prst="rect">
            <a:avLst/>
          </a:prstGeom>
          <a:solidFill>
            <a:srgbClr val="028090"/>
          </a:solidFill>
          <a:ln/>
        </p:spPr>
        <p:txBody>
          <a:bodyPr/>
          <a:lstStyle/>
          <a:p>
            <a:endParaRPr lang="en-US"/>
          </a:p>
        </p:txBody>
      </p:sp>
      <p:sp>
        <p:nvSpPr>
          <p:cNvPr id="22" name="Text 20"/>
          <p:cNvSpPr/>
          <p:nvPr/>
        </p:nvSpPr>
        <p:spPr>
          <a:xfrm>
            <a:off x="4626864" y="1847088"/>
            <a:ext cx="2011680" cy="292608"/>
          </a:xfrm>
          <a:prstGeom prst="rect">
            <a:avLst/>
          </a:prstGeom>
          <a:noFill/>
          <a:ln/>
        </p:spPr>
        <p:txBody>
          <a:bodyPr wrap="square" rtlCol="0" anchor="ctr"/>
          <a:lstStyle/>
          <a:p>
            <a:pPr marL="0" indent="0" algn="ctr">
              <a:buNone/>
            </a:pPr>
            <a:r>
              <a:rPr lang="en-US" sz="1200" b="1" dirty="0">
                <a:solidFill>
                  <a:srgbClr val="028090"/>
                </a:solidFill>
                <a:latin typeface="Calibri" pitchFamily="34" charset="0"/>
                <a:ea typeface="Calibri" pitchFamily="34" charset="-122"/>
                <a:cs typeface="Calibri" pitchFamily="34" charset="-120"/>
              </a:rPr>
              <a:t>KNN</a:t>
            </a:r>
            <a:endParaRPr lang="en-US" sz="1200" dirty="0"/>
          </a:p>
        </p:txBody>
      </p:sp>
      <p:sp>
        <p:nvSpPr>
          <p:cNvPr id="23" name="Text 21"/>
          <p:cNvSpPr/>
          <p:nvPr/>
        </p:nvSpPr>
        <p:spPr>
          <a:xfrm>
            <a:off x="4626864" y="2139696"/>
            <a:ext cx="2011680" cy="548640"/>
          </a:xfrm>
          <a:prstGeom prst="rect">
            <a:avLst/>
          </a:prstGeom>
          <a:noFill/>
          <a:ln/>
        </p:spPr>
        <p:txBody>
          <a:bodyPr wrap="square" rtlCol="0" anchor="ctr"/>
          <a:lstStyle/>
          <a:p>
            <a:pPr marL="0" indent="0" algn="ctr">
              <a:buNone/>
            </a:pPr>
            <a:r>
              <a:rPr lang="en-US" sz="2800" b="1" dirty="0">
                <a:solidFill>
                  <a:srgbClr val="2B2B2B"/>
                </a:solidFill>
                <a:latin typeface="Georgia" pitchFamily="34" charset="0"/>
                <a:ea typeface="Georgia" pitchFamily="34" charset="-122"/>
                <a:cs typeface="Georgia" pitchFamily="34" charset="-120"/>
              </a:rPr>
              <a:t>72.49%</a:t>
            </a:r>
            <a:endParaRPr lang="en-US" sz="2800" dirty="0"/>
          </a:p>
        </p:txBody>
      </p:sp>
      <p:sp>
        <p:nvSpPr>
          <p:cNvPr id="24" name="Text 22"/>
          <p:cNvSpPr/>
          <p:nvPr/>
        </p:nvSpPr>
        <p:spPr>
          <a:xfrm>
            <a:off x="4626864" y="2670048"/>
            <a:ext cx="2011680" cy="201168"/>
          </a:xfrm>
          <a:prstGeom prst="rect">
            <a:avLst/>
          </a:prstGeom>
          <a:noFill/>
          <a:ln/>
        </p:spPr>
        <p:txBody>
          <a:bodyPr wrap="square" rtlCol="0" anchor="ctr"/>
          <a:lstStyle/>
          <a:p>
            <a:pPr marL="0" indent="0" algn="ctr">
              <a:buNone/>
            </a:pPr>
            <a:r>
              <a:rPr lang="en-US" sz="950" dirty="0">
                <a:solidFill>
                  <a:srgbClr val="7A6070"/>
                </a:solidFill>
                <a:latin typeface="Calibri" pitchFamily="34" charset="0"/>
                <a:ea typeface="Calibri" pitchFamily="34" charset="-122"/>
                <a:cs typeface="Calibri" pitchFamily="34" charset="-120"/>
              </a:rPr>
              <a:t>above baseline</a:t>
            </a:r>
            <a:endParaRPr lang="en-US" sz="950" dirty="0"/>
          </a:p>
        </p:txBody>
      </p:sp>
      <p:sp>
        <p:nvSpPr>
          <p:cNvPr id="25" name="Shape 23"/>
          <p:cNvSpPr/>
          <p:nvPr/>
        </p:nvSpPr>
        <p:spPr>
          <a:xfrm>
            <a:off x="4809744" y="2871216"/>
            <a:ext cx="1645920" cy="274320"/>
          </a:xfrm>
          <a:prstGeom prst="rect">
            <a:avLst/>
          </a:prstGeom>
          <a:solidFill>
            <a:srgbClr val="028090"/>
          </a:solidFill>
          <a:ln/>
        </p:spPr>
        <p:txBody>
          <a:bodyPr/>
          <a:lstStyle/>
          <a:p>
            <a:endParaRPr lang="en-US"/>
          </a:p>
        </p:txBody>
      </p:sp>
      <p:sp>
        <p:nvSpPr>
          <p:cNvPr id="26" name="Text 24"/>
          <p:cNvSpPr/>
          <p:nvPr/>
        </p:nvSpPr>
        <p:spPr>
          <a:xfrm>
            <a:off x="4809744" y="2871216"/>
            <a:ext cx="164592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+22.49%</a:t>
            </a:r>
            <a:endParaRPr lang="en-US" sz="1300" dirty="0"/>
          </a:p>
        </p:txBody>
      </p:sp>
      <p:sp>
        <p:nvSpPr>
          <p:cNvPr id="27" name="Shape 25"/>
          <p:cNvSpPr/>
          <p:nvPr/>
        </p:nvSpPr>
        <p:spPr>
          <a:xfrm>
            <a:off x="6803136" y="1755648"/>
            <a:ext cx="2011680" cy="146304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28" name="Shape 26"/>
          <p:cNvSpPr/>
          <p:nvPr/>
        </p:nvSpPr>
        <p:spPr>
          <a:xfrm>
            <a:off x="6803136" y="1755648"/>
            <a:ext cx="2011680" cy="54864"/>
          </a:xfrm>
          <a:prstGeom prst="rect">
            <a:avLst/>
          </a:prstGeom>
          <a:solidFill>
            <a:srgbClr val="A83258"/>
          </a:solidFill>
          <a:ln/>
        </p:spPr>
        <p:txBody>
          <a:bodyPr/>
          <a:lstStyle/>
          <a:p>
            <a:endParaRPr lang="en-US"/>
          </a:p>
        </p:txBody>
      </p:sp>
      <p:sp>
        <p:nvSpPr>
          <p:cNvPr id="29" name="Text 27"/>
          <p:cNvSpPr/>
          <p:nvPr/>
        </p:nvSpPr>
        <p:spPr>
          <a:xfrm>
            <a:off x="6803136" y="1847088"/>
            <a:ext cx="2011680" cy="292608"/>
          </a:xfrm>
          <a:prstGeom prst="rect">
            <a:avLst/>
          </a:prstGeom>
          <a:noFill/>
          <a:ln/>
        </p:spPr>
        <p:txBody>
          <a:bodyPr wrap="square" rtlCol="0" anchor="ctr"/>
          <a:lstStyle/>
          <a:p>
            <a:pPr marL="0" indent="0" algn="ctr">
              <a:buNone/>
            </a:pPr>
            <a:r>
              <a:rPr lang="en-US" sz="1200" b="1" dirty="0">
                <a:solidFill>
                  <a:srgbClr val="A83258"/>
                </a:solidFill>
                <a:latin typeface="Calibri" pitchFamily="34" charset="0"/>
                <a:ea typeface="Calibri" pitchFamily="34" charset="-122"/>
                <a:cs typeface="Calibri" pitchFamily="34" charset="-120"/>
              </a:rPr>
              <a:t>Decision Tree</a:t>
            </a:r>
            <a:endParaRPr lang="en-US" sz="1200" dirty="0"/>
          </a:p>
        </p:txBody>
      </p:sp>
      <p:sp>
        <p:nvSpPr>
          <p:cNvPr id="30" name="Text 28"/>
          <p:cNvSpPr/>
          <p:nvPr/>
        </p:nvSpPr>
        <p:spPr>
          <a:xfrm>
            <a:off x="6803136" y="2139696"/>
            <a:ext cx="2011680" cy="548640"/>
          </a:xfrm>
          <a:prstGeom prst="rect">
            <a:avLst/>
          </a:prstGeom>
          <a:noFill/>
          <a:ln/>
        </p:spPr>
        <p:txBody>
          <a:bodyPr wrap="square" rtlCol="0" anchor="ctr"/>
          <a:lstStyle/>
          <a:p>
            <a:pPr marL="0" indent="0" algn="ctr">
              <a:buNone/>
            </a:pPr>
            <a:r>
              <a:rPr lang="en-US" sz="2800" b="1" dirty="0">
                <a:solidFill>
                  <a:srgbClr val="2B2B2B"/>
                </a:solidFill>
                <a:latin typeface="Georgia" pitchFamily="34" charset="0"/>
                <a:ea typeface="Georgia" pitchFamily="34" charset="-122"/>
                <a:cs typeface="Georgia" pitchFamily="34" charset="-120"/>
              </a:rPr>
              <a:t>68.12%</a:t>
            </a:r>
            <a:endParaRPr lang="en-US" sz="2800" dirty="0"/>
          </a:p>
        </p:txBody>
      </p:sp>
      <p:sp>
        <p:nvSpPr>
          <p:cNvPr id="31" name="Text 29"/>
          <p:cNvSpPr/>
          <p:nvPr/>
        </p:nvSpPr>
        <p:spPr>
          <a:xfrm>
            <a:off x="6803136" y="2670048"/>
            <a:ext cx="2011680" cy="201168"/>
          </a:xfrm>
          <a:prstGeom prst="rect">
            <a:avLst/>
          </a:prstGeom>
          <a:noFill/>
          <a:ln/>
        </p:spPr>
        <p:txBody>
          <a:bodyPr wrap="square" rtlCol="0" anchor="ctr"/>
          <a:lstStyle/>
          <a:p>
            <a:pPr marL="0" indent="0" algn="ctr">
              <a:buNone/>
            </a:pPr>
            <a:r>
              <a:rPr lang="en-US" sz="950" dirty="0">
                <a:solidFill>
                  <a:srgbClr val="7A6070"/>
                </a:solidFill>
                <a:latin typeface="Calibri" pitchFamily="34" charset="0"/>
                <a:ea typeface="Calibri" pitchFamily="34" charset="-122"/>
                <a:cs typeface="Calibri" pitchFamily="34" charset="-120"/>
              </a:rPr>
              <a:t>above baseline</a:t>
            </a:r>
            <a:endParaRPr lang="en-US" sz="950" dirty="0"/>
          </a:p>
        </p:txBody>
      </p:sp>
      <p:sp>
        <p:nvSpPr>
          <p:cNvPr id="32" name="Shape 30"/>
          <p:cNvSpPr/>
          <p:nvPr/>
        </p:nvSpPr>
        <p:spPr>
          <a:xfrm>
            <a:off x="6986016" y="2871216"/>
            <a:ext cx="1645920" cy="274320"/>
          </a:xfrm>
          <a:prstGeom prst="rect">
            <a:avLst/>
          </a:prstGeom>
          <a:solidFill>
            <a:srgbClr val="A83258"/>
          </a:solidFill>
          <a:ln/>
        </p:spPr>
        <p:txBody>
          <a:bodyPr/>
          <a:lstStyle/>
          <a:p>
            <a:endParaRPr lang="en-US"/>
          </a:p>
        </p:txBody>
      </p:sp>
      <p:sp>
        <p:nvSpPr>
          <p:cNvPr id="33" name="Text 31"/>
          <p:cNvSpPr/>
          <p:nvPr/>
        </p:nvSpPr>
        <p:spPr>
          <a:xfrm>
            <a:off x="6986016" y="2871216"/>
            <a:ext cx="1645920" cy="274320"/>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+18.12%</a:t>
            </a:r>
            <a:endParaRPr lang="en-US" sz="1300" dirty="0"/>
          </a:p>
        </p:txBody>
      </p:sp>
      <p:sp>
        <p:nvSpPr>
          <p:cNvPr id="34" name="Shape 32"/>
          <p:cNvSpPr/>
          <p:nvPr/>
        </p:nvSpPr>
        <p:spPr>
          <a:xfrm>
            <a:off x="274320" y="3291840"/>
            <a:ext cx="8595360" cy="1481328"/>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35" name="Shape 33"/>
          <p:cNvSpPr/>
          <p:nvPr/>
        </p:nvSpPr>
        <p:spPr>
          <a:xfrm>
            <a:off x="274320" y="3291840"/>
            <a:ext cx="109728" cy="1481328"/>
          </a:xfrm>
          <a:prstGeom prst="rect">
            <a:avLst/>
          </a:prstGeom>
          <a:solidFill>
            <a:srgbClr val="C9A84C"/>
          </a:solidFill>
          <a:ln/>
        </p:spPr>
        <p:txBody>
          <a:bodyPr/>
          <a:lstStyle/>
          <a:p>
            <a:endParaRPr lang="en-US"/>
          </a:p>
        </p:txBody>
      </p:sp>
      <p:sp>
        <p:nvSpPr>
          <p:cNvPr id="36" name="Text 34"/>
          <p:cNvSpPr/>
          <p:nvPr/>
        </p:nvSpPr>
        <p:spPr>
          <a:xfrm>
            <a:off x="548640" y="3364992"/>
            <a:ext cx="4572000" cy="320040"/>
          </a:xfrm>
          <a:prstGeom prst="rect">
            <a:avLst/>
          </a:prstGeom>
          <a:noFill/>
          <a:ln/>
        </p:spPr>
        <p:txBody>
          <a:bodyPr wrap="square" rtlCol="0" anchor="ctr"/>
          <a:lstStyle/>
          <a:p>
            <a:pPr marL="0" indent="0">
              <a:buNone/>
            </a:pPr>
            <a:r>
              <a:rPr lang="en-US" sz="1300" b="1" dirty="0">
                <a:solidFill>
                  <a:srgbClr val="6D1A36"/>
                </a:solidFill>
                <a:latin typeface="Georgia" pitchFamily="34" charset="0"/>
                <a:ea typeface="Georgia" pitchFamily="34" charset="-122"/>
                <a:cs typeface="Georgia" pitchFamily="34" charset="-120"/>
              </a:rPr>
              <a:t>Nuance — What the 77.29% Means</a:t>
            </a:r>
            <a:endParaRPr lang="en-US" sz="1300" dirty="0"/>
          </a:p>
        </p:txBody>
      </p:sp>
      <p:sp>
        <p:nvSpPr>
          <p:cNvPr id="37" name="Text 35"/>
          <p:cNvSpPr/>
          <p:nvPr/>
        </p:nvSpPr>
        <p:spPr>
          <a:xfrm>
            <a:off x="548640" y="3721608"/>
            <a:ext cx="8229600" cy="960120"/>
          </a:xfrm>
          <a:prstGeom prst="rect">
            <a:avLst/>
          </a:prstGeom>
          <a:noFill/>
          <a:ln/>
        </p:spPr>
        <p:txBody>
          <a:bodyPr wrap="square" rtlCol="0" anchor="ctr"/>
          <a:lstStyle/>
          <a:p>
            <a:pPr marL="0" indent="0">
              <a:buNone/>
            </a:pPr>
            <a:r>
              <a:rPr lang="en-US" sz="1200" dirty="0">
                <a:solidFill>
                  <a:srgbClr val="2B2B2B"/>
                </a:solidFill>
                <a:latin typeface="Calibri" pitchFamily="34" charset="0"/>
                <a:ea typeface="Calibri" pitchFamily="34" charset="-122"/>
                <a:cs typeface="Calibri" pitchFamily="34" charset="-120"/>
              </a:rPr>
              <a:t>While 77.29% is strong, it also means ~1 in 4 predictions is wrong. Quality scores 5 and 6 are adjacent and easy to confuse after binarization. The gap between best model (RF: 77.29%) and worst (DT: 68.12%) is 9.17% — showing model choice matters. Chemistry captures the dominant signal but unmeasured factors (e.g. grape variety, vintage, winemaking technique) likely explain the remaining error.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2E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6D1A36"/>
          </a:solidFill>
          <a:ln/>
        </p:spPr>
        <p:txBody>
          <a:bodyPr/>
          <a:lstStyle/>
          <a:p>
            <a:endParaRPr lang="en-US"/>
          </a:p>
        </p:txBody>
      </p:sp>
      <p:sp>
        <p:nvSpPr>
          <p:cNvPr id="3" name="Text 1"/>
          <p:cNvSpPr/>
          <p:nvPr/>
        </p:nvSpPr>
        <p:spPr>
          <a:xfrm>
            <a:off x="365760" y="0"/>
            <a:ext cx="8412480" cy="822960"/>
          </a:xfrm>
          <a:prstGeom prst="rect">
            <a:avLst/>
          </a:prstGeom>
          <a:noFill/>
          <a:ln/>
        </p:spPr>
        <p:txBody>
          <a:bodyPr wrap="square"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HYPOTHESIS VALIDATION</a:t>
            </a:r>
            <a:endParaRPr lang="en-US" sz="2200" dirty="0"/>
          </a:p>
        </p:txBody>
      </p:sp>
      <p:sp>
        <p:nvSpPr>
          <p:cNvPr id="4" name="Shape 2"/>
          <p:cNvSpPr/>
          <p:nvPr/>
        </p:nvSpPr>
        <p:spPr>
          <a:xfrm>
            <a:off x="274320" y="960120"/>
            <a:ext cx="8595360" cy="9144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5" name="Shape 3"/>
          <p:cNvSpPr/>
          <p:nvPr/>
        </p:nvSpPr>
        <p:spPr>
          <a:xfrm>
            <a:off x="274320" y="960120"/>
            <a:ext cx="457200" cy="914400"/>
          </a:xfrm>
          <a:prstGeom prst="rect">
            <a:avLst/>
          </a:prstGeom>
          <a:solidFill>
            <a:srgbClr val="6D1A36"/>
          </a:solidFill>
          <a:ln/>
        </p:spPr>
        <p:txBody>
          <a:bodyPr/>
          <a:lstStyle/>
          <a:p>
            <a:endParaRPr lang="en-US"/>
          </a:p>
        </p:txBody>
      </p:sp>
      <p:sp>
        <p:nvSpPr>
          <p:cNvPr id="6" name="Text 4"/>
          <p:cNvSpPr/>
          <p:nvPr/>
        </p:nvSpPr>
        <p:spPr>
          <a:xfrm rot="16200000">
            <a:off x="274320" y="960120"/>
            <a:ext cx="457200" cy="9144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H1 / RQ1</a:t>
            </a:r>
            <a:endParaRPr lang="en-US" sz="900" dirty="0"/>
          </a:p>
        </p:txBody>
      </p:sp>
      <p:sp>
        <p:nvSpPr>
          <p:cNvPr id="7" name="Shape 5"/>
          <p:cNvSpPr/>
          <p:nvPr/>
        </p:nvSpPr>
        <p:spPr>
          <a:xfrm>
            <a:off x="7589520" y="1033272"/>
            <a:ext cx="1234440" cy="320040"/>
          </a:xfrm>
          <a:prstGeom prst="rect">
            <a:avLst/>
          </a:prstGeom>
          <a:solidFill>
            <a:srgbClr val="D4EDDA"/>
          </a:solidFill>
          <a:ln/>
        </p:spPr>
        <p:txBody>
          <a:bodyPr/>
          <a:lstStyle/>
          <a:p>
            <a:endParaRPr lang="en-US"/>
          </a:p>
        </p:txBody>
      </p:sp>
      <p:sp>
        <p:nvSpPr>
          <p:cNvPr id="8" name="Text 6"/>
          <p:cNvSpPr/>
          <p:nvPr/>
        </p:nvSpPr>
        <p:spPr>
          <a:xfrm>
            <a:off x="7589520" y="1033272"/>
            <a:ext cx="1234440" cy="320040"/>
          </a:xfrm>
          <a:prstGeom prst="rect">
            <a:avLst/>
          </a:prstGeom>
          <a:noFill/>
          <a:ln/>
        </p:spPr>
        <p:txBody>
          <a:bodyPr wrap="square" rtlCol="0" anchor="ctr"/>
          <a:lstStyle/>
          <a:p>
            <a:pPr marL="0" indent="0" algn="ctr">
              <a:buNone/>
            </a:pPr>
            <a:r>
              <a:rPr lang="en-US" sz="1000" b="1" dirty="0">
                <a:solidFill>
                  <a:srgbClr val="1A6B3C"/>
                </a:solidFill>
                <a:latin typeface="Calibri" pitchFamily="34" charset="0"/>
                <a:ea typeface="Calibri" pitchFamily="34" charset="-122"/>
                <a:cs typeface="Calibri" pitchFamily="34" charset="-120"/>
              </a:rPr>
              <a:t>SUPPORTED ✔</a:t>
            </a:r>
            <a:endParaRPr lang="en-US" sz="1000" dirty="0"/>
          </a:p>
        </p:txBody>
      </p:sp>
      <p:sp>
        <p:nvSpPr>
          <p:cNvPr id="9" name="Text 7"/>
          <p:cNvSpPr/>
          <p:nvPr/>
        </p:nvSpPr>
        <p:spPr>
          <a:xfrm>
            <a:off x="868680" y="1033272"/>
            <a:ext cx="1280160" cy="274320"/>
          </a:xfrm>
          <a:prstGeom prst="rect">
            <a:avLst/>
          </a:prstGeom>
          <a:noFill/>
          <a:ln/>
        </p:spPr>
        <p:txBody>
          <a:bodyPr wrap="square" rtlCol="0" anchor="ctr"/>
          <a:lstStyle/>
          <a:p>
            <a:pPr marL="0" indent="0">
              <a:buNone/>
            </a:pPr>
            <a:r>
              <a:rPr lang="en-US" sz="1100" b="1" dirty="0">
                <a:solidFill>
                  <a:srgbClr val="7A6070"/>
                </a:solidFill>
                <a:latin typeface="Calibri" pitchFamily="34" charset="0"/>
                <a:ea typeface="Calibri" pitchFamily="34" charset="-122"/>
                <a:cs typeface="Calibri" pitchFamily="34" charset="-120"/>
              </a:rPr>
              <a:t>Hypothesis: </a:t>
            </a:r>
            <a:endParaRPr lang="en-US" sz="1100" dirty="0"/>
          </a:p>
        </p:txBody>
      </p:sp>
      <p:sp>
        <p:nvSpPr>
          <p:cNvPr id="10" name="Text 8"/>
          <p:cNvSpPr/>
          <p:nvPr/>
        </p:nvSpPr>
        <p:spPr>
          <a:xfrm>
            <a:off x="2103120" y="1033272"/>
            <a:ext cx="5349240" cy="274320"/>
          </a:xfrm>
          <a:prstGeom prst="rect">
            <a:avLst/>
          </a:prstGeom>
          <a:noFill/>
          <a:ln/>
        </p:spPr>
        <p:txBody>
          <a:bodyPr wrap="square"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All models will beat the 50% random baseline</a:t>
            </a:r>
            <a:endParaRPr lang="en-US" sz="1100" dirty="0"/>
          </a:p>
        </p:txBody>
      </p:sp>
      <p:sp>
        <p:nvSpPr>
          <p:cNvPr id="11" name="Text 9"/>
          <p:cNvSpPr/>
          <p:nvPr/>
        </p:nvSpPr>
        <p:spPr>
          <a:xfrm>
            <a:off x="868680" y="1344168"/>
            <a:ext cx="822960" cy="457200"/>
          </a:xfrm>
          <a:prstGeom prst="rect">
            <a:avLst/>
          </a:prstGeom>
          <a:noFill/>
          <a:ln/>
        </p:spPr>
        <p:txBody>
          <a:bodyPr wrap="square" rtlCol="0" anchor="t"/>
          <a:lstStyle/>
          <a:p>
            <a:pPr marL="0" indent="0">
              <a:buNone/>
            </a:pPr>
            <a:r>
              <a:rPr lang="en-US" sz="1100" b="1" dirty="0">
                <a:solidFill>
                  <a:srgbClr val="6D1A36"/>
                </a:solidFill>
                <a:latin typeface="Calibri" pitchFamily="34" charset="0"/>
                <a:ea typeface="Calibri" pitchFamily="34" charset="-122"/>
                <a:cs typeface="Calibri" pitchFamily="34" charset="-120"/>
              </a:rPr>
              <a:t>Result: </a:t>
            </a:r>
            <a:endParaRPr lang="en-US" sz="1100" dirty="0"/>
          </a:p>
        </p:txBody>
      </p:sp>
      <p:sp>
        <p:nvSpPr>
          <p:cNvPr id="12" name="Text 10"/>
          <p:cNvSpPr/>
          <p:nvPr/>
        </p:nvSpPr>
        <p:spPr>
          <a:xfrm>
            <a:off x="1664208" y="1344168"/>
            <a:ext cx="7086600" cy="457200"/>
          </a:xfrm>
          <a:prstGeom prst="rect">
            <a:avLst/>
          </a:prstGeom>
          <a:noFill/>
          <a:ln/>
        </p:spPr>
        <p:txBody>
          <a:bodyPr wrap="square" rtlCol="0" anchor="t"/>
          <a:lstStyle/>
          <a:p>
            <a:pPr marL="0" indent="0">
              <a:buNone/>
            </a:pPr>
            <a:r>
              <a:rPr lang="en-US" sz="1100" dirty="0">
                <a:solidFill>
                  <a:srgbClr val="2B2B2B"/>
                </a:solidFill>
                <a:latin typeface="Calibri" pitchFamily="34" charset="0"/>
                <a:ea typeface="Calibri" pitchFamily="34" charset="-122"/>
                <a:cs typeface="Calibri" pitchFamily="34" charset="-120"/>
              </a:rPr>
              <a:t>All 4 models beat 50% baseline. Best: RF 77.29%, Worst: DT 68.12% — both well above 50%.</a:t>
            </a:r>
            <a:endParaRPr lang="en-US" sz="1100" dirty="0"/>
          </a:p>
        </p:txBody>
      </p:sp>
      <p:sp>
        <p:nvSpPr>
          <p:cNvPr id="13" name="Shape 11"/>
          <p:cNvSpPr/>
          <p:nvPr/>
        </p:nvSpPr>
        <p:spPr>
          <a:xfrm>
            <a:off x="274320" y="1965960"/>
            <a:ext cx="8595360" cy="9144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14" name="Shape 12"/>
          <p:cNvSpPr/>
          <p:nvPr/>
        </p:nvSpPr>
        <p:spPr>
          <a:xfrm>
            <a:off x="274320" y="1965960"/>
            <a:ext cx="457200" cy="914400"/>
          </a:xfrm>
          <a:prstGeom prst="rect">
            <a:avLst/>
          </a:prstGeom>
          <a:solidFill>
            <a:srgbClr val="A83258"/>
          </a:solidFill>
          <a:ln/>
        </p:spPr>
        <p:txBody>
          <a:bodyPr/>
          <a:lstStyle/>
          <a:p>
            <a:endParaRPr lang="en-US"/>
          </a:p>
        </p:txBody>
      </p:sp>
      <p:sp>
        <p:nvSpPr>
          <p:cNvPr id="15" name="Text 13"/>
          <p:cNvSpPr/>
          <p:nvPr/>
        </p:nvSpPr>
        <p:spPr>
          <a:xfrm rot="16200000">
            <a:off x="274320" y="1965960"/>
            <a:ext cx="457200" cy="9144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H2 / RQ2</a:t>
            </a:r>
            <a:endParaRPr lang="en-US" sz="900" dirty="0"/>
          </a:p>
        </p:txBody>
      </p:sp>
      <p:sp>
        <p:nvSpPr>
          <p:cNvPr id="16" name="Shape 14"/>
          <p:cNvSpPr/>
          <p:nvPr/>
        </p:nvSpPr>
        <p:spPr>
          <a:xfrm>
            <a:off x="7589520" y="2039112"/>
            <a:ext cx="1234440" cy="320040"/>
          </a:xfrm>
          <a:prstGeom prst="rect">
            <a:avLst/>
          </a:prstGeom>
          <a:solidFill>
            <a:srgbClr val="FFF3CD"/>
          </a:solidFill>
          <a:ln/>
        </p:spPr>
        <p:txBody>
          <a:bodyPr/>
          <a:lstStyle/>
          <a:p>
            <a:endParaRPr lang="en-US"/>
          </a:p>
        </p:txBody>
      </p:sp>
      <p:sp>
        <p:nvSpPr>
          <p:cNvPr id="17" name="Text 15"/>
          <p:cNvSpPr/>
          <p:nvPr/>
        </p:nvSpPr>
        <p:spPr>
          <a:xfrm>
            <a:off x="7589520" y="2039112"/>
            <a:ext cx="1234440" cy="320040"/>
          </a:xfrm>
          <a:prstGeom prst="rect">
            <a:avLst/>
          </a:prstGeom>
          <a:noFill/>
          <a:ln/>
        </p:spPr>
        <p:txBody>
          <a:bodyPr wrap="square" rtlCol="0" anchor="ctr"/>
          <a:lstStyle/>
          <a:p>
            <a:pPr marL="0" indent="0" algn="ctr">
              <a:buNone/>
            </a:pPr>
            <a:r>
              <a:rPr lang="en-US" sz="1000" b="1" dirty="0">
                <a:solidFill>
                  <a:srgbClr val="7A5C00"/>
                </a:solidFill>
                <a:latin typeface="Calibri" pitchFamily="34" charset="0"/>
                <a:ea typeface="Calibri" pitchFamily="34" charset="-122"/>
                <a:cs typeface="Calibri" pitchFamily="34" charset="-120"/>
              </a:rPr>
              <a:t>PARTIAL ⚠</a:t>
            </a:r>
            <a:endParaRPr lang="en-US" sz="1000" dirty="0"/>
          </a:p>
        </p:txBody>
      </p:sp>
      <p:sp>
        <p:nvSpPr>
          <p:cNvPr id="18" name="Text 16"/>
          <p:cNvSpPr/>
          <p:nvPr/>
        </p:nvSpPr>
        <p:spPr>
          <a:xfrm>
            <a:off x="868680" y="2039112"/>
            <a:ext cx="1280160" cy="274320"/>
          </a:xfrm>
          <a:prstGeom prst="rect">
            <a:avLst/>
          </a:prstGeom>
          <a:noFill/>
          <a:ln/>
        </p:spPr>
        <p:txBody>
          <a:bodyPr wrap="square" rtlCol="0" anchor="ctr"/>
          <a:lstStyle/>
          <a:p>
            <a:pPr marL="0" indent="0">
              <a:buNone/>
            </a:pPr>
            <a:r>
              <a:rPr lang="en-US" sz="1100" b="1" dirty="0">
                <a:solidFill>
                  <a:srgbClr val="7A6070"/>
                </a:solidFill>
                <a:latin typeface="Calibri" pitchFamily="34" charset="0"/>
                <a:ea typeface="Calibri" pitchFamily="34" charset="-122"/>
                <a:cs typeface="Calibri" pitchFamily="34" charset="-120"/>
              </a:rPr>
              <a:t>Hypothesis: </a:t>
            </a:r>
            <a:endParaRPr lang="en-US" sz="1100" dirty="0"/>
          </a:p>
        </p:txBody>
      </p:sp>
      <p:sp>
        <p:nvSpPr>
          <p:cNvPr id="19" name="Text 17"/>
          <p:cNvSpPr/>
          <p:nvPr/>
        </p:nvSpPr>
        <p:spPr>
          <a:xfrm>
            <a:off x="2103120" y="2039112"/>
            <a:ext cx="5349240" cy="274320"/>
          </a:xfrm>
          <a:prstGeom prst="rect">
            <a:avLst/>
          </a:prstGeom>
          <a:noFill/>
          <a:ln/>
        </p:spPr>
        <p:txBody>
          <a:bodyPr wrap="square"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Alcohol &amp; volatile acidity are top-2 features in both models</a:t>
            </a:r>
            <a:endParaRPr lang="en-US" sz="1100" dirty="0"/>
          </a:p>
        </p:txBody>
      </p:sp>
      <p:sp>
        <p:nvSpPr>
          <p:cNvPr id="20" name="Text 18"/>
          <p:cNvSpPr/>
          <p:nvPr/>
        </p:nvSpPr>
        <p:spPr>
          <a:xfrm>
            <a:off x="868680" y="2350008"/>
            <a:ext cx="822960" cy="457200"/>
          </a:xfrm>
          <a:prstGeom prst="rect">
            <a:avLst/>
          </a:prstGeom>
          <a:noFill/>
          <a:ln/>
        </p:spPr>
        <p:txBody>
          <a:bodyPr wrap="square" rtlCol="0" anchor="t"/>
          <a:lstStyle/>
          <a:p>
            <a:pPr marL="0" indent="0">
              <a:buNone/>
            </a:pPr>
            <a:r>
              <a:rPr lang="en-US" sz="1100" b="1" dirty="0">
                <a:solidFill>
                  <a:srgbClr val="A83258"/>
                </a:solidFill>
                <a:latin typeface="Calibri" pitchFamily="34" charset="0"/>
                <a:ea typeface="Calibri" pitchFamily="34" charset="-122"/>
                <a:cs typeface="Calibri" pitchFamily="34" charset="-120"/>
              </a:rPr>
              <a:t>Result: </a:t>
            </a:r>
            <a:endParaRPr lang="en-US" sz="1100" dirty="0"/>
          </a:p>
        </p:txBody>
      </p:sp>
      <p:sp>
        <p:nvSpPr>
          <p:cNvPr id="21" name="Text 19"/>
          <p:cNvSpPr/>
          <p:nvPr/>
        </p:nvSpPr>
        <p:spPr>
          <a:xfrm>
            <a:off x="1664208" y="2350008"/>
            <a:ext cx="7086600" cy="457200"/>
          </a:xfrm>
          <a:prstGeom prst="rect">
            <a:avLst/>
          </a:prstGeom>
          <a:noFill/>
          <a:ln/>
        </p:spPr>
        <p:txBody>
          <a:bodyPr wrap="square" rtlCol="0" anchor="t"/>
          <a:lstStyle/>
          <a:p>
            <a:pPr marL="0" indent="0">
              <a:buNone/>
            </a:pPr>
            <a:r>
              <a:rPr lang="en-US" sz="1100" dirty="0">
                <a:solidFill>
                  <a:srgbClr val="2B2B2B"/>
                </a:solidFill>
                <a:latin typeface="Calibri" pitchFamily="34" charset="0"/>
                <a:ea typeface="Calibri" pitchFamily="34" charset="-122"/>
                <a:cs typeface="Calibri" pitchFamily="34" charset="-120"/>
              </a:rPr>
              <a:t>Alcohol = #1 in BOTH models. RF top-2: alcohol + sulphates. LR top-2: alcohol + volatile acidity. Not identical but alcohol is universally #1.</a:t>
            </a:r>
            <a:endParaRPr lang="en-US" sz="1100" dirty="0"/>
          </a:p>
        </p:txBody>
      </p:sp>
      <p:sp>
        <p:nvSpPr>
          <p:cNvPr id="22" name="Shape 20"/>
          <p:cNvSpPr/>
          <p:nvPr/>
        </p:nvSpPr>
        <p:spPr>
          <a:xfrm>
            <a:off x="274320" y="2971800"/>
            <a:ext cx="8595360" cy="9144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23" name="Shape 21"/>
          <p:cNvSpPr/>
          <p:nvPr/>
        </p:nvSpPr>
        <p:spPr>
          <a:xfrm>
            <a:off x="274320" y="2971800"/>
            <a:ext cx="457200" cy="914400"/>
          </a:xfrm>
          <a:prstGeom prst="rect">
            <a:avLst/>
          </a:prstGeom>
          <a:solidFill>
            <a:srgbClr val="C9A84C"/>
          </a:solidFill>
          <a:ln/>
        </p:spPr>
        <p:txBody>
          <a:bodyPr/>
          <a:lstStyle/>
          <a:p>
            <a:endParaRPr lang="en-US"/>
          </a:p>
        </p:txBody>
      </p:sp>
      <p:sp>
        <p:nvSpPr>
          <p:cNvPr id="24" name="Text 22"/>
          <p:cNvSpPr/>
          <p:nvPr/>
        </p:nvSpPr>
        <p:spPr>
          <a:xfrm rot="16200000">
            <a:off x="274320" y="2971800"/>
            <a:ext cx="457200" cy="9144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H3 / RQ3</a:t>
            </a:r>
            <a:endParaRPr lang="en-US" sz="900" dirty="0"/>
          </a:p>
        </p:txBody>
      </p:sp>
      <p:sp>
        <p:nvSpPr>
          <p:cNvPr id="25" name="Shape 23"/>
          <p:cNvSpPr/>
          <p:nvPr/>
        </p:nvSpPr>
        <p:spPr>
          <a:xfrm>
            <a:off x="7589520" y="3044952"/>
            <a:ext cx="1234440" cy="320040"/>
          </a:xfrm>
          <a:prstGeom prst="rect">
            <a:avLst/>
          </a:prstGeom>
          <a:solidFill>
            <a:srgbClr val="D4EDDA"/>
          </a:solidFill>
          <a:ln/>
        </p:spPr>
        <p:txBody>
          <a:bodyPr/>
          <a:lstStyle/>
          <a:p>
            <a:endParaRPr lang="en-US"/>
          </a:p>
        </p:txBody>
      </p:sp>
      <p:sp>
        <p:nvSpPr>
          <p:cNvPr id="26" name="Text 24"/>
          <p:cNvSpPr/>
          <p:nvPr/>
        </p:nvSpPr>
        <p:spPr>
          <a:xfrm>
            <a:off x="7589520" y="3044952"/>
            <a:ext cx="1234440" cy="320040"/>
          </a:xfrm>
          <a:prstGeom prst="rect">
            <a:avLst/>
          </a:prstGeom>
          <a:noFill/>
          <a:ln/>
        </p:spPr>
        <p:txBody>
          <a:bodyPr wrap="square" rtlCol="0" anchor="ctr"/>
          <a:lstStyle/>
          <a:p>
            <a:pPr marL="0" indent="0" algn="ctr">
              <a:buNone/>
            </a:pPr>
            <a:r>
              <a:rPr lang="en-US" sz="1000" b="1" dirty="0">
                <a:solidFill>
                  <a:srgbClr val="1A6B3C"/>
                </a:solidFill>
                <a:latin typeface="Calibri" pitchFamily="34" charset="0"/>
                <a:ea typeface="Calibri" pitchFamily="34" charset="-122"/>
                <a:cs typeface="Calibri" pitchFamily="34" charset="-120"/>
              </a:rPr>
              <a:t>SUPPORTED ✔</a:t>
            </a:r>
            <a:endParaRPr lang="en-US" sz="1000" dirty="0"/>
          </a:p>
        </p:txBody>
      </p:sp>
      <p:sp>
        <p:nvSpPr>
          <p:cNvPr id="27" name="Text 25"/>
          <p:cNvSpPr/>
          <p:nvPr/>
        </p:nvSpPr>
        <p:spPr>
          <a:xfrm>
            <a:off x="868680" y="3044952"/>
            <a:ext cx="1280160" cy="274320"/>
          </a:xfrm>
          <a:prstGeom prst="rect">
            <a:avLst/>
          </a:prstGeom>
          <a:noFill/>
          <a:ln/>
        </p:spPr>
        <p:txBody>
          <a:bodyPr wrap="square" rtlCol="0" anchor="ctr"/>
          <a:lstStyle/>
          <a:p>
            <a:pPr marL="0" indent="0">
              <a:buNone/>
            </a:pPr>
            <a:r>
              <a:rPr lang="en-US" sz="1100" b="1" dirty="0">
                <a:solidFill>
                  <a:srgbClr val="7A6070"/>
                </a:solidFill>
                <a:latin typeface="Calibri" pitchFamily="34" charset="0"/>
                <a:ea typeface="Calibri" pitchFamily="34" charset="-122"/>
                <a:cs typeface="Calibri" pitchFamily="34" charset="-120"/>
              </a:rPr>
              <a:t>Hypothesis: </a:t>
            </a:r>
            <a:endParaRPr lang="en-US" sz="1100" dirty="0"/>
          </a:p>
        </p:txBody>
      </p:sp>
      <p:sp>
        <p:nvSpPr>
          <p:cNvPr id="28" name="Text 26"/>
          <p:cNvSpPr/>
          <p:nvPr/>
        </p:nvSpPr>
        <p:spPr>
          <a:xfrm>
            <a:off x="2103120" y="3044952"/>
            <a:ext cx="5349240" cy="274320"/>
          </a:xfrm>
          <a:prstGeom prst="rect">
            <a:avLst/>
          </a:prstGeom>
          <a:noFill/>
          <a:ln/>
        </p:spPr>
        <p:txBody>
          <a:bodyPr wrap="square"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Random Forest will achieve the highest accuracy</a:t>
            </a:r>
            <a:endParaRPr lang="en-US" sz="1100" dirty="0"/>
          </a:p>
        </p:txBody>
      </p:sp>
      <p:sp>
        <p:nvSpPr>
          <p:cNvPr id="29" name="Text 27"/>
          <p:cNvSpPr/>
          <p:nvPr/>
        </p:nvSpPr>
        <p:spPr>
          <a:xfrm>
            <a:off x="868680" y="3355848"/>
            <a:ext cx="822960" cy="457200"/>
          </a:xfrm>
          <a:prstGeom prst="rect">
            <a:avLst/>
          </a:prstGeom>
          <a:noFill/>
          <a:ln/>
        </p:spPr>
        <p:txBody>
          <a:bodyPr wrap="square" rtlCol="0" anchor="t"/>
          <a:lstStyle/>
          <a:p>
            <a:pPr marL="0" indent="0">
              <a:buNone/>
            </a:pPr>
            <a:r>
              <a:rPr lang="en-US" sz="1100" b="1" dirty="0">
                <a:solidFill>
                  <a:srgbClr val="C9A84C"/>
                </a:solidFill>
                <a:latin typeface="Calibri" pitchFamily="34" charset="0"/>
                <a:ea typeface="Calibri" pitchFamily="34" charset="-122"/>
                <a:cs typeface="Calibri" pitchFamily="34" charset="-120"/>
              </a:rPr>
              <a:t>Result: </a:t>
            </a:r>
            <a:endParaRPr lang="en-US" sz="1100" dirty="0"/>
          </a:p>
        </p:txBody>
      </p:sp>
      <p:sp>
        <p:nvSpPr>
          <p:cNvPr id="30" name="Text 28"/>
          <p:cNvSpPr/>
          <p:nvPr/>
        </p:nvSpPr>
        <p:spPr>
          <a:xfrm>
            <a:off x="1664208" y="3355848"/>
            <a:ext cx="7086600" cy="457200"/>
          </a:xfrm>
          <a:prstGeom prst="rect">
            <a:avLst/>
          </a:prstGeom>
          <a:noFill/>
          <a:ln/>
        </p:spPr>
        <p:txBody>
          <a:bodyPr wrap="square" rtlCol="0" anchor="t"/>
          <a:lstStyle/>
          <a:p>
            <a:pPr marL="0" indent="0">
              <a:buNone/>
            </a:pPr>
            <a:r>
              <a:rPr lang="en-US" sz="1100" dirty="0">
                <a:solidFill>
                  <a:srgbClr val="2B2B2B"/>
                </a:solidFill>
                <a:latin typeface="Calibri" pitchFamily="34" charset="0"/>
                <a:ea typeface="Calibri" pitchFamily="34" charset="-122"/>
                <a:cs typeface="Calibri" pitchFamily="34" charset="-120"/>
              </a:rPr>
              <a:t>RF wins with 77.29% accuracy and macro F1 of 0.771. However, Logistic Regression is very close (76.86%) — a 0.43% margin.</a:t>
            </a:r>
            <a:endParaRPr lang="en-US" sz="1100" dirty="0"/>
          </a:p>
        </p:txBody>
      </p:sp>
      <p:sp>
        <p:nvSpPr>
          <p:cNvPr id="31" name="Shape 29"/>
          <p:cNvSpPr/>
          <p:nvPr/>
        </p:nvSpPr>
        <p:spPr>
          <a:xfrm>
            <a:off x="274320" y="3977640"/>
            <a:ext cx="8595360" cy="914400"/>
          </a:xfrm>
          <a:prstGeom prst="rect">
            <a:avLst/>
          </a:prstGeom>
          <a:solidFill>
            <a:srgbClr val="FFFFFF"/>
          </a:solidFill>
          <a:ln/>
          <a:effectLst>
            <a:outerShdw blurRad="101600" dist="38100" dir="8100000" algn="bl" rotWithShape="0">
              <a:srgbClr val="000000">
                <a:alpha val="13000"/>
              </a:srgbClr>
            </a:outerShdw>
          </a:effectLst>
        </p:spPr>
        <p:txBody>
          <a:bodyPr/>
          <a:lstStyle/>
          <a:p>
            <a:endParaRPr lang="en-US"/>
          </a:p>
        </p:txBody>
      </p:sp>
      <p:sp>
        <p:nvSpPr>
          <p:cNvPr id="32" name="Shape 30"/>
          <p:cNvSpPr/>
          <p:nvPr/>
        </p:nvSpPr>
        <p:spPr>
          <a:xfrm>
            <a:off x="274320" y="3977640"/>
            <a:ext cx="457200" cy="914400"/>
          </a:xfrm>
          <a:prstGeom prst="rect">
            <a:avLst/>
          </a:prstGeom>
          <a:solidFill>
            <a:srgbClr val="028090"/>
          </a:solidFill>
          <a:ln/>
        </p:spPr>
        <p:txBody>
          <a:bodyPr/>
          <a:lstStyle/>
          <a:p>
            <a:endParaRPr lang="en-US"/>
          </a:p>
        </p:txBody>
      </p:sp>
      <p:sp>
        <p:nvSpPr>
          <p:cNvPr id="33" name="Text 31"/>
          <p:cNvSpPr/>
          <p:nvPr/>
        </p:nvSpPr>
        <p:spPr>
          <a:xfrm rot="16200000">
            <a:off x="274320" y="3977640"/>
            <a:ext cx="457200" cy="9144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H4 / RQ4</a:t>
            </a:r>
            <a:endParaRPr lang="en-US" sz="900" dirty="0"/>
          </a:p>
        </p:txBody>
      </p:sp>
      <p:sp>
        <p:nvSpPr>
          <p:cNvPr id="34" name="Shape 32"/>
          <p:cNvSpPr/>
          <p:nvPr/>
        </p:nvSpPr>
        <p:spPr>
          <a:xfrm>
            <a:off x="7589520" y="4050792"/>
            <a:ext cx="1234440" cy="320040"/>
          </a:xfrm>
          <a:prstGeom prst="rect">
            <a:avLst/>
          </a:prstGeom>
          <a:solidFill>
            <a:srgbClr val="FFF3CD"/>
          </a:solidFill>
          <a:ln/>
        </p:spPr>
        <p:txBody>
          <a:bodyPr/>
          <a:lstStyle/>
          <a:p>
            <a:endParaRPr lang="en-US"/>
          </a:p>
        </p:txBody>
      </p:sp>
      <p:sp>
        <p:nvSpPr>
          <p:cNvPr id="35" name="Text 33"/>
          <p:cNvSpPr/>
          <p:nvPr/>
        </p:nvSpPr>
        <p:spPr>
          <a:xfrm>
            <a:off x="7589520" y="4050792"/>
            <a:ext cx="1234440" cy="320040"/>
          </a:xfrm>
          <a:prstGeom prst="rect">
            <a:avLst/>
          </a:prstGeom>
          <a:noFill/>
          <a:ln/>
        </p:spPr>
        <p:txBody>
          <a:bodyPr wrap="square" rtlCol="0" anchor="ctr"/>
          <a:lstStyle/>
          <a:p>
            <a:pPr marL="0" indent="0" algn="ctr">
              <a:buNone/>
            </a:pPr>
            <a:r>
              <a:rPr lang="en-US" sz="1000" b="1" dirty="0">
                <a:solidFill>
                  <a:srgbClr val="7A5C00"/>
                </a:solidFill>
                <a:latin typeface="Calibri" pitchFamily="34" charset="0"/>
                <a:ea typeface="Calibri" pitchFamily="34" charset="-122"/>
                <a:cs typeface="Calibri" pitchFamily="34" charset="-120"/>
              </a:rPr>
              <a:t>PARTIAL ⚠</a:t>
            </a:r>
            <a:endParaRPr lang="en-US" sz="1000" dirty="0"/>
          </a:p>
        </p:txBody>
      </p:sp>
      <p:sp>
        <p:nvSpPr>
          <p:cNvPr id="36" name="Text 34"/>
          <p:cNvSpPr/>
          <p:nvPr/>
        </p:nvSpPr>
        <p:spPr>
          <a:xfrm>
            <a:off x="868680" y="4050792"/>
            <a:ext cx="1280160" cy="274320"/>
          </a:xfrm>
          <a:prstGeom prst="rect">
            <a:avLst/>
          </a:prstGeom>
          <a:noFill/>
          <a:ln/>
        </p:spPr>
        <p:txBody>
          <a:bodyPr wrap="square" rtlCol="0" anchor="ctr"/>
          <a:lstStyle/>
          <a:p>
            <a:pPr marL="0" indent="0">
              <a:buNone/>
            </a:pPr>
            <a:r>
              <a:rPr lang="en-US" sz="1100" b="1" dirty="0">
                <a:solidFill>
                  <a:srgbClr val="7A6070"/>
                </a:solidFill>
                <a:latin typeface="Calibri" pitchFamily="34" charset="0"/>
                <a:ea typeface="Calibri" pitchFamily="34" charset="-122"/>
                <a:cs typeface="Calibri" pitchFamily="34" charset="-120"/>
              </a:rPr>
              <a:t>Hypothesis: </a:t>
            </a:r>
            <a:endParaRPr lang="en-US" sz="1100" dirty="0"/>
          </a:p>
        </p:txBody>
      </p:sp>
      <p:sp>
        <p:nvSpPr>
          <p:cNvPr id="37" name="Text 35"/>
          <p:cNvSpPr/>
          <p:nvPr/>
        </p:nvSpPr>
        <p:spPr>
          <a:xfrm>
            <a:off x="2103120" y="4050792"/>
            <a:ext cx="5349240" cy="274320"/>
          </a:xfrm>
          <a:prstGeom prst="rect">
            <a:avLst/>
          </a:prstGeom>
          <a:noFill/>
          <a:ln/>
        </p:spPr>
        <p:txBody>
          <a:bodyPr wrap="square" rtlCol="0" anchor="ctr"/>
          <a:lstStyle/>
          <a:p>
            <a:pPr marL="0" indent="0">
              <a:buNone/>
            </a:pPr>
            <a:r>
              <a:rPr lang="en-US" sz="1100" i="1" dirty="0">
                <a:solidFill>
                  <a:srgbClr val="2B2B2B"/>
                </a:solidFill>
                <a:latin typeface="Calibri" pitchFamily="34" charset="0"/>
                <a:ea typeface="Calibri" pitchFamily="34" charset="-122"/>
                <a:cs typeface="Calibri" pitchFamily="34" charset="-120"/>
              </a:rPr>
              <a:t>Scaling boosts KNN &amp; Logistic Regression; tree models unaffected</a:t>
            </a:r>
            <a:endParaRPr lang="en-US" sz="1100" dirty="0"/>
          </a:p>
        </p:txBody>
      </p:sp>
      <p:sp>
        <p:nvSpPr>
          <p:cNvPr id="38" name="Text 36"/>
          <p:cNvSpPr/>
          <p:nvPr/>
        </p:nvSpPr>
        <p:spPr>
          <a:xfrm>
            <a:off x="868680" y="4361688"/>
            <a:ext cx="822960" cy="457200"/>
          </a:xfrm>
          <a:prstGeom prst="rect">
            <a:avLst/>
          </a:prstGeom>
          <a:noFill/>
          <a:ln/>
        </p:spPr>
        <p:txBody>
          <a:bodyPr wrap="square" rtlCol="0" anchor="t"/>
          <a:lstStyle/>
          <a:p>
            <a:pPr marL="0" indent="0">
              <a:buNone/>
            </a:pPr>
            <a:r>
              <a:rPr lang="en-US" sz="1100" b="1" dirty="0">
                <a:solidFill>
                  <a:srgbClr val="028090"/>
                </a:solidFill>
                <a:latin typeface="Calibri" pitchFamily="34" charset="0"/>
                <a:ea typeface="Calibri" pitchFamily="34" charset="-122"/>
                <a:cs typeface="Calibri" pitchFamily="34" charset="-120"/>
              </a:rPr>
              <a:t>Result: </a:t>
            </a:r>
            <a:endParaRPr lang="en-US" sz="1100" dirty="0"/>
          </a:p>
        </p:txBody>
      </p:sp>
      <p:sp>
        <p:nvSpPr>
          <p:cNvPr id="39" name="Text 37"/>
          <p:cNvSpPr/>
          <p:nvPr/>
        </p:nvSpPr>
        <p:spPr>
          <a:xfrm>
            <a:off x="1664208" y="4361688"/>
            <a:ext cx="7086600" cy="457200"/>
          </a:xfrm>
          <a:prstGeom prst="rect">
            <a:avLst/>
          </a:prstGeom>
          <a:noFill/>
          <a:ln/>
        </p:spPr>
        <p:txBody>
          <a:bodyPr wrap="square" rtlCol="0" anchor="t"/>
          <a:lstStyle/>
          <a:p>
            <a:pPr marL="0" indent="0">
              <a:buNone/>
            </a:pPr>
            <a:r>
              <a:rPr lang="en-US" sz="1100" dirty="0">
                <a:solidFill>
                  <a:srgbClr val="2B2B2B"/>
                </a:solidFill>
                <a:latin typeface="Calibri" pitchFamily="34" charset="0"/>
                <a:ea typeface="Calibri" pitchFamily="34" charset="-122"/>
                <a:cs typeface="Calibri" pitchFamily="34" charset="-120"/>
              </a:rPr>
              <a:t>KNN improved +5.24% with scaling. Surprisingly, Logistic Regression showed 0% change with these settings. Tree models unaffected as expected.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0A14"/>
        </a:solidFill>
        <a:effectLst/>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6D1A36">
              <a:alpha val="20000"/>
            </a:srgbClr>
          </a:solidFill>
          <a:ln w="12700">
            <a:solidFill>
              <a:srgbClr val="6D1A36"/>
            </a:solidFill>
            <a:prstDash val="solid"/>
          </a:ln>
        </p:spPr>
        <p:txBody>
          <a:bodyPr/>
          <a:lstStyle/>
          <a:p>
            <a:endParaRPr lang="en-US"/>
          </a:p>
        </p:txBody>
      </p:sp>
      <p:sp>
        <p:nvSpPr>
          <p:cNvPr id="3" name="Shape 1"/>
          <p:cNvSpPr/>
          <p:nvPr/>
        </p:nvSpPr>
        <p:spPr>
          <a:xfrm>
            <a:off x="6858000" y="2286000"/>
            <a:ext cx="3657600" cy="3657600"/>
          </a:xfrm>
          <a:prstGeom prst="ellipse">
            <a:avLst/>
          </a:prstGeom>
          <a:solidFill>
            <a:srgbClr val="A83258">
              <a:alpha val="15000"/>
            </a:srgbClr>
          </a:solidFill>
          <a:ln w="12700">
            <a:solidFill>
              <a:srgbClr val="A83258"/>
            </a:solidFill>
            <a:prstDash val="solid"/>
          </a:ln>
        </p:spPr>
        <p:txBody>
          <a:bodyPr/>
          <a:lstStyle/>
          <a:p>
            <a:endParaRPr lang="en-US"/>
          </a:p>
        </p:txBody>
      </p:sp>
      <p:sp>
        <p:nvSpPr>
          <p:cNvPr id="4" name="Text 2"/>
          <p:cNvSpPr/>
          <p:nvPr/>
        </p:nvSpPr>
        <p:spPr>
          <a:xfrm>
            <a:off x="457200" y="201168"/>
            <a:ext cx="8229600" cy="475488"/>
          </a:xfrm>
          <a:prstGeom prst="rect">
            <a:avLst/>
          </a:prstGeom>
          <a:noFill/>
          <a:ln/>
        </p:spPr>
        <p:txBody>
          <a:bodyPr wrap="square" rtlCol="0" anchor="ctr"/>
          <a:lstStyle/>
          <a:p>
            <a:pPr marL="0" indent="0" algn="ctr">
              <a:buNone/>
            </a:pPr>
            <a:r>
              <a:rPr lang="en-US" sz="1000" b="1" kern="0" spc="400" dirty="0">
                <a:solidFill>
                  <a:srgbClr val="C9A84C"/>
                </a:solidFill>
                <a:latin typeface="Calibri" pitchFamily="34" charset="0"/>
                <a:ea typeface="Calibri" pitchFamily="34" charset="-122"/>
                <a:cs typeface="Calibri" pitchFamily="34" charset="-120"/>
              </a:rPr>
              <a:t>CONCLUSIONS &amp; KEY TAKEAWAYS</a:t>
            </a:r>
            <a:endParaRPr lang="en-US" sz="1000" dirty="0"/>
          </a:p>
        </p:txBody>
      </p:sp>
      <p:sp>
        <p:nvSpPr>
          <p:cNvPr id="5" name="Text 3"/>
          <p:cNvSpPr/>
          <p:nvPr/>
        </p:nvSpPr>
        <p:spPr>
          <a:xfrm>
            <a:off x="457200" y="640080"/>
            <a:ext cx="8229600" cy="566928"/>
          </a:xfrm>
          <a:prstGeom prst="rect">
            <a:avLst/>
          </a:prstGeom>
          <a:noFill/>
          <a:ln/>
        </p:spPr>
        <p:txBody>
          <a:bodyPr wrap="square"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Final Results Summary</a:t>
            </a:r>
            <a:endParaRPr lang="en-US" sz="3000" dirty="0"/>
          </a:p>
        </p:txBody>
      </p:sp>
      <p:sp>
        <p:nvSpPr>
          <p:cNvPr id="6" name="Shape 4"/>
          <p:cNvSpPr/>
          <p:nvPr/>
        </p:nvSpPr>
        <p:spPr>
          <a:xfrm>
            <a:off x="365760" y="1417320"/>
            <a:ext cx="1965960" cy="1508760"/>
          </a:xfrm>
          <a:prstGeom prst="rect">
            <a:avLst/>
          </a:prstGeom>
          <a:solidFill>
            <a:srgbClr val="6D1A36"/>
          </a:solidFill>
          <a:ln/>
          <a:effectLst>
            <a:outerShdw blurRad="101600" dist="38100" dir="8100000" algn="bl" rotWithShape="0">
              <a:srgbClr val="000000">
                <a:alpha val="13000"/>
              </a:srgbClr>
            </a:outerShdw>
          </a:effectLst>
        </p:spPr>
        <p:txBody>
          <a:bodyPr/>
          <a:lstStyle/>
          <a:p>
            <a:endParaRPr lang="en-US"/>
          </a:p>
        </p:txBody>
      </p:sp>
      <p:sp>
        <p:nvSpPr>
          <p:cNvPr id="7" name="Text 5"/>
          <p:cNvSpPr/>
          <p:nvPr/>
        </p:nvSpPr>
        <p:spPr>
          <a:xfrm>
            <a:off x="365760" y="1481328"/>
            <a:ext cx="1965960" cy="621792"/>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77.29%</a:t>
            </a:r>
            <a:endParaRPr lang="en-US" sz="2600" dirty="0"/>
          </a:p>
        </p:txBody>
      </p:sp>
      <p:sp>
        <p:nvSpPr>
          <p:cNvPr id="8" name="Text 6"/>
          <p:cNvSpPr/>
          <p:nvPr/>
        </p:nvSpPr>
        <p:spPr>
          <a:xfrm>
            <a:off x="365760" y="2084832"/>
            <a:ext cx="196596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Best Accuracy</a:t>
            </a:r>
            <a:endParaRPr lang="en-US" sz="1100" dirty="0"/>
          </a:p>
        </p:txBody>
      </p:sp>
      <p:sp>
        <p:nvSpPr>
          <p:cNvPr id="9" name="Text 7"/>
          <p:cNvSpPr/>
          <p:nvPr/>
        </p:nvSpPr>
        <p:spPr>
          <a:xfrm>
            <a:off x="365760" y="2377440"/>
            <a:ext cx="1965960" cy="438912"/>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Random Forest</a:t>
            </a:r>
            <a:endParaRPr lang="en-US" sz="950" dirty="0"/>
          </a:p>
        </p:txBody>
      </p:sp>
      <p:sp>
        <p:nvSpPr>
          <p:cNvPr id="10" name="Shape 8"/>
          <p:cNvSpPr/>
          <p:nvPr/>
        </p:nvSpPr>
        <p:spPr>
          <a:xfrm>
            <a:off x="2487168" y="1417320"/>
            <a:ext cx="1965960" cy="1508760"/>
          </a:xfrm>
          <a:prstGeom prst="rect">
            <a:avLst/>
          </a:prstGeom>
          <a:solidFill>
            <a:srgbClr val="A83258"/>
          </a:solidFill>
          <a:ln/>
          <a:effectLst>
            <a:outerShdw blurRad="101600" dist="38100" dir="8100000" algn="bl" rotWithShape="0">
              <a:srgbClr val="000000">
                <a:alpha val="13000"/>
              </a:srgbClr>
            </a:outerShdw>
          </a:effectLst>
        </p:spPr>
        <p:txBody>
          <a:bodyPr/>
          <a:lstStyle/>
          <a:p>
            <a:endParaRPr lang="en-US"/>
          </a:p>
        </p:txBody>
      </p:sp>
      <p:sp>
        <p:nvSpPr>
          <p:cNvPr id="11" name="Text 9"/>
          <p:cNvSpPr/>
          <p:nvPr/>
        </p:nvSpPr>
        <p:spPr>
          <a:xfrm>
            <a:off x="2487168" y="1481328"/>
            <a:ext cx="1965960" cy="621792"/>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#1</a:t>
            </a:r>
            <a:endParaRPr lang="en-US" sz="2600" dirty="0"/>
          </a:p>
        </p:txBody>
      </p:sp>
      <p:sp>
        <p:nvSpPr>
          <p:cNvPr id="12" name="Text 10"/>
          <p:cNvSpPr/>
          <p:nvPr/>
        </p:nvSpPr>
        <p:spPr>
          <a:xfrm>
            <a:off x="2487168" y="2084832"/>
            <a:ext cx="196596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Top Feature</a:t>
            </a:r>
            <a:endParaRPr lang="en-US" sz="1100" dirty="0"/>
          </a:p>
        </p:txBody>
      </p:sp>
      <p:sp>
        <p:nvSpPr>
          <p:cNvPr id="13" name="Text 11"/>
          <p:cNvSpPr/>
          <p:nvPr/>
        </p:nvSpPr>
        <p:spPr>
          <a:xfrm>
            <a:off x="2487168" y="2377440"/>
            <a:ext cx="1965960" cy="438912"/>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Alcohol Content</a:t>
            </a:r>
            <a:endParaRPr lang="en-US" sz="950" dirty="0"/>
          </a:p>
        </p:txBody>
      </p:sp>
      <p:sp>
        <p:nvSpPr>
          <p:cNvPr id="14" name="Shape 12"/>
          <p:cNvSpPr/>
          <p:nvPr/>
        </p:nvSpPr>
        <p:spPr>
          <a:xfrm>
            <a:off x="4608576" y="1417320"/>
            <a:ext cx="1965960" cy="1508760"/>
          </a:xfrm>
          <a:prstGeom prst="rect">
            <a:avLst/>
          </a:prstGeom>
          <a:solidFill>
            <a:srgbClr val="028090"/>
          </a:solidFill>
          <a:ln/>
          <a:effectLst>
            <a:outerShdw blurRad="101600" dist="38100" dir="8100000" algn="bl" rotWithShape="0">
              <a:srgbClr val="000000">
                <a:alpha val="13000"/>
              </a:srgbClr>
            </a:outerShdw>
          </a:effectLst>
        </p:spPr>
        <p:txBody>
          <a:bodyPr/>
          <a:lstStyle/>
          <a:p>
            <a:endParaRPr lang="en-US"/>
          </a:p>
        </p:txBody>
      </p:sp>
      <p:sp>
        <p:nvSpPr>
          <p:cNvPr id="15" name="Text 13"/>
          <p:cNvSpPr/>
          <p:nvPr/>
        </p:nvSpPr>
        <p:spPr>
          <a:xfrm>
            <a:off x="4608576" y="1481328"/>
            <a:ext cx="1965960" cy="621792"/>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+5.24%</a:t>
            </a:r>
            <a:endParaRPr lang="en-US" sz="2600" dirty="0"/>
          </a:p>
        </p:txBody>
      </p:sp>
      <p:sp>
        <p:nvSpPr>
          <p:cNvPr id="16" name="Text 14"/>
          <p:cNvSpPr/>
          <p:nvPr/>
        </p:nvSpPr>
        <p:spPr>
          <a:xfrm>
            <a:off x="4608576" y="2084832"/>
            <a:ext cx="196596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Scaling Boost</a:t>
            </a:r>
            <a:endParaRPr lang="en-US" sz="1100" dirty="0"/>
          </a:p>
        </p:txBody>
      </p:sp>
      <p:sp>
        <p:nvSpPr>
          <p:cNvPr id="17" name="Text 15"/>
          <p:cNvSpPr/>
          <p:nvPr/>
        </p:nvSpPr>
        <p:spPr>
          <a:xfrm>
            <a:off x="4608576" y="2377440"/>
            <a:ext cx="1965960" cy="438912"/>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KNN with StandardScaler</a:t>
            </a:r>
            <a:endParaRPr lang="en-US" sz="950" dirty="0"/>
          </a:p>
        </p:txBody>
      </p:sp>
      <p:sp>
        <p:nvSpPr>
          <p:cNvPr id="18" name="Shape 16"/>
          <p:cNvSpPr/>
          <p:nvPr/>
        </p:nvSpPr>
        <p:spPr>
          <a:xfrm>
            <a:off x="6729984" y="1417320"/>
            <a:ext cx="1965960" cy="1508760"/>
          </a:xfrm>
          <a:prstGeom prst="rect">
            <a:avLst/>
          </a:prstGeom>
          <a:solidFill>
            <a:srgbClr val="C9A84C"/>
          </a:solidFill>
          <a:ln/>
          <a:effectLst>
            <a:outerShdw blurRad="101600" dist="38100" dir="8100000" algn="bl" rotWithShape="0">
              <a:srgbClr val="000000">
                <a:alpha val="13000"/>
              </a:srgbClr>
            </a:outerShdw>
          </a:effectLst>
        </p:spPr>
        <p:txBody>
          <a:bodyPr/>
          <a:lstStyle/>
          <a:p>
            <a:endParaRPr lang="en-US"/>
          </a:p>
        </p:txBody>
      </p:sp>
      <p:sp>
        <p:nvSpPr>
          <p:cNvPr id="19" name="Text 17"/>
          <p:cNvSpPr/>
          <p:nvPr/>
        </p:nvSpPr>
        <p:spPr>
          <a:xfrm>
            <a:off x="6729984" y="1481328"/>
            <a:ext cx="1965960" cy="621792"/>
          </a:xfrm>
          <a:prstGeom prst="rect">
            <a:avLst/>
          </a:prstGeom>
          <a:noFill/>
          <a:ln/>
        </p:spPr>
        <p:txBody>
          <a:bodyPr wrap="square"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3/4</a:t>
            </a:r>
            <a:endParaRPr lang="en-US" sz="2600" dirty="0"/>
          </a:p>
        </p:txBody>
      </p:sp>
      <p:sp>
        <p:nvSpPr>
          <p:cNvPr id="20" name="Text 18"/>
          <p:cNvSpPr/>
          <p:nvPr/>
        </p:nvSpPr>
        <p:spPr>
          <a:xfrm>
            <a:off x="6729984" y="2084832"/>
            <a:ext cx="1965960" cy="292608"/>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Hypotheses Met</a:t>
            </a:r>
            <a:endParaRPr lang="en-US" sz="1100" dirty="0"/>
          </a:p>
        </p:txBody>
      </p:sp>
      <p:sp>
        <p:nvSpPr>
          <p:cNvPr id="21" name="Text 19"/>
          <p:cNvSpPr/>
          <p:nvPr/>
        </p:nvSpPr>
        <p:spPr>
          <a:xfrm>
            <a:off x="6729984" y="2377440"/>
            <a:ext cx="1965960" cy="438912"/>
          </a:xfrm>
          <a:prstGeom prst="rect">
            <a:avLst/>
          </a:prstGeom>
          <a:noFill/>
          <a:ln/>
        </p:spPr>
        <p:txBody>
          <a:bodyPr wrap="square" rtlCol="0" anchor="ctr"/>
          <a:lstStyle/>
          <a:p>
            <a:pPr marL="0" indent="0" algn="ctr">
              <a:buNone/>
            </a:pPr>
            <a:r>
              <a:rPr lang="en-US" sz="950" i="1" dirty="0">
                <a:solidFill>
                  <a:srgbClr val="FFFFFF"/>
                </a:solidFill>
                <a:latin typeface="Calibri" pitchFamily="34" charset="0"/>
                <a:ea typeface="Calibri" pitchFamily="34" charset="-122"/>
                <a:cs typeface="Calibri" pitchFamily="34" charset="-120"/>
              </a:rPr>
              <a:t>H1, H3 fully; H2 &amp; H4 partial</a:t>
            </a:r>
            <a:endParaRPr lang="en-US" sz="950" dirty="0"/>
          </a:p>
        </p:txBody>
      </p:sp>
      <p:sp>
        <p:nvSpPr>
          <p:cNvPr id="22" name="Shape 20"/>
          <p:cNvSpPr/>
          <p:nvPr/>
        </p:nvSpPr>
        <p:spPr>
          <a:xfrm>
            <a:off x="274320" y="3090672"/>
            <a:ext cx="8595360" cy="1719072"/>
          </a:xfrm>
          <a:prstGeom prst="rect">
            <a:avLst/>
          </a:prstGeom>
          <a:solidFill>
            <a:srgbClr val="6D1A36">
              <a:alpha val="70000"/>
            </a:srgbClr>
          </a:solidFill>
          <a:ln/>
        </p:spPr>
        <p:txBody>
          <a:bodyPr/>
          <a:lstStyle/>
          <a:p>
            <a:endParaRPr lang="en-US"/>
          </a:p>
        </p:txBody>
      </p:sp>
      <p:sp>
        <p:nvSpPr>
          <p:cNvPr id="23" name="Shape 21"/>
          <p:cNvSpPr/>
          <p:nvPr/>
        </p:nvSpPr>
        <p:spPr>
          <a:xfrm>
            <a:off x="274320" y="3090672"/>
            <a:ext cx="109728" cy="1719072"/>
          </a:xfrm>
          <a:prstGeom prst="rect">
            <a:avLst/>
          </a:prstGeom>
          <a:solidFill>
            <a:srgbClr val="C9A84C"/>
          </a:solidFill>
          <a:ln/>
        </p:spPr>
        <p:txBody>
          <a:bodyPr/>
          <a:lstStyle/>
          <a:p>
            <a:endParaRPr lang="en-US"/>
          </a:p>
        </p:txBody>
      </p:sp>
      <p:sp>
        <p:nvSpPr>
          <p:cNvPr id="24" name="Text 22"/>
          <p:cNvSpPr/>
          <p:nvPr/>
        </p:nvSpPr>
        <p:spPr>
          <a:xfrm>
            <a:off x="502920" y="3145536"/>
            <a:ext cx="3657600" cy="320040"/>
          </a:xfrm>
          <a:prstGeom prst="rect">
            <a:avLst/>
          </a:prstGeom>
          <a:noFill/>
          <a:ln/>
        </p:spPr>
        <p:txBody>
          <a:bodyPr wrap="square" rtlCol="0" anchor="ctr"/>
          <a:lstStyle/>
          <a:p>
            <a:pPr marL="0" indent="0">
              <a:buNone/>
            </a:pPr>
            <a:r>
              <a:rPr lang="en-US" sz="1300" b="1" dirty="0">
                <a:solidFill>
                  <a:srgbClr val="C9A84C"/>
                </a:solidFill>
                <a:latin typeface="Georgia" pitchFamily="34" charset="0"/>
                <a:ea typeface="Georgia" pitchFamily="34" charset="-122"/>
                <a:cs typeface="Georgia" pitchFamily="34" charset="-120"/>
              </a:rPr>
              <a:t>What We Learned</a:t>
            </a:r>
            <a:endParaRPr lang="en-US" sz="1300" dirty="0"/>
          </a:p>
        </p:txBody>
      </p:sp>
      <p:sp>
        <p:nvSpPr>
          <p:cNvPr id="25" name="Text 23"/>
          <p:cNvSpPr/>
          <p:nvPr/>
        </p:nvSpPr>
        <p:spPr>
          <a:xfrm>
            <a:off x="502920" y="3493008"/>
            <a:ext cx="8321040" cy="1261872"/>
          </a:xfrm>
          <a:prstGeom prst="rect">
            <a:avLst/>
          </a:prstGeom>
          <a:noFill/>
          <a:ln/>
        </p:spPr>
        <p:txBody>
          <a:bodyPr wrap="square" rtlCol="0" anchor="ctr"/>
          <a:lstStyle/>
          <a:p>
            <a:pPr marL="0" indent="0">
              <a:buNone/>
            </a:pPr>
            <a:r>
              <a:rPr lang="en-US" sz="1150" dirty="0">
                <a:solidFill>
                  <a:srgbClr val="FFFFFF"/>
                </a:solidFill>
                <a:latin typeface="Calibri" pitchFamily="34" charset="0"/>
                <a:ea typeface="Calibri" pitchFamily="34" charset="-122"/>
                <a:cs typeface="Calibri" pitchFamily="34" charset="-120"/>
              </a:rPr>
              <a:t>This project confirmed that physicochemical properties alone can predict wine quality with up to 77.29% accuracy. Random Forest was the best model, but Logistic Regression (76.86%) was nearly as strong with far less complexity. Alcohol is the most consistently important feature across both models. Feature scaling proved essential for KNN (+5.24%), reinforcing the importance of proper preprocessing. The project delivered exactly what the proposal set out to achieve: an end-to-end ML pipeline, model comparison experience, feature importance insight, and a deep understanding of preprocessing tradeoffs.</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0A14"/>
        </a:solidFill>
        <a:effectLst/>
      </p:bgPr>
    </p:bg>
    <p:spTree>
      <p:nvGrpSpPr>
        <p:cNvPr id="1" name=""/>
        <p:cNvGrpSpPr/>
        <p:nvPr/>
      </p:nvGrpSpPr>
      <p:grpSpPr>
        <a:xfrm>
          <a:off x="0" y="0"/>
          <a:ext cx="0" cy="0"/>
          <a:chOff x="0" y="0"/>
          <a:chExt cx="0" cy="0"/>
        </a:xfrm>
      </p:grpSpPr>
      <p:sp>
        <p:nvSpPr>
          <p:cNvPr id="2" name="Shape 0"/>
          <p:cNvSpPr/>
          <p:nvPr/>
        </p:nvSpPr>
        <p:spPr>
          <a:xfrm>
            <a:off x="-1371600" y="-1371600"/>
            <a:ext cx="5486400" cy="5486400"/>
          </a:xfrm>
          <a:prstGeom prst="ellipse">
            <a:avLst/>
          </a:prstGeom>
          <a:solidFill>
            <a:srgbClr val="6D1A36">
              <a:alpha val="25000"/>
            </a:srgbClr>
          </a:solidFill>
          <a:ln w="12700">
            <a:solidFill>
              <a:srgbClr val="6D1A36"/>
            </a:solidFill>
            <a:prstDash val="solid"/>
          </a:ln>
        </p:spPr>
        <p:txBody>
          <a:bodyPr/>
          <a:lstStyle/>
          <a:p>
            <a:endParaRPr lang="en-US"/>
          </a:p>
        </p:txBody>
      </p:sp>
      <p:sp>
        <p:nvSpPr>
          <p:cNvPr id="3" name="Shape 1"/>
          <p:cNvSpPr/>
          <p:nvPr/>
        </p:nvSpPr>
        <p:spPr>
          <a:xfrm>
            <a:off x="6400800" y="1828800"/>
            <a:ext cx="4572000" cy="4572000"/>
          </a:xfrm>
          <a:prstGeom prst="ellipse">
            <a:avLst/>
          </a:prstGeom>
          <a:solidFill>
            <a:srgbClr val="A83258">
              <a:alpha val="18000"/>
            </a:srgbClr>
          </a:solidFill>
          <a:ln w="12700">
            <a:solidFill>
              <a:srgbClr val="A83258"/>
            </a:solidFill>
            <a:prstDash val="solid"/>
          </a:ln>
        </p:spPr>
        <p:txBody>
          <a:bodyPr/>
          <a:lstStyle/>
          <a:p>
            <a:endParaRPr lang="en-US"/>
          </a:p>
        </p:txBody>
      </p:sp>
      <p:sp>
        <p:nvSpPr>
          <p:cNvPr id="4" name="Shape 2"/>
          <p:cNvSpPr/>
          <p:nvPr/>
        </p:nvSpPr>
        <p:spPr>
          <a:xfrm>
            <a:off x="3200400" y="3200400"/>
            <a:ext cx="2743200" cy="2743200"/>
          </a:xfrm>
          <a:prstGeom prst="ellipse">
            <a:avLst/>
          </a:prstGeom>
          <a:solidFill>
            <a:srgbClr val="C9A84C">
              <a:alpha val="12000"/>
            </a:srgbClr>
          </a:solidFill>
          <a:ln w="12700">
            <a:solidFill>
              <a:srgbClr val="C9A84C"/>
            </a:solidFill>
            <a:prstDash val="solid"/>
          </a:ln>
        </p:spPr>
        <p:txBody>
          <a:bodyPr/>
          <a:lstStyle/>
          <a:p>
            <a:endParaRPr lang="en-US"/>
          </a:p>
        </p:txBody>
      </p:sp>
      <p:sp>
        <p:nvSpPr>
          <p:cNvPr id="5" name="Text 3"/>
          <p:cNvSpPr/>
          <p:nvPr/>
        </p:nvSpPr>
        <p:spPr>
          <a:xfrm>
            <a:off x="457200" y="256032"/>
            <a:ext cx="8229600" cy="347472"/>
          </a:xfrm>
          <a:prstGeom prst="rect">
            <a:avLst/>
          </a:prstGeom>
          <a:noFill/>
          <a:ln/>
        </p:spPr>
        <p:txBody>
          <a:bodyPr wrap="square" rtlCol="0" anchor="ctr"/>
          <a:lstStyle/>
          <a:p>
            <a:pPr marL="0" indent="0" algn="ctr">
              <a:buNone/>
            </a:pPr>
            <a:r>
              <a:rPr lang="en-US" sz="900" b="1" kern="0" spc="300" dirty="0">
                <a:solidFill>
                  <a:srgbClr val="C9A84C"/>
                </a:solidFill>
                <a:latin typeface="Calibri" pitchFamily="34" charset="0"/>
                <a:ea typeface="Calibri" pitchFamily="34" charset="-122"/>
                <a:cs typeface="Calibri" pitchFamily="34" charset="-120"/>
              </a:rPr>
              <a:t>WINE QUALITY PREDICTION  |  IS 407  |  FINAL PROJECT</a:t>
            </a:r>
            <a:endParaRPr lang="en-US" sz="900" dirty="0"/>
          </a:p>
        </p:txBody>
      </p:sp>
      <p:sp>
        <p:nvSpPr>
          <p:cNvPr id="6" name="Text 4"/>
          <p:cNvSpPr/>
          <p:nvPr/>
        </p:nvSpPr>
        <p:spPr>
          <a:xfrm>
            <a:off x="457200" y="731520"/>
            <a:ext cx="8229600" cy="1188720"/>
          </a:xfrm>
          <a:prstGeom prst="rect">
            <a:avLst/>
          </a:prstGeom>
          <a:noFill/>
          <a:ln/>
        </p:spPr>
        <p:txBody>
          <a:bodyPr wrap="square" rtlCol="0" anchor="ctr"/>
          <a:lstStyle/>
          <a:p>
            <a:pPr marL="0" indent="0" algn="ctr">
              <a:buNone/>
            </a:pPr>
            <a:r>
              <a:rPr lang="en-US" sz="7200" b="1" dirty="0">
                <a:solidFill>
                  <a:srgbClr val="FFFFFF"/>
                </a:solidFill>
                <a:latin typeface="Georgia" pitchFamily="34" charset="0"/>
                <a:ea typeface="Georgia" pitchFamily="34" charset="-122"/>
                <a:cs typeface="Georgia" pitchFamily="34" charset="-120"/>
              </a:rPr>
              <a:t>Thank You!</a:t>
            </a:r>
            <a:endParaRPr lang="en-US" sz="7200" dirty="0"/>
          </a:p>
        </p:txBody>
      </p:sp>
      <p:sp>
        <p:nvSpPr>
          <p:cNvPr id="7" name="Shape 5"/>
          <p:cNvSpPr/>
          <p:nvPr/>
        </p:nvSpPr>
        <p:spPr>
          <a:xfrm>
            <a:off x="3200400" y="1938528"/>
            <a:ext cx="2743200" cy="54864"/>
          </a:xfrm>
          <a:prstGeom prst="rect">
            <a:avLst/>
          </a:prstGeom>
          <a:solidFill>
            <a:srgbClr val="C9A84C"/>
          </a:solidFill>
          <a:ln/>
        </p:spPr>
        <p:txBody>
          <a:bodyPr/>
          <a:lstStyle/>
          <a:p>
            <a:endParaRPr lang="en-US"/>
          </a:p>
        </p:txBody>
      </p:sp>
      <p:sp>
        <p:nvSpPr>
          <p:cNvPr id="8" name="Text 6"/>
          <p:cNvSpPr/>
          <p:nvPr/>
        </p:nvSpPr>
        <p:spPr>
          <a:xfrm>
            <a:off x="457200" y="2084832"/>
            <a:ext cx="8229600" cy="822960"/>
          </a:xfrm>
          <a:prstGeom prst="rect">
            <a:avLst/>
          </a:prstGeom>
          <a:noFill/>
          <a:ln/>
        </p:spPr>
        <p:txBody>
          <a:bodyPr wrap="square" rtlCol="0" anchor="ctr"/>
          <a:lstStyle/>
          <a:p>
            <a:pPr marL="0" indent="0" algn="ctr">
              <a:buNone/>
            </a:pPr>
            <a:r>
              <a:rPr lang="en-US" sz="5200" b="1" dirty="0">
                <a:solidFill>
                  <a:srgbClr val="C9A84C"/>
                </a:solidFill>
                <a:latin typeface="Georgia" pitchFamily="34" charset="0"/>
                <a:ea typeface="Georgia" pitchFamily="34" charset="-122"/>
                <a:cs typeface="Georgia" pitchFamily="34" charset="-120"/>
              </a:rPr>
              <a:t>Q &amp; A</a:t>
            </a:r>
            <a:endParaRPr lang="en-US" sz="5200" dirty="0"/>
          </a:p>
        </p:txBody>
      </p:sp>
      <p:sp>
        <p:nvSpPr>
          <p:cNvPr id="9" name="Text 7"/>
          <p:cNvSpPr/>
          <p:nvPr/>
        </p:nvSpPr>
        <p:spPr>
          <a:xfrm>
            <a:off x="1371600" y="2944368"/>
            <a:ext cx="6400800" cy="384048"/>
          </a:xfrm>
          <a:prstGeom prst="rect">
            <a:avLst/>
          </a:prstGeom>
          <a:noFill/>
          <a:ln/>
        </p:spPr>
        <p:txBody>
          <a:bodyPr wrap="square" rtlCol="0" anchor="ctr"/>
          <a:lstStyle/>
          <a:p>
            <a:pPr marL="0" indent="0" algn="ctr">
              <a:buNone/>
            </a:pPr>
            <a:r>
              <a:rPr lang="en-US" sz="1400" i="1" dirty="0">
                <a:solidFill>
                  <a:srgbClr val="EDD5DE"/>
                </a:solidFill>
                <a:latin typeface="Calibri" pitchFamily="34" charset="0"/>
                <a:ea typeface="Calibri" pitchFamily="34" charset="-122"/>
                <a:cs typeface="Calibri" pitchFamily="34" charset="-120"/>
              </a:rPr>
              <a:t>We welcome your questions and feedback.</a:t>
            </a:r>
            <a:endParaRPr lang="en-US" sz="1400" dirty="0"/>
          </a:p>
        </p:txBody>
      </p:sp>
      <p:sp>
        <p:nvSpPr>
          <p:cNvPr id="10" name="Shape 8"/>
          <p:cNvSpPr/>
          <p:nvPr/>
        </p:nvSpPr>
        <p:spPr>
          <a:xfrm>
            <a:off x="274320" y="3520440"/>
            <a:ext cx="8595360" cy="54864"/>
          </a:xfrm>
          <a:prstGeom prst="rect">
            <a:avLst/>
          </a:prstGeom>
          <a:solidFill>
            <a:srgbClr val="6D1A36"/>
          </a:solidFill>
          <a:ln/>
        </p:spPr>
        <p:txBody>
          <a:bodyPr/>
          <a:lstStyle/>
          <a:p>
            <a:endParaRPr lang="en-US"/>
          </a:p>
        </p:txBody>
      </p:sp>
      <p:sp>
        <p:nvSpPr>
          <p:cNvPr id="11" name="Text 9"/>
          <p:cNvSpPr/>
          <p:nvPr/>
        </p:nvSpPr>
        <p:spPr>
          <a:xfrm>
            <a:off x="274320" y="3657600"/>
            <a:ext cx="914400" cy="274320"/>
          </a:xfrm>
          <a:prstGeom prst="rect">
            <a:avLst/>
          </a:prstGeom>
          <a:noFill/>
          <a:ln/>
        </p:spPr>
        <p:txBody>
          <a:bodyPr wrap="square" rtlCol="0" anchor="ctr"/>
          <a:lstStyle/>
          <a:p>
            <a:pPr marL="0" indent="0">
              <a:buNone/>
            </a:pPr>
            <a:r>
              <a:rPr lang="en-US" sz="900" b="1" kern="0" spc="200" dirty="0">
                <a:solidFill>
                  <a:srgbClr val="C9A84C"/>
                </a:solidFill>
                <a:latin typeface="Calibri" pitchFamily="34" charset="0"/>
                <a:ea typeface="Calibri" pitchFamily="34" charset="-122"/>
                <a:cs typeface="Calibri" pitchFamily="34" charset="-120"/>
              </a:rPr>
              <a:t>TEAM</a:t>
            </a:r>
            <a:endParaRPr lang="en-US" sz="900" dirty="0"/>
          </a:p>
        </p:txBody>
      </p:sp>
      <p:sp>
        <p:nvSpPr>
          <p:cNvPr id="12" name="Text 10"/>
          <p:cNvSpPr/>
          <p:nvPr/>
        </p:nvSpPr>
        <p:spPr>
          <a:xfrm>
            <a:off x="1097280" y="3657600"/>
            <a:ext cx="19202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Ashish Gole</a:t>
            </a:r>
            <a:endParaRPr lang="en-US" sz="1200" dirty="0"/>
          </a:p>
        </p:txBody>
      </p:sp>
      <p:sp>
        <p:nvSpPr>
          <p:cNvPr id="13" name="Text 11"/>
          <p:cNvSpPr/>
          <p:nvPr/>
        </p:nvSpPr>
        <p:spPr>
          <a:xfrm>
            <a:off x="3090672" y="3657600"/>
            <a:ext cx="19202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Siddhi Retharekar</a:t>
            </a:r>
            <a:endParaRPr lang="en-US" sz="1200" dirty="0"/>
          </a:p>
        </p:txBody>
      </p:sp>
      <p:sp>
        <p:nvSpPr>
          <p:cNvPr id="14" name="Text 12"/>
          <p:cNvSpPr/>
          <p:nvPr/>
        </p:nvSpPr>
        <p:spPr>
          <a:xfrm>
            <a:off x="5084064" y="3657600"/>
            <a:ext cx="19202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Sanyami Naik</a:t>
            </a:r>
            <a:endParaRPr lang="en-US" sz="1200" dirty="0"/>
          </a:p>
        </p:txBody>
      </p:sp>
      <p:sp>
        <p:nvSpPr>
          <p:cNvPr id="15" name="Text 13"/>
          <p:cNvSpPr/>
          <p:nvPr/>
        </p:nvSpPr>
        <p:spPr>
          <a:xfrm>
            <a:off x="7077456" y="3657600"/>
            <a:ext cx="1920240" cy="274320"/>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Nirmal Attarde</a:t>
            </a:r>
            <a:endParaRPr lang="en-US" sz="1200" dirty="0"/>
          </a:p>
        </p:txBody>
      </p:sp>
      <p:sp>
        <p:nvSpPr>
          <p:cNvPr id="16" name="Shape 14"/>
          <p:cNvSpPr/>
          <p:nvPr/>
        </p:nvSpPr>
        <p:spPr>
          <a:xfrm>
            <a:off x="0" y="4846320"/>
            <a:ext cx="9144000" cy="297180"/>
          </a:xfrm>
          <a:prstGeom prst="rect">
            <a:avLst/>
          </a:prstGeom>
          <a:solidFill>
            <a:srgbClr val="6D1A36"/>
          </a:solidFill>
          <a:ln/>
        </p:spPr>
        <p:txBody>
          <a:bodyPr/>
          <a:lstStyle/>
          <a:p>
            <a:endParaRPr lang="en-US"/>
          </a:p>
        </p:txBody>
      </p:sp>
      <p:sp>
        <p:nvSpPr>
          <p:cNvPr id="17" name="Text 15"/>
          <p:cNvSpPr/>
          <p:nvPr/>
        </p:nvSpPr>
        <p:spPr>
          <a:xfrm>
            <a:off x="274320" y="4864608"/>
            <a:ext cx="8595360" cy="256032"/>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Wine Quality Prediction  |  IS 407 - Introduction to Data Science  |  Final Project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2747</Words>
  <Application>Microsoft Macintosh PowerPoint</Application>
  <PresentationFormat>On-screen Show (16:9)</PresentationFormat>
  <Paragraphs>222</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Wine Quality Prediction - Final Results</dc:title>
  <dc:subject>PptxGenJS Presentation</dc:subject>
  <dc:creator>PptxGenJS</dc:creator>
  <cp:lastModifiedBy>Gole, Ashish Manoj</cp:lastModifiedBy>
  <cp:revision>2</cp:revision>
  <dcterms:created xsi:type="dcterms:W3CDTF">2026-04-22T00:34:47Z</dcterms:created>
  <dcterms:modified xsi:type="dcterms:W3CDTF">2026-04-22T00:49:21Z</dcterms:modified>
</cp:coreProperties>
</file>